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25"/>
    <p:sldId id="274" r:id="rId26"/>
    <p:sldId id="275" r:id="rId27"/>
    <p:sldId id="276" r:id="rId28"/>
    <p:sldId id="277" r:id="rId29"/>
    <p:sldId id="278" r:id="rId30"/>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857147D5-F737-9FC6-1E01-1D6754EB672A}">
          <p14:sldIdLst>
            <p14:sldId id="256"/>
            <p14:sldId id="257"/>
          </p14:sldIdLst>
        </p14:section>
        <p14:section name="Resultados" id="{A693AD56-1C20-5D82-4AE8-4479D7F2C4EA}">
          <p14:sldIdLst>
            <p14:sldId id="258"/>
            <p14:sldId id="259"/>
            <p14:sldId id="260"/>
            <p14:sldId id="261"/>
            <p14:sldId id="262"/>
            <p14:sldId id="263"/>
            <p14:sldId id="264"/>
            <p14:sldId id="265"/>
          </p14:sldIdLst>
        </p14:section>
        <p14:section name="Hallazgos" id="{D60EC2DF-729E-E714-8A44-5314294F10F8}">
          <p14:sldIdLst>
            <p14:sldId id="266"/>
            <p14:sldId id="267"/>
            <p14:sldId id="268"/>
          </p14:sldIdLst>
        </p14:section>
        <p14:section name="Validación" id="{99364CDF-62FD-A0DB-C09E-A5CE764577F6}">
          <p14:sldIdLst>
            <p14:sldId id="269"/>
            <p14:sldId id="270"/>
          </p14:sldIdLst>
        </p14:section>
        <p14:section name="Cierre" id="{22062780-69F5-60C6-B87D-44261595B95F}">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0E0AF7-0D57-06EF-E5A0-10EFBA08A712}" v="57" dt="2026-10-26T18:27:40.9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  <Relationship Id="rId25" Type="http://schemas.openxmlformats.org/officeDocument/2006/relationships/slide" Target="slides/slide18.xml"/>
  <Relationship Id="rId26" Type="http://schemas.openxmlformats.org/officeDocument/2006/relationships/slide" Target="slides/slide19.xml"/>
  <Relationship Id="rId27" Type="http://schemas.openxmlformats.org/officeDocument/2006/relationships/slide" Target="slides/slide20.xml"/>
  <Relationship Id="rId28" Type="http://schemas.openxmlformats.org/officeDocument/2006/relationships/slide" Target="slides/slide21.xml"/>
  <Relationship Id="rId29" Type="http://schemas.openxmlformats.org/officeDocument/2006/relationships/slide" Target="slides/slide22.xml"/>
  <Relationship Id="rId30" Type="http://schemas.openxmlformats.org/officeDocument/2006/relationships/slide" Target="slides/slide23.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41"/>
                </a:solidFill>
                <a:latin typeface="+mn-lt"/>
              </a:defRPr>
            </a:pPr>
            <a:r>
              <a:rPr sz="1400" b="0" i="0" u="none" strike="noStrike">
                <a:solidFill>
                  <a:srgbClr val="1B2A41"/>
                </a:solidFill>
                <a:latin typeface="+mn-lt"/>
              </a:rPr>
              <a:t>Tiempo de respuesta por escenario (ms)</a:t>
            </a:r>
          </a:p>
        </c:rich>
      </c:tx>
      <c:overlay val="0"/>
    </c:title>
    <c:autoTitleDeleted val="0"/>
    <c:plotArea>
      <c:layout/>
      <c:barChart>
        <c:barDir val="col"/>
        <c:grouping val="clustered"/>
        <c:varyColors val="0"/>
        <c:ser>
          <c:idx val="0"/>
          <c:order val="0"/>
          <c:tx>
            <c:strRef>
              <c:f>Sheet1!$B$1</c:f>
              <c:strCache>
                <c:ptCount val="1"/>
                <c:pt idx="0">
                  <c:v>p50</c:v>
                </c:pt>
              </c:strCache>
            </c:strRef>
          </c:tx>
          <c:spPr>
            <a:solidFill>
              <a:srgbClr val="D9E0EA"/>
            </a:solidFill>
            <a:effectLst/>
          </c:spPr>
          <c:invertIfNegative val="0"/>
          <c:dLbls>
            <c:numFmt formatCode="#,##0" sourceLinked="0"/>
            <c:spPr>
              <a:noFill/>
              <a:ln>
                <a:noFill/>
              </a:ln>
              <a:effectLst/>
            </c:spPr>
            <c:txPr>
              <a:bodyPr/>
              <a:lstStyle/>
              <a:p>
                <a:pPr>
                  <a:defRPr sz="1200" b="0" i="0" u="none" strike="noStrike">
                    <a:solidFill>
                      <a:srgbClr val="1B2A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2.000 · 1 usuario</c:v>
                </c:pt>
                <c:pt idx="1">
                  <c:v>2.000 · 10 usuarios</c:v>
                </c:pt>
                <c:pt idx="2">
                  <c:v>10.000 · 1 usuario</c:v>
                </c:pt>
                <c:pt idx="3">
                  <c:v>10.000 · 10 usuarios</c:v>
                </c:pt>
              </c:strCache>
            </c:strRef>
          </c:cat>
          <c:val>
            <c:numRef>
              <c:f>Sheet1!$B$2:$B$5</c:f>
              <c:numCache>
                <c:formatCode>General</c:formatCode>
                <c:ptCount val="4"/>
                <c:pt idx="0">
                  <c:v>8</c:v>
                </c:pt>
                <c:pt idx="1">
                  <c:v>57</c:v>
                </c:pt>
                <c:pt idx="2">
                  <c:v>25</c:v>
                </c:pt>
                <c:pt idx="3">
                  <c:v>202</c:v>
                </c:pt>
              </c:numCache>
            </c:numRef>
          </c:val>
          <c:extLst>
            <c:ext xmlns:c16="http://schemas.microsoft.com/office/drawing/2014/chart" uri="{C3380CC4-5D6E-409C-BE32-E72D297353CC}">
              <c16:uniqueId val="{00000000-0C2A-456A-B621-F8F7C6C3BA2E}"/>
            </c:ext>
          </c:extLst>
        </c:ser>
        <c:ser>
          <c:idx val="1"/>
          <c:order val="1"/>
          <c:tx>
            <c:strRef>
              <c:f>Sheet1!$C$1</c:f>
              <c:strCache>
                <c:ptCount val="1"/>
                <c:pt idx="0">
                  <c:v>p95</c:v>
                </c:pt>
              </c:strCache>
            </c:strRef>
          </c:tx>
          <c:spPr>
            <a:solidFill>
              <a:srgbClr val="1B2A41"/>
            </a:solidFill>
            <a:effectLst/>
          </c:spPr>
          <c:invertIfNegative val="0"/>
          <c:dLbls>
            <c:numFmt formatCode="#,##0" sourceLinked="0"/>
            <c:spPr>
              <a:noFill/>
              <a:ln>
                <a:noFill/>
              </a:ln>
              <a:effectLst/>
            </c:spPr>
            <c:txPr>
              <a:bodyPr/>
              <a:lstStyle/>
              <a:p>
                <a:pPr>
                  <a:defRPr sz="1200" b="0" i="0" u="none" strike="noStrike">
                    <a:solidFill>
                      <a:srgbClr val="1B2A4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2.000 · 1 usuario</c:v>
                </c:pt>
                <c:pt idx="1">
                  <c:v>2.000 · 10 usuarios</c:v>
                </c:pt>
                <c:pt idx="2">
                  <c:v>10.000 · 1 usuario</c:v>
                </c:pt>
                <c:pt idx="3">
                  <c:v>10.000 · 10 usuarios</c:v>
                </c:pt>
              </c:strCache>
            </c:strRef>
          </c:cat>
          <c:val>
            <c:numRef>
              <c:f>Sheet1!$C$2:$C$5</c:f>
              <c:numCache>
                <c:formatCode>General</c:formatCode>
                <c:ptCount val="4"/>
                <c:pt idx="0">
                  <c:v>31</c:v>
                </c:pt>
                <c:pt idx="1">
                  <c:v>83</c:v>
                </c:pt>
                <c:pt idx="2">
                  <c:v>132</c:v>
                </c:pt>
                <c:pt idx="3">
                  <c:v>302</c:v>
                </c:pt>
              </c:numCache>
            </c:numRef>
          </c:val>
          <c:extLst>
            <c:ext xmlns:c16="http://schemas.microsoft.com/office/drawing/2014/chart" uri="{C3380CC4-5D6E-409C-BE32-E72D297353CC}">
              <c16:uniqueId val="{00000001-0C2A-456A-B621-F8F7C6C3BA2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627A"/>
                </a:solidFill>
                <a:latin typeface="+mn-lt"/>
              </a:defRPr>
            </a:pPr>
            <a:endParaRPr lang="en-US"/>
          </a:p>
        </c:txPr>
        <c:crossAx val="2094734552"/>
        <c:crosses val="autoZero"/>
        <c:auto val="1"/>
        <c:lblAlgn val="ctr"/>
        <c:lblOffset val="100"/>
        <c:noMultiLvlLbl val="1"/>
      </c:catAx>
      <c:valAx>
        <c:axId val="2094734552"/>
        <c:scaling>
          <c:orientation val="minMax"/>
          <c:max val="350"/>
        </c:scaling>
        <c:delete val="0"/>
        <c:axPos val="l"/>
        <c:majorGridlines>
          <c:spPr>
            <a:ln w="6350" cap="flat">
              <a:solidFill>
                <a:srgbClr val="D9E0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5627A"/>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5627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7645CEDD-E414-4056-8B2D-444D71D5BA2A}" type="datetimeFigureOut">
              <a:t>10/26/2026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B3029F5E-D3F1-463A-900E-67BDC46287BF}" type="slidenum">
              <a:t>‹#›</a:t>
            </a:fld>
            <a:endParaRPr lang="en-US"/>
          </a:p>
        </p:txBody>
      </p:sp>
    </p:spTree>
    <p:extLst>
      <p:ext uri="{BB962C8B-B14F-4D97-AF65-F5344CB8AC3E}">
        <p14:creationId xmlns:p14="http://schemas.microsoft.com/office/powerpoint/2010/main" val="1816174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Somos Jaime Mochen y Cristian Cardeño. Vamos a presentar el informe de pruebas de aceptación del MVP de la Plataforma de Apoyo Académico, una aplicación donde los estudiantes buscan, suben, valoran y reportan material de estudio. Es una versión preliminar: falta la validación con estudiantes, que explicaremos al final.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fue comprobar cada requerimiento de la sección 6 contra su criterio de aceptación. Para cada uno registramos de dónde salió, qué prioridad tiene y qué evidencia demuestra que se cumple. A la derecha hay un ejemplo: el reporte de contenido, su criterio y la evidencia que lo respalda.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resultado principal: los 10 requerimientos obligatorios, que forman el MVP, cumplen su criterio. En total verificamos 19 de 20. Tenemos 40 pruebas automáticas que pasan, y los 4 defectos de la prueba manual ya están corregidos. Hay dos cosas abiertas: la disponibilidad, que es deseable y quedó fuera del MVP porque requiere un mes de monitoreo en un servidor, y la validación con estudiantes, que está pendiente.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están los 20 requerimientos según la priorización MoSCoW de la sección 7 del documento. En verde los verificados. Todos los obligatorios cumplen. El único que no se verificó es RNF-06, disponibilidad, que es deseable; por eso el equipo pudo dejarlo fuera del MVP.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Probamos en un equipo local: la API en Node con Express, la base de datos en PostgreSQL dentro de Docker y la aplicación Flutter compilada para web. Además de la vista móvil del navegador, usamos un celular real, un Galaxy A55. Los datos de prueba se cargan con un script, así la prueba se puede repetir. Importante: quien probó fue el propio equipo.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13 requerimientos funcionales están verificados. Por ejemplo, en RF-12 el administrador editó un profesor y el cambio se vio de inmediato en la tarjeta; en RF-13 desactivó un usuario y ese usuario ya no pudo iniciar sesión. Cada uno tiene al menos una prueba automática que lo cubre.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los no funcionales, seis están verificados. Destaco RNF-04, seguridad: un estudiante no ve el menú de administración y si llama directo a la API recibe un error 403; las contraseñas se guardan cifradas. RNF-06 queda fuera del MVP, como permite su prioridad deseable.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capturas de la prueba. A la izquierda, la lista de material con sus metadatos: profesor, periodo, calificación y el indicador En revisión del material reportado. A la derecha, la ficha del material antes y después de cerrar su reporte: al cerrarlo, el material vuelve a estado publicado, que es la regla R-01.</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criterio de RNF-02 es que el 95 % de las búsquedas responda en menos de 3 segundos. Cargamos temporalmente 2.000 y luego 10.000 materiales y medimos con uno y con diez usuarios simultáneos. El peor percentil 95 fue 302 milisegundos, diez veces por debajo del límite. Una limitación: es el tiempo de la API en local, sin la red del celular. También vimos que la búsqueda sin filtros es la más lenta porque la API no pagina los resultados.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RNF-03 no nos quedamos con la vista móvil del navegador: probamos en un celular real. Hicimos los flujos principales: buscar con filtros, abrir la ficha, descargar y subir un PDF desde el celular. Todo funcionó sin cortes ni desbordes.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prueba manual encontramos cuatro defectos. Lo más interesante es la causa: D-01 y D-03 no fueron errores de programación, sino requerimientos incompletos. RF-06 no decía qué tipos de archivo se aceptan y RF-10 no decía qué pasa con el material al cerrar un reporte. Los cuatro están corregidos y verificados.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implementar aparecieron nueve reglas que no estaban escritas en los requerimientos. El equipo aprobó las seis primeras, aceptó temporalmente el riesgo de R-07, que es un tema de seguridad con el token JWT, y R-08 y R-09 están propuestas. La lección es que las reglas que solo viven en el código se pierden; por eso las pasamos al documento.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Tenemos 40 pruebas automáticas en total, todas aprobadas: 8 unitarias de la API, 15 de extremo a extremo contra la base de datos real y 17 de widgets en Flutter. El análisis estático no da avisos. Así, si cambiamos algo, sabemos de inmediato si rompimos un criterio de aceptación.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Queremos ser claros con esto: todavía no hemos hecho la sesión con estudiantes reales. Usamos un recorrido simulado con IA solo para anticipar problemas de uso; eso no valida nada, porque ningún estudiante usó la aplicación. Encontró siete problemas, los confirmamos en el código y los corregimos, cada uno con su prueba automática. Falta comprobar con estudiantes que las correcciones sirven.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plan de la sesión. Cuatro tareas concretas que cubren los requerimientos principales. Un integrante lee la consigna tal cual, no ayuda, y anota pasos, tiempo y dudas. Si el estudiante se detiene unos 30 segundos, da una pista mínima y la tarea cuenta como con ayuda. El criterio lo fijamos antes, para no ajustarlo a los resultados.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sigue: primero, la sesión con estudiantes, que es lo más importante. Luego aprobar las dos reglas propuestas, agregar la evidencia de un sprint al documento y, ya fuera del MVP, desplegar la plataforma para medir su disponibilidad.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conclusión: el MVP cumple todos sus requerimientos obligatorios y tiene pruebas automáticas que lo respaldan, pero un criterio cumplido no es lo mismo que una necesidad resuelta. Por eso el siguiente paso es la validación con estudiantes. Muchas gracias, ¿tienen preguntas?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SCURO">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011680"/>
            <a:ext cx="10515600" cy="1737360"/>
          </a:xfrm>
          <a:prstGeom prst="rect">
            <a:avLst/>
          </a:prstGeom>
          <a:noFill/>
          <a:ln/>
        </p:spPr>
        <p:txBody>
          <a:bodyPr wrap="square" rtlCol="0"/>
          <a:lstStyle>
            <a:lvl1pPr marL="0" indent="0">
              <a:buNone/>
              <a:defRPr lang="en-US" sz="4800" b="1" dirty="0">
                <a:solidFill>
                  <a:schemeClr val="bg1"/>
                </a:solidFill>
              </a:defRPr>
            </a:lvl1pPr>
          </a:lstStyle>
          <a:p>
            <a:pPr marL="0" indent="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rtlCol="0"/>
          <a:lstStyle>
            <a:lvl1pPr marL="0" indent="0">
              <a:buNone/>
              <a:defRPr lang="en-US" sz="3200" b="1" dirty="0">
                <a:solidFill>
                  <a:schemeClr val="tx1"/>
                </a:solidFill>
              </a:defRPr>
            </a:lvl1pPr>
          </a:lstStyle>
          <a:p>
            <a:pPr marL="0" indent="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tx2"/>
                </a:solidFill>
              </a:rPr>
              <a:t>Pruebas de aceptación del MVP · Plataforma de Apoyo Académico</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 Id="rId90"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 Id="rId90"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90"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9144000" cy="365760"/>
          </a:xfrm>
          <a:prstGeom prst="rect">
            <a:avLst/>
          </a:prstGeom>
          <a:noFill/>
          <a:ln/>
        </p:spPr>
        <p:txBody>
          <a:bodyPr wrap="square" lIns="0" tIns="0" rIns="0" bIns="0" rtlCol="0" anchor="ctr"/>
          <a:lstStyle/>
          <a:p>
            <a:pPr marL="0" indent="0">
              <a:buNone/>
            </a:pPr>
            <a:r>
              <a:rPr lang="en-US" sz="1400" b="1" kern="0" spc="200" dirty="0">
                <a:solidFill>
                  <a:schemeClr val="accent6"/>
                </a:solidFill>
                <a:latin typeface="Courier New" pitchFamily="34" charset="0"/>
                <a:ea typeface="Courier New" pitchFamily="34" charset="-122"/>
                <a:cs typeface="Courier New" pitchFamily="34" charset="-120"/>
              </a:rPr>
              <a:t>PROYECTO DE AULA · INGENIERÍA DE SOFTWARE</a:t>
            </a:r>
            <a:endParaRPr lang="en-US" sz="1400" dirty="0"/>
          </a:p>
        </p:txBody>
      </p:sp>
      <p:sp>
        <p:nvSpPr>
          <p:cNvPr id="3" name="Text 0"/>
          <p:cNvSpPr>
            <a:spLocks noGrp="1"/>
          </p:cNvSpPr>
          <p:nvPr>
            <p:ph type="title" idx="100" hasCustomPrompt="1"/>
          </p:nvPr>
        </p:nvSpPr>
        <p:spPr>
          <a:xfrm>
            <a:off x="548640" y="2011680"/>
            <a:ext cx="10515600" cy="1737360"/>
          </a:xfrm>
          <a:prstGeom prst="rect">
            <a:avLst/>
          </a:prstGeom>
          <a:noFill/>
          <a:ln/>
        </p:spPr>
        <p:txBody>
          <a:bodyPr wrap="square" lIns="0" tIns="0" rIns="0" bIns="0" rtlCol="0" anchor="t"/>
          <a:lstStyle/>
          <a:p>
            <a:pPr marL="0" indent="0">
              <a:buNone/>
            </a:pPr>
            <a:r>
              <a:rPr lang="en-US" sz="4800" b="1" dirty="0">
                <a:solidFill>
                  <a:schemeClr val="bg1"/>
                </a:solidFill>
              </a:rPr>
              <a:t>Pruebas de aceptación del MVP</a:t>
            </a:r>
            <a:endParaRPr lang="en-US" sz="4800" dirty="0"/>
          </a:p>
        </p:txBody>
      </p:sp>
      <p:sp>
        <p:nvSpPr>
          <p:cNvPr id="4" name="Text 2"/>
          <p:cNvSpPr txBox="1"/>
          <p:nvPr/>
        </p:nvSpPr>
        <p:spPr>
          <a:xfrm>
            <a:off x="548640" y="3017520"/>
            <a:ext cx="10515600" cy="457200"/>
          </a:xfrm>
          <a:prstGeom prst="rect">
            <a:avLst/>
          </a:prstGeom>
          <a:noFill/>
          <a:ln/>
        </p:spPr>
        <p:txBody>
          <a:bodyPr wrap="square" lIns="0" tIns="0" rIns="0" bIns="0" rtlCol="0" anchor="ctr"/>
          <a:lstStyle/>
          <a:p>
            <a:pPr marL="0" indent="0">
              <a:buNone/>
            </a:pPr>
            <a:r>
              <a:rPr lang="en-US" sz="2200" dirty="0">
                <a:solidFill>
                  <a:schemeClr val="accent6"/>
                </a:solidFill>
              </a:rPr>
              <a:t>Plataforma de </a:t>
            </a:r>
            <a:r>
              <a:rPr lang="en-US" sz="2200" dirty="0" err="1">
                <a:solidFill>
                  <a:schemeClr val="accent6"/>
                </a:solidFill>
              </a:rPr>
              <a:t>Apoyo</a:t>
            </a:r>
            <a:r>
              <a:rPr lang="en-US" sz="2200" dirty="0">
                <a:solidFill>
                  <a:schemeClr val="accent6"/>
                </a:solidFill>
              </a:rPr>
              <a:t> </a:t>
            </a:r>
            <a:r>
              <a:rPr lang="en-US" sz="2200" dirty="0" err="1">
                <a:solidFill>
                  <a:schemeClr val="accent6"/>
                </a:solidFill>
              </a:rPr>
              <a:t>Académico</a:t>
            </a:r>
            <a:r>
              <a:rPr lang="en-US" sz="2200" dirty="0">
                <a:solidFill>
                  <a:schemeClr val="accent6"/>
                </a:solidFill>
              </a:rPr>
              <a:t> · Informe y Tutor IA</a:t>
            </a:r>
            <a:endParaRPr lang="en-US" sz="2200" dirty="0">
              <a:solidFill>
                <a:schemeClr val="accent6"/>
              </a:solidFill>
              <a:ea typeface="Calibri"/>
              <a:cs typeface="Calibri"/>
            </a:endParaRPr>
          </a:p>
        </p:txBody>
      </p:sp>
      <p:sp>
        <p:nvSpPr>
          <p:cNvPr id="5" name="Text 3"/>
          <p:cNvSpPr txBox="1"/>
          <p:nvPr/>
        </p:nvSpPr>
        <p:spPr>
          <a:xfrm>
            <a:off x="548640" y="4754880"/>
            <a:ext cx="8229600" cy="1097280"/>
          </a:xfrm>
          <a:prstGeom prst="rect">
            <a:avLst/>
          </a:prstGeom>
          <a:noFill/>
          <a:ln/>
        </p:spPr>
        <p:txBody>
          <a:bodyPr wrap="square" lIns="0" tIns="0" rIns="0" bIns="0" rtlCol="0" anchor="ctr"/>
          <a:lstStyle/>
          <a:p>
            <a:pPr>
              <a:spcAft>
                <a:spcPts val="400"/>
              </a:spcAft>
            </a:pPr>
            <a:r>
              <a:rPr lang="en-US" sz="1600" dirty="0">
                <a:solidFill>
                  <a:schemeClr val="bg1"/>
                </a:solidFill>
                <a:ea typeface="Calibri"/>
                <a:cs typeface="Calibri"/>
              </a:rPr>
              <a:t>Jaime Mochen. Cristian </a:t>
            </a:r>
            <a:r>
              <a:rPr lang="en-US" sz="1600" dirty="0" err="1">
                <a:solidFill>
                  <a:schemeClr val="bg1"/>
                </a:solidFill>
                <a:ea typeface="Calibri"/>
                <a:cs typeface="Calibri"/>
              </a:rPr>
              <a:t>Cardeño</a:t>
            </a:r>
            <a:endParaRPr lang="en-US" sz="1600" dirty="0" err="1">
              <a:solidFill>
                <a:schemeClr val="bg1"/>
              </a:solidFill>
            </a:endParaRPr>
          </a:p>
          <a:p>
            <a:pPr marL="0" indent="0">
              <a:spcAft>
                <a:spcPts val="400"/>
              </a:spcAft>
              <a:buNone/>
            </a:pPr>
            <a:r>
              <a:rPr lang="en-US" sz="1600" dirty="0" err="1">
                <a:solidFill>
                  <a:schemeClr val="bg1"/>
                </a:solidFill>
              </a:rPr>
              <a:t>Docente</a:t>
            </a:r>
            <a:r>
              <a:rPr lang="en-US" sz="1600" dirty="0">
                <a:solidFill>
                  <a:schemeClr val="bg1"/>
                </a:solidFill>
              </a:rPr>
              <a:t>: Aisner José Marrugo Juliao</a:t>
            </a:r>
            <a:endParaRPr lang="en-US" dirty="0">
              <a:solidFill>
                <a:schemeClr val="bg1"/>
              </a:solidFill>
            </a:endParaRPr>
          </a:p>
        </p:txBody>
      </p:sp>
      <p:pic>
        <p:nvPicPr>
          <p:cNvPr id="90" name="Logo UTB" descr="Logosímbolo de la Universidad Tecnológica de Bolívar"/>
          <p:cNvPicPr>
            <a:picLocks noChangeAspect="1"/>
          </p:cNvPicPr>
          <p:nvPr/>
        </p:nvPicPr>
        <p:blipFill>
          <a:blip r:embed="rId90"/>
          <a:stretch>
            <a:fillRect/>
          </a:stretch>
        </p:blipFill>
        <p:spPr>
          <a:xfrm>
            <a:off x="9545883" y="457200"/>
            <a:ext cx="2097477" cy="868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¿Qué verificamos?</a:t>
            </a:r>
            <a:endParaRPr lang="en-US" sz="3200" dirty="0"/>
          </a:p>
        </p:txBody>
      </p:sp>
      <p:sp>
        <p:nvSpPr>
          <p:cNvPr id="3" name="Text 1"/>
          <p:cNvSpPr txBox="1"/>
          <p:nvPr/>
        </p:nvSpPr>
        <p:spPr>
          <a:xfrm>
            <a:off x="548640" y="1463040"/>
            <a:ext cx="5120640" cy="32918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Los 20 requerimientos de la sección 6 del documento del proyecto (13 funcionales y 7 no funcionales).</a:t>
            </a:r>
            <a:endParaRPr lang="en-US" sz="1800" dirty="0"/>
          </a:p>
          <a:p>
            <a:pPr marL="342900" indent="-342900">
              <a:spcAft>
                <a:spcPts val="1200"/>
              </a:spcAft>
              <a:buSzPct val="100000"/>
              <a:buChar char="•"/>
            </a:pPr>
            <a:r>
              <a:rPr lang="en-US" sz="1800" dirty="0">
                <a:solidFill>
                  <a:schemeClr val="tx1"/>
                </a:solidFill>
              </a:rPr>
              <a:t>Cada uno con su fuente (entrevistas, encuesta, modelado) y su prioridad MoSCoW.</a:t>
            </a:r>
            <a:endParaRPr lang="en-US" sz="1800" dirty="0"/>
          </a:p>
          <a:p>
            <a:pPr marL="342900" indent="-342900">
              <a:spcAft>
                <a:spcPts val="1200"/>
              </a:spcAft>
              <a:buSzPct val="100000"/>
              <a:buChar char="•"/>
            </a:pPr>
            <a:r>
              <a:rPr lang="en-US" sz="1800" dirty="0">
                <a:solidFill>
                  <a:schemeClr val="tx1"/>
                </a:solidFill>
              </a:rPr>
              <a:t>Un requerimiento está «verificado» solo si su criterio de aceptación tiene evidencia: una captura, una consulta a la base de datos o una prueba automática.</a:t>
            </a:r>
            <a:endParaRPr lang="en-US" sz="1800" dirty="0"/>
          </a:p>
        </p:txBody>
      </p:sp>
      <p:sp>
        <p:nvSpPr>
          <p:cNvPr id="4" name="card"/>
          <p:cNvSpPr/>
          <p:nvPr/>
        </p:nvSpPr>
        <p:spPr>
          <a:xfrm>
            <a:off x="6309360" y="1463040"/>
            <a:ext cx="5303520" cy="1188720"/>
          </a:xfrm>
          <a:prstGeom prst="roundRect">
            <a:avLst>
              <a:gd name="adj" fmla="val 9231"/>
            </a:avLst>
          </a:prstGeom>
          <a:solidFill>
            <a:schemeClr val="bg2"/>
          </a:solidFill>
          <a:ln w="9525">
            <a:solidFill>
              <a:schemeClr val="accent6"/>
            </a:solidFill>
            <a:prstDash val="solid"/>
          </a:ln>
        </p:spPr>
      </p:sp>
      <p:sp>
        <p:nvSpPr>
          <p:cNvPr id="5" name="paso"/>
          <p:cNvSpPr/>
          <p:nvPr/>
        </p:nvSpPr>
        <p:spPr>
          <a:xfrm>
            <a:off x="6537960" y="1783080"/>
            <a:ext cx="548640" cy="548640"/>
          </a:xfrm>
          <a:prstGeom prst="ellipse">
            <a:avLst/>
          </a:prstGeom>
          <a:solidFill>
            <a:schemeClr val="tx1"/>
          </a:solidFill>
          <a:ln w="12700">
            <a:solidFill>
              <a:schemeClr val="tx1"/>
            </a:solidFill>
            <a:prstDash val="solid"/>
          </a:ln>
        </p:spPr>
      </p:sp>
      <p:sp>
        <p:nvSpPr>
          <p:cNvPr id="6" name="Text 4"/>
          <p:cNvSpPr txBox="1"/>
          <p:nvPr/>
        </p:nvSpPr>
        <p:spPr>
          <a:xfrm>
            <a:off x="6537960" y="178308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5"/>
          <p:cNvSpPr txBox="1"/>
          <p:nvPr/>
        </p:nvSpPr>
        <p:spPr>
          <a:xfrm>
            <a:off x="7315200" y="1600200"/>
            <a:ext cx="4114800" cy="365760"/>
          </a:xfrm>
          <a:prstGeom prst="rect">
            <a:avLst/>
          </a:prstGeom>
          <a:noFill/>
          <a:ln/>
        </p:spPr>
        <p:txBody>
          <a:bodyPr wrap="square" lIns="0" tIns="0" rIns="0" bIns="0" rtlCol="0" anchor="ctr"/>
          <a:lstStyle/>
          <a:p>
            <a:pPr marL="0" indent="0">
              <a:buNone/>
            </a:pPr>
            <a:r>
              <a:rPr lang="en-US" sz="1700" b="1" dirty="0">
                <a:solidFill>
                  <a:schemeClr val="tx1"/>
                </a:solidFill>
              </a:rPr>
              <a:t>Requerimiento</a:t>
            </a:r>
            <a:endParaRPr lang="en-US" sz="1700" dirty="0"/>
          </a:p>
        </p:txBody>
      </p:sp>
      <p:sp>
        <p:nvSpPr>
          <p:cNvPr id="8" name="Text 6"/>
          <p:cNvSpPr txBox="1"/>
          <p:nvPr/>
        </p:nvSpPr>
        <p:spPr>
          <a:xfrm>
            <a:off x="7315200" y="1965960"/>
            <a:ext cx="4114800" cy="594360"/>
          </a:xfrm>
          <a:prstGeom prst="rect">
            <a:avLst/>
          </a:prstGeom>
          <a:noFill/>
          <a:ln/>
        </p:spPr>
        <p:txBody>
          <a:bodyPr wrap="square" lIns="0" tIns="0" rIns="0" bIns="0" rtlCol="0" anchor="t"/>
          <a:lstStyle/>
          <a:p>
            <a:pPr marL="0" indent="0">
              <a:buNone/>
            </a:pPr>
            <a:r>
              <a:rPr lang="en-US" sz="1300" dirty="0">
                <a:solidFill>
                  <a:schemeClr val="tx2"/>
                </a:solidFill>
              </a:rPr>
              <a:t>RF-09 Reporte de contenido · Alta · Obligatorio</a:t>
            </a:r>
            <a:endParaRPr lang="en-US" sz="1300" dirty="0"/>
          </a:p>
        </p:txBody>
      </p:sp>
      <p:sp>
        <p:nvSpPr>
          <p:cNvPr id="9" name="card"/>
          <p:cNvSpPr/>
          <p:nvPr/>
        </p:nvSpPr>
        <p:spPr>
          <a:xfrm>
            <a:off x="6309360" y="2926080"/>
            <a:ext cx="5303520" cy="1188720"/>
          </a:xfrm>
          <a:prstGeom prst="roundRect">
            <a:avLst>
              <a:gd name="adj" fmla="val 9231"/>
            </a:avLst>
          </a:prstGeom>
          <a:solidFill>
            <a:schemeClr val="bg2"/>
          </a:solidFill>
          <a:ln w="9525">
            <a:solidFill>
              <a:schemeClr val="accent6"/>
            </a:solidFill>
            <a:prstDash val="solid"/>
          </a:ln>
        </p:spPr>
      </p:sp>
      <p:sp>
        <p:nvSpPr>
          <p:cNvPr id="10" name="paso"/>
          <p:cNvSpPr/>
          <p:nvPr/>
        </p:nvSpPr>
        <p:spPr>
          <a:xfrm>
            <a:off x="6537960" y="3246120"/>
            <a:ext cx="548640" cy="548640"/>
          </a:xfrm>
          <a:prstGeom prst="ellipse">
            <a:avLst/>
          </a:prstGeom>
          <a:solidFill>
            <a:schemeClr val="tx1"/>
          </a:solidFill>
          <a:ln w="12700">
            <a:solidFill>
              <a:schemeClr val="tx1"/>
            </a:solidFill>
            <a:prstDash val="solid"/>
          </a:ln>
        </p:spPr>
      </p:sp>
      <p:sp>
        <p:nvSpPr>
          <p:cNvPr id="11" name="Text 9"/>
          <p:cNvSpPr txBox="1"/>
          <p:nvPr/>
        </p:nvSpPr>
        <p:spPr>
          <a:xfrm>
            <a:off x="6537960" y="32461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10"/>
          <p:cNvSpPr txBox="1"/>
          <p:nvPr/>
        </p:nvSpPr>
        <p:spPr>
          <a:xfrm>
            <a:off x="7315200" y="3063240"/>
            <a:ext cx="4114800" cy="365760"/>
          </a:xfrm>
          <a:prstGeom prst="rect">
            <a:avLst/>
          </a:prstGeom>
          <a:noFill/>
          <a:ln/>
        </p:spPr>
        <p:txBody>
          <a:bodyPr wrap="square" lIns="0" tIns="0" rIns="0" bIns="0" rtlCol="0" anchor="ctr"/>
          <a:lstStyle/>
          <a:p>
            <a:pPr marL="0" indent="0">
              <a:buNone/>
            </a:pPr>
            <a:r>
              <a:rPr lang="en-US" sz="1700" b="1" dirty="0">
                <a:solidFill>
                  <a:schemeClr val="tx1"/>
                </a:solidFill>
              </a:rPr>
              <a:t>Criterio de aceptación</a:t>
            </a:r>
            <a:endParaRPr lang="en-US" sz="1700" dirty="0"/>
          </a:p>
        </p:txBody>
      </p:sp>
      <p:sp>
        <p:nvSpPr>
          <p:cNvPr id="13" name="Text 11"/>
          <p:cNvSpPr txBox="1"/>
          <p:nvPr/>
        </p:nvSpPr>
        <p:spPr>
          <a:xfrm>
            <a:off x="7315200" y="3429000"/>
            <a:ext cx="4114800" cy="594360"/>
          </a:xfrm>
          <a:prstGeom prst="rect">
            <a:avLst/>
          </a:prstGeom>
          <a:noFill/>
          <a:ln/>
        </p:spPr>
        <p:txBody>
          <a:bodyPr wrap="square" lIns="0" tIns="0" rIns="0" bIns="0" rtlCol="0" anchor="t"/>
          <a:lstStyle/>
          <a:p>
            <a:pPr marL="0" indent="0">
              <a:buNone/>
            </a:pPr>
            <a:r>
              <a:rPr lang="en-US" sz="1300" dirty="0">
                <a:solidFill>
                  <a:schemeClr val="tx2"/>
                </a:solidFill>
              </a:rPr>
              <a:t>El reporte queda con motivo, fecha y estado «pendiente», visible para el administrador</a:t>
            </a:r>
            <a:endParaRPr lang="en-US" sz="1300" dirty="0"/>
          </a:p>
        </p:txBody>
      </p:sp>
      <p:sp>
        <p:nvSpPr>
          <p:cNvPr id="14" name="card"/>
          <p:cNvSpPr/>
          <p:nvPr/>
        </p:nvSpPr>
        <p:spPr>
          <a:xfrm>
            <a:off x="6309360" y="4389120"/>
            <a:ext cx="5303520" cy="1188720"/>
          </a:xfrm>
          <a:prstGeom prst="roundRect">
            <a:avLst>
              <a:gd name="adj" fmla="val 9231"/>
            </a:avLst>
          </a:prstGeom>
          <a:solidFill>
            <a:schemeClr val="bg2"/>
          </a:solidFill>
          <a:ln w="9525">
            <a:solidFill>
              <a:schemeClr val="accent6"/>
            </a:solidFill>
            <a:prstDash val="solid"/>
          </a:ln>
        </p:spPr>
      </p:sp>
      <p:sp>
        <p:nvSpPr>
          <p:cNvPr id="15" name="paso"/>
          <p:cNvSpPr/>
          <p:nvPr/>
        </p:nvSpPr>
        <p:spPr>
          <a:xfrm>
            <a:off x="6537960" y="4709160"/>
            <a:ext cx="548640" cy="548640"/>
          </a:xfrm>
          <a:prstGeom prst="ellipse">
            <a:avLst/>
          </a:prstGeom>
          <a:solidFill>
            <a:schemeClr val="tx1"/>
          </a:solidFill>
          <a:ln w="12700">
            <a:solidFill>
              <a:schemeClr val="tx1"/>
            </a:solidFill>
            <a:prstDash val="solid"/>
          </a:ln>
        </p:spPr>
      </p:sp>
      <p:sp>
        <p:nvSpPr>
          <p:cNvPr id="16" name="Text 14"/>
          <p:cNvSpPr txBox="1"/>
          <p:nvPr/>
        </p:nvSpPr>
        <p:spPr>
          <a:xfrm>
            <a:off x="6537960" y="47091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7" name="Text 15"/>
          <p:cNvSpPr txBox="1"/>
          <p:nvPr/>
        </p:nvSpPr>
        <p:spPr>
          <a:xfrm>
            <a:off x="7315200" y="4526280"/>
            <a:ext cx="4114800" cy="365760"/>
          </a:xfrm>
          <a:prstGeom prst="rect">
            <a:avLst/>
          </a:prstGeom>
          <a:noFill/>
          <a:ln/>
        </p:spPr>
        <p:txBody>
          <a:bodyPr wrap="square" lIns="0" tIns="0" rIns="0" bIns="0" rtlCol="0" anchor="ctr"/>
          <a:lstStyle/>
          <a:p>
            <a:pPr marL="0" indent="0">
              <a:buNone/>
            </a:pPr>
            <a:r>
              <a:rPr lang="en-US" sz="1700" b="1" dirty="0">
                <a:solidFill>
                  <a:schemeClr val="tx1"/>
                </a:solidFill>
              </a:rPr>
              <a:t>Evidencia</a:t>
            </a:r>
            <a:endParaRPr lang="en-US" sz="1700" dirty="0"/>
          </a:p>
        </p:txBody>
      </p:sp>
      <p:sp>
        <p:nvSpPr>
          <p:cNvPr id="18" name="Text 16"/>
          <p:cNvSpPr txBox="1"/>
          <p:nvPr/>
        </p:nvSpPr>
        <p:spPr>
          <a:xfrm>
            <a:off x="7315200" y="4892040"/>
            <a:ext cx="4114800" cy="594360"/>
          </a:xfrm>
          <a:prstGeom prst="rect">
            <a:avLst/>
          </a:prstGeom>
          <a:noFill/>
          <a:ln/>
        </p:spPr>
        <p:txBody>
          <a:bodyPr wrap="square" lIns="0" tIns="0" rIns="0" bIns="0" rtlCol="0" anchor="t"/>
          <a:lstStyle/>
          <a:p>
            <a:pPr marL="0" indent="0">
              <a:buNone/>
            </a:pPr>
            <a:r>
              <a:rPr lang="en-US" sz="1300" dirty="0">
                <a:solidFill>
                  <a:schemeClr val="tx2"/>
                </a:solidFill>
              </a:rPr>
              <a:t>Fig. 20 y 21, tabla 3.1 y la prueba e2e «RF-09»</a:t>
            </a:r>
            <a:endParaRPr lang="en-US" sz="1300" dirty="0"/>
          </a:p>
        </p:txBody>
      </p:sp>
      <p:sp>
        <p:nvSpPr>
          <p:cNvPr id="19" name="Text 17"/>
          <p:cNvSpPr txBox="1"/>
          <p:nvPr/>
        </p:nvSpPr>
        <p:spPr>
          <a:xfrm>
            <a:off x="6309360" y="5852160"/>
            <a:ext cx="5303520" cy="274320"/>
          </a:xfrm>
          <a:prstGeom prst="rect">
            <a:avLst/>
          </a:prstGeom>
          <a:noFill/>
          <a:ln/>
        </p:spPr>
        <p:txBody>
          <a:bodyPr wrap="square" lIns="0" tIns="0" rIns="0" bIns="0" rtlCol="0" anchor="ctr"/>
          <a:lstStyle/>
          <a:p>
            <a:pPr marL="0" indent="0">
              <a:buNone/>
            </a:pPr>
            <a:r>
              <a:rPr lang="en-US" sz="1100" i="1" dirty="0">
                <a:solidFill>
                  <a:schemeClr val="tx2"/>
                </a:solidFill>
              </a:rPr>
              <a:t>Ejemplo de una fila de la matriz de trazabilidad</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Resultados en cifras</a:t>
            </a:r>
            <a:endParaRPr lang="en-US" sz="3200" dirty="0"/>
          </a:p>
        </p:txBody>
      </p:sp>
      <p:sp>
        <p:nvSpPr>
          <p:cNvPr id="3" name="card"/>
          <p:cNvSpPr/>
          <p:nvPr/>
        </p:nvSpPr>
        <p:spPr>
          <a:xfrm>
            <a:off x="548640" y="1554480"/>
            <a:ext cx="2578608" cy="2651760"/>
          </a:xfrm>
          <a:prstGeom prst="roundRect">
            <a:avLst>
              <a:gd name="adj" fmla="val 4255"/>
            </a:avLst>
          </a:prstGeom>
          <a:solidFill>
            <a:schemeClr val="bg1"/>
          </a:solidFill>
          <a:ln w="9525">
            <a:solidFill>
              <a:schemeClr val="accent6"/>
            </a:solidFill>
            <a:prstDash val="solid"/>
          </a:ln>
        </p:spPr>
      </p:sp>
      <p:sp>
        <p:nvSpPr>
          <p:cNvPr id="4" name="Text 2"/>
          <p:cNvSpPr txBox="1"/>
          <p:nvPr/>
        </p:nvSpPr>
        <p:spPr>
          <a:xfrm>
            <a:off x="777240" y="1783080"/>
            <a:ext cx="2121408" cy="1097280"/>
          </a:xfrm>
          <a:prstGeom prst="rect">
            <a:avLst/>
          </a:prstGeom>
          <a:noFill/>
          <a:ln/>
        </p:spPr>
        <p:txBody>
          <a:bodyPr wrap="square" lIns="0" tIns="0" rIns="0" bIns="0" rtlCol="0" anchor="ctr"/>
          <a:lstStyle/>
          <a:p>
            <a:pPr marL="0" indent="0">
              <a:buNone/>
            </a:pPr>
            <a:r>
              <a:rPr lang="en-US" sz="4400" b="1" dirty="0">
                <a:solidFill>
                  <a:schemeClr val="accent1"/>
                </a:solidFill>
                <a:latin typeface="Cambria" pitchFamily="34" charset="0"/>
                <a:ea typeface="Cambria" pitchFamily="34" charset="-122"/>
                <a:cs typeface="Cambria" pitchFamily="34" charset="-120"/>
              </a:rPr>
              <a:t>10 / 10</a:t>
            </a:r>
            <a:endParaRPr lang="en-US" sz="4400" dirty="0"/>
          </a:p>
        </p:txBody>
      </p:sp>
      <p:sp>
        <p:nvSpPr>
          <p:cNvPr id="5" name="Text 3"/>
          <p:cNvSpPr txBox="1"/>
          <p:nvPr/>
        </p:nvSpPr>
        <p:spPr>
          <a:xfrm>
            <a:off x="777240" y="2971800"/>
            <a:ext cx="2121408" cy="1005840"/>
          </a:xfrm>
          <a:prstGeom prst="rect">
            <a:avLst/>
          </a:prstGeom>
          <a:noFill/>
          <a:ln/>
        </p:spPr>
        <p:txBody>
          <a:bodyPr wrap="square" lIns="0" tIns="0" rIns="0" bIns="0" rtlCol="0" anchor="t"/>
          <a:lstStyle/>
          <a:p>
            <a:pPr marL="0" indent="0">
              <a:buNone/>
            </a:pPr>
            <a:r>
              <a:rPr lang="en-US" sz="1600" dirty="0">
                <a:solidFill>
                  <a:schemeClr val="tx2"/>
                </a:solidFill>
              </a:rPr>
              <a:t>requerimientos obligatorios del MVP verificados</a:t>
            </a:r>
            <a:endParaRPr lang="en-US" sz="1600" dirty="0"/>
          </a:p>
        </p:txBody>
      </p:sp>
      <p:sp>
        <p:nvSpPr>
          <p:cNvPr id="6" name="card"/>
          <p:cNvSpPr/>
          <p:nvPr/>
        </p:nvSpPr>
        <p:spPr>
          <a:xfrm>
            <a:off x="3355848" y="1554480"/>
            <a:ext cx="2578608" cy="2651760"/>
          </a:xfrm>
          <a:prstGeom prst="roundRect">
            <a:avLst>
              <a:gd name="adj" fmla="val 4255"/>
            </a:avLst>
          </a:prstGeom>
          <a:solidFill>
            <a:schemeClr val="bg1"/>
          </a:solidFill>
          <a:ln w="9525">
            <a:solidFill>
              <a:schemeClr val="accent6"/>
            </a:solidFill>
            <a:prstDash val="solid"/>
          </a:ln>
        </p:spPr>
      </p:sp>
      <p:sp>
        <p:nvSpPr>
          <p:cNvPr id="7" name="Text 5"/>
          <p:cNvSpPr txBox="1"/>
          <p:nvPr/>
        </p:nvSpPr>
        <p:spPr>
          <a:xfrm>
            <a:off x="3584448" y="1783080"/>
            <a:ext cx="2121408" cy="1097280"/>
          </a:xfrm>
          <a:prstGeom prst="rect">
            <a:avLst/>
          </a:prstGeom>
          <a:noFill/>
          <a:ln/>
        </p:spPr>
        <p:txBody>
          <a:bodyPr wrap="square" lIns="0" tIns="0" rIns="0" bIns="0" rtlCol="0" anchor="ctr"/>
          <a:lstStyle/>
          <a:p>
            <a:pPr marL="0" indent="0">
              <a:buNone/>
            </a:pPr>
            <a:r>
              <a:rPr lang="en-US" sz="4400" b="1" dirty="0">
                <a:solidFill>
                  <a:schemeClr val="accent1"/>
                </a:solidFill>
                <a:latin typeface="Cambria" pitchFamily="34" charset="0"/>
                <a:ea typeface="Cambria" pitchFamily="34" charset="-122"/>
                <a:cs typeface="Cambria" pitchFamily="34" charset="-120"/>
              </a:rPr>
              <a:t>19 / 20</a:t>
            </a:r>
            <a:endParaRPr lang="en-US" sz="4400" dirty="0"/>
          </a:p>
        </p:txBody>
      </p:sp>
      <p:sp>
        <p:nvSpPr>
          <p:cNvPr id="8" name="Text 6"/>
          <p:cNvSpPr txBox="1"/>
          <p:nvPr/>
        </p:nvSpPr>
        <p:spPr>
          <a:xfrm>
            <a:off x="3584448" y="2971800"/>
            <a:ext cx="2121408" cy="1005840"/>
          </a:xfrm>
          <a:prstGeom prst="rect">
            <a:avLst/>
          </a:prstGeom>
          <a:noFill/>
          <a:ln/>
        </p:spPr>
        <p:txBody>
          <a:bodyPr wrap="square" lIns="0" tIns="0" rIns="0" bIns="0" rtlCol="0" anchor="t"/>
          <a:lstStyle/>
          <a:p>
            <a:pPr marL="0" indent="0">
              <a:buNone/>
            </a:pPr>
            <a:r>
              <a:rPr lang="en-US" sz="1600" dirty="0">
                <a:solidFill>
                  <a:schemeClr val="tx2"/>
                </a:solidFill>
              </a:rPr>
              <a:t>requerimientos verificados en total</a:t>
            </a:r>
            <a:endParaRPr lang="en-US" sz="1600" dirty="0"/>
          </a:p>
        </p:txBody>
      </p:sp>
      <p:sp>
        <p:nvSpPr>
          <p:cNvPr id="9" name="card"/>
          <p:cNvSpPr/>
          <p:nvPr/>
        </p:nvSpPr>
        <p:spPr>
          <a:xfrm>
            <a:off x="6163056" y="1554480"/>
            <a:ext cx="2578608" cy="2651760"/>
          </a:xfrm>
          <a:prstGeom prst="roundRect">
            <a:avLst>
              <a:gd name="adj" fmla="val 4255"/>
            </a:avLst>
          </a:prstGeom>
          <a:solidFill>
            <a:schemeClr val="bg1"/>
          </a:solidFill>
          <a:ln w="9525">
            <a:solidFill>
              <a:schemeClr val="accent6"/>
            </a:solidFill>
            <a:prstDash val="solid"/>
          </a:ln>
        </p:spPr>
      </p:sp>
      <p:sp>
        <p:nvSpPr>
          <p:cNvPr id="10" name="Text 8"/>
          <p:cNvSpPr txBox="1"/>
          <p:nvPr/>
        </p:nvSpPr>
        <p:spPr>
          <a:xfrm>
            <a:off x="6391656" y="1783080"/>
            <a:ext cx="2121408" cy="1097280"/>
          </a:xfrm>
          <a:prstGeom prst="rect">
            <a:avLst/>
          </a:prstGeom>
          <a:noFill/>
          <a:ln/>
        </p:spPr>
        <p:txBody>
          <a:bodyPr wrap="square" lIns="0" tIns="0" rIns="0" bIns="0" rtlCol="0" anchor="ctr"/>
          <a:lstStyle/>
          <a:p>
            <a:pPr marL="0" indent="0">
              <a:buNone/>
            </a:pPr>
            <a:r>
              <a:rPr lang="en-US" sz="4400" b="1" dirty="0">
                <a:solidFill>
                  <a:schemeClr val="tx1"/>
                </a:solidFill>
                <a:latin typeface="Cambria" pitchFamily="34" charset="0"/>
                <a:ea typeface="Cambria" pitchFamily="34" charset="-122"/>
                <a:cs typeface="Cambria" pitchFamily="34" charset="-120"/>
              </a:rPr>
              <a:t>40</a:t>
            </a:r>
            <a:endParaRPr lang="en-US" sz="4400" dirty="0"/>
          </a:p>
        </p:txBody>
      </p:sp>
      <p:sp>
        <p:nvSpPr>
          <p:cNvPr id="11" name="Text 9"/>
          <p:cNvSpPr txBox="1"/>
          <p:nvPr/>
        </p:nvSpPr>
        <p:spPr>
          <a:xfrm>
            <a:off x="6391656" y="2971800"/>
            <a:ext cx="2121408" cy="1005840"/>
          </a:xfrm>
          <a:prstGeom prst="rect">
            <a:avLst/>
          </a:prstGeom>
          <a:noFill/>
          <a:ln/>
        </p:spPr>
        <p:txBody>
          <a:bodyPr wrap="square" lIns="0" tIns="0" rIns="0" bIns="0" rtlCol="0" anchor="t"/>
          <a:lstStyle/>
          <a:p>
            <a:pPr marL="0" indent="0">
              <a:buNone/>
            </a:pPr>
            <a:r>
              <a:rPr lang="en-US" sz="1600" dirty="0">
                <a:solidFill>
                  <a:schemeClr val="tx2"/>
                </a:solidFill>
              </a:rPr>
              <a:t>pruebas automáticas aprobadas</a:t>
            </a:r>
            <a:endParaRPr lang="en-US" sz="1600" dirty="0"/>
          </a:p>
        </p:txBody>
      </p:sp>
      <p:sp>
        <p:nvSpPr>
          <p:cNvPr id="12" name="card"/>
          <p:cNvSpPr/>
          <p:nvPr/>
        </p:nvSpPr>
        <p:spPr>
          <a:xfrm>
            <a:off x="8970264" y="1554480"/>
            <a:ext cx="2578608" cy="2651760"/>
          </a:xfrm>
          <a:prstGeom prst="roundRect">
            <a:avLst>
              <a:gd name="adj" fmla="val 4255"/>
            </a:avLst>
          </a:prstGeom>
          <a:solidFill>
            <a:schemeClr val="bg1"/>
          </a:solidFill>
          <a:ln w="9525">
            <a:solidFill>
              <a:schemeClr val="accent6"/>
            </a:solidFill>
            <a:prstDash val="solid"/>
          </a:ln>
        </p:spPr>
      </p:sp>
      <p:sp>
        <p:nvSpPr>
          <p:cNvPr id="13" name="Text 11"/>
          <p:cNvSpPr txBox="1"/>
          <p:nvPr/>
        </p:nvSpPr>
        <p:spPr>
          <a:xfrm>
            <a:off x="9198864" y="1783080"/>
            <a:ext cx="2121408" cy="1097280"/>
          </a:xfrm>
          <a:prstGeom prst="rect">
            <a:avLst/>
          </a:prstGeom>
          <a:noFill/>
          <a:ln/>
        </p:spPr>
        <p:txBody>
          <a:bodyPr wrap="square" lIns="0" tIns="0" rIns="0" bIns="0" rtlCol="0" anchor="ctr"/>
          <a:lstStyle/>
          <a:p>
            <a:pPr marL="0" indent="0">
              <a:buNone/>
            </a:pPr>
            <a:r>
              <a:rPr lang="en-US" sz="4400" b="1" dirty="0">
                <a:solidFill>
                  <a:schemeClr val="tx1"/>
                </a:solidFill>
                <a:latin typeface="Cambria" pitchFamily="34" charset="0"/>
                <a:ea typeface="Cambria" pitchFamily="34" charset="-122"/>
                <a:cs typeface="Cambria" pitchFamily="34" charset="-120"/>
              </a:rPr>
              <a:t>4</a:t>
            </a:r>
            <a:endParaRPr lang="en-US" sz="4400" dirty="0"/>
          </a:p>
        </p:txBody>
      </p:sp>
      <p:sp>
        <p:nvSpPr>
          <p:cNvPr id="14" name="Text 12"/>
          <p:cNvSpPr txBox="1"/>
          <p:nvPr/>
        </p:nvSpPr>
        <p:spPr>
          <a:xfrm>
            <a:off x="9198864" y="2971800"/>
            <a:ext cx="2121408" cy="1005840"/>
          </a:xfrm>
          <a:prstGeom prst="rect">
            <a:avLst/>
          </a:prstGeom>
          <a:noFill/>
          <a:ln/>
        </p:spPr>
        <p:txBody>
          <a:bodyPr wrap="square" lIns="0" tIns="0" rIns="0" bIns="0" rtlCol="0" anchor="t"/>
          <a:lstStyle/>
          <a:p>
            <a:pPr marL="0" indent="0">
              <a:buNone/>
            </a:pPr>
            <a:r>
              <a:rPr lang="en-US" sz="1600" dirty="0">
                <a:solidFill>
                  <a:schemeClr val="tx2"/>
                </a:solidFill>
              </a:rPr>
              <a:t>defectos encontrados en la prueba manual, todos corregidos</a:t>
            </a:r>
            <a:endParaRPr lang="en-US" sz="1600" dirty="0"/>
          </a:p>
        </p:txBody>
      </p:sp>
      <p:sp>
        <p:nvSpPr>
          <p:cNvPr id="15" name="card"/>
          <p:cNvSpPr/>
          <p:nvPr/>
        </p:nvSpPr>
        <p:spPr>
          <a:xfrm>
            <a:off x="548640" y="4572000"/>
            <a:ext cx="11094415" cy="1371600"/>
          </a:xfrm>
          <a:prstGeom prst="roundRect">
            <a:avLst>
              <a:gd name="adj" fmla="val 8000"/>
            </a:avLst>
          </a:prstGeom>
          <a:solidFill>
            <a:schemeClr val="bg2"/>
          </a:solidFill>
          <a:ln w="9525">
            <a:solidFill>
              <a:schemeClr val="accent6"/>
            </a:solidFill>
            <a:prstDash val="solid"/>
          </a:ln>
        </p:spPr>
      </p:sp>
      <p:sp>
        <p:nvSpPr>
          <p:cNvPr id="16" name="chip"/>
          <p:cNvSpPr/>
          <p:nvPr/>
        </p:nvSpPr>
        <p:spPr>
          <a:xfrm>
            <a:off x="822960" y="4800600"/>
            <a:ext cx="1920240" cy="310896"/>
          </a:xfrm>
          <a:prstGeom prst="roundRect">
            <a:avLst>
              <a:gd name="adj" fmla="val 50000"/>
            </a:avLst>
          </a:prstGeom>
          <a:solidFill>
            <a:schemeClr val="accent3">
              <a:alpha val="15000"/>
            </a:schemeClr>
          </a:solidFill>
          <a:ln w="9525">
            <a:solidFill>
              <a:schemeClr val="accent3"/>
            </a:solidFill>
            <a:prstDash val="solid"/>
          </a:ln>
        </p:spPr>
      </p:sp>
      <p:sp>
        <p:nvSpPr>
          <p:cNvPr id="17" name="Text 15"/>
          <p:cNvSpPr txBox="1"/>
          <p:nvPr/>
        </p:nvSpPr>
        <p:spPr>
          <a:xfrm>
            <a:off x="822960" y="4800600"/>
            <a:ext cx="1920240" cy="310896"/>
          </a:xfrm>
          <a:prstGeom prst="rect">
            <a:avLst/>
          </a:prstGeom>
          <a:noFill/>
          <a:ln/>
        </p:spPr>
        <p:txBody>
          <a:bodyPr wrap="square" lIns="0" tIns="0" rIns="0" bIns="0" rtlCol="0" anchor="ctr"/>
          <a:lstStyle/>
          <a:p>
            <a:pPr marL="0" indent="0" algn="ctr">
              <a:buNone/>
            </a:pPr>
            <a:r>
              <a:rPr lang="en-US" sz="1200" b="1" dirty="0">
                <a:solidFill>
                  <a:schemeClr val="accent3"/>
                </a:solidFill>
              </a:rPr>
              <a:t>Fuera del alcance</a:t>
            </a:r>
            <a:endParaRPr lang="en-US" sz="1200" dirty="0"/>
          </a:p>
        </p:txBody>
      </p:sp>
      <p:sp>
        <p:nvSpPr>
          <p:cNvPr id="18" name="Text 16"/>
          <p:cNvSpPr txBox="1"/>
          <p:nvPr/>
        </p:nvSpPr>
        <p:spPr>
          <a:xfrm>
            <a:off x="2926080" y="4754880"/>
            <a:ext cx="8412480" cy="411480"/>
          </a:xfrm>
          <a:prstGeom prst="rect">
            <a:avLst/>
          </a:prstGeom>
          <a:noFill/>
          <a:ln/>
        </p:spPr>
        <p:txBody>
          <a:bodyPr wrap="square" lIns="0" tIns="0" rIns="0" bIns="0" rtlCol="0" anchor="ctr"/>
          <a:lstStyle/>
          <a:p>
            <a:pPr marL="0" indent="0">
              <a:buNone/>
            </a:pPr>
            <a:r>
              <a:rPr lang="en-US" sz="1500" dirty="0">
                <a:solidFill>
                  <a:schemeClr val="tx1"/>
                </a:solidFill>
              </a:rPr>
              <a:t>RNF-06 (disponibilidad, deseable): solo se mide con la plataforma desplegada durante un mes.</a:t>
            </a:r>
            <a:endParaRPr lang="en-US" sz="1500" dirty="0"/>
          </a:p>
        </p:txBody>
      </p:sp>
      <p:sp>
        <p:nvSpPr>
          <p:cNvPr id="19" name="chip"/>
          <p:cNvSpPr/>
          <p:nvPr/>
        </p:nvSpPr>
        <p:spPr>
          <a:xfrm>
            <a:off x="822960" y="5349240"/>
            <a:ext cx="1920240" cy="310896"/>
          </a:xfrm>
          <a:prstGeom prst="roundRect">
            <a:avLst>
              <a:gd name="adj" fmla="val 50000"/>
            </a:avLst>
          </a:prstGeom>
          <a:solidFill>
            <a:schemeClr val="accent2">
              <a:alpha val="15000"/>
            </a:schemeClr>
          </a:solidFill>
          <a:ln w="9525">
            <a:solidFill>
              <a:schemeClr val="accent2"/>
            </a:solidFill>
            <a:prstDash val="solid"/>
          </a:ln>
        </p:spPr>
      </p:sp>
      <p:sp>
        <p:nvSpPr>
          <p:cNvPr id="20" name="Text 18"/>
          <p:cNvSpPr txBox="1"/>
          <p:nvPr/>
        </p:nvSpPr>
        <p:spPr>
          <a:xfrm>
            <a:off x="822960" y="5349240"/>
            <a:ext cx="1920240" cy="310896"/>
          </a:xfrm>
          <a:prstGeom prst="rect">
            <a:avLst/>
          </a:prstGeom>
          <a:noFill/>
          <a:ln/>
        </p:spPr>
        <p:txBody>
          <a:bodyPr wrap="square" lIns="0" tIns="0" rIns="0" bIns="0" rtlCol="0" anchor="ctr"/>
          <a:lstStyle/>
          <a:p>
            <a:pPr marL="0" indent="0" algn="ctr">
              <a:buNone/>
            </a:pPr>
            <a:r>
              <a:rPr lang="en-US" sz="1200" b="1" dirty="0">
                <a:solidFill>
                  <a:schemeClr val="accent2"/>
                </a:solidFill>
              </a:rPr>
              <a:t>Pendiente</a:t>
            </a:r>
            <a:endParaRPr lang="en-US" sz="1200" dirty="0"/>
          </a:p>
        </p:txBody>
      </p:sp>
      <p:sp>
        <p:nvSpPr>
          <p:cNvPr id="21" name="Text 19"/>
          <p:cNvSpPr txBox="1"/>
          <p:nvPr/>
        </p:nvSpPr>
        <p:spPr>
          <a:xfrm>
            <a:off x="2926080" y="5303520"/>
            <a:ext cx="8412480" cy="411480"/>
          </a:xfrm>
          <a:prstGeom prst="rect">
            <a:avLst/>
          </a:prstGeom>
          <a:noFill/>
          <a:ln/>
        </p:spPr>
        <p:txBody>
          <a:bodyPr wrap="square" lIns="0" tIns="0" rIns="0" bIns="0" rtlCol="0" anchor="ctr"/>
          <a:lstStyle/>
          <a:p>
            <a:pPr marL="0" indent="0">
              <a:buNone/>
            </a:pPr>
            <a:r>
              <a:rPr lang="en-US" sz="1500" dirty="0">
                <a:solidFill>
                  <a:schemeClr val="tx1"/>
                </a:solidFill>
              </a:rPr>
              <a:t>Validación con estudiantes: todavía ningún estudiante externo al equipo ha usado la aplicación.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Requerimientos por prioridad MoSCoW</a:t>
            </a:r>
            <a:endParaRPr lang="en-US" sz="3200" dirty="0"/>
          </a:p>
        </p:txBody>
      </p:sp>
      <p:sp>
        <p:nvSpPr>
          <p:cNvPr id="3" name="Text 1"/>
          <p:cNvSpPr txBox="1"/>
          <p:nvPr/>
        </p:nvSpPr>
        <p:spPr>
          <a:xfrm>
            <a:off x="548640" y="1463040"/>
            <a:ext cx="2560320" cy="365760"/>
          </a:xfrm>
          <a:prstGeom prst="rect">
            <a:avLst/>
          </a:prstGeom>
          <a:noFill/>
          <a:ln/>
        </p:spPr>
        <p:txBody>
          <a:bodyPr wrap="square" lIns="0" tIns="0" rIns="0" bIns="0" rtlCol="0" anchor="ctr"/>
          <a:lstStyle/>
          <a:p>
            <a:pPr marL="0" indent="0">
              <a:buNone/>
            </a:pPr>
            <a:r>
              <a:rPr lang="en-US" sz="2000" b="1" dirty="0">
                <a:solidFill>
                  <a:schemeClr val="tx1"/>
                </a:solidFill>
              </a:rPr>
              <a:t>Obligatorio</a:t>
            </a:r>
            <a:endParaRPr lang="en-US" sz="2000" dirty="0"/>
          </a:p>
        </p:txBody>
      </p:sp>
      <p:sp>
        <p:nvSpPr>
          <p:cNvPr id="4" name="Text 2"/>
          <p:cNvSpPr txBox="1"/>
          <p:nvPr/>
        </p:nvSpPr>
        <p:spPr>
          <a:xfrm>
            <a:off x="548640" y="1847088"/>
            <a:ext cx="2560320" cy="320040"/>
          </a:xfrm>
          <a:prstGeom prst="rect">
            <a:avLst/>
          </a:prstGeom>
          <a:noFill/>
          <a:ln/>
        </p:spPr>
        <p:txBody>
          <a:bodyPr wrap="square" lIns="0" tIns="0" rIns="0" bIns="0" rtlCol="0" anchor="ctr"/>
          <a:lstStyle/>
          <a:p>
            <a:pPr marL="0" indent="0">
              <a:buNone/>
            </a:pPr>
            <a:r>
              <a:rPr lang="en-US" sz="1300" dirty="0">
                <a:solidFill>
                  <a:schemeClr val="tx2"/>
                </a:solidFill>
              </a:rPr>
              <a:t>Must have · alcance del MVP</a:t>
            </a:r>
            <a:endParaRPr lang="en-US" sz="1300" dirty="0"/>
          </a:p>
        </p:txBody>
      </p:sp>
      <p:sp>
        <p:nvSpPr>
          <p:cNvPr id="5" name="req"/>
          <p:cNvSpPr/>
          <p:nvPr/>
        </p:nvSpPr>
        <p:spPr>
          <a:xfrm>
            <a:off x="3291840" y="1463040"/>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6" name="Text 4"/>
          <p:cNvSpPr txBox="1"/>
          <p:nvPr/>
        </p:nvSpPr>
        <p:spPr>
          <a:xfrm>
            <a:off x="3291840" y="1463040"/>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RF-01</a:t>
            </a:r>
            <a:endParaRPr lang="en-US" sz="1500" dirty="0"/>
          </a:p>
        </p:txBody>
      </p:sp>
      <p:sp>
        <p:nvSpPr>
          <p:cNvPr id="7" name="req"/>
          <p:cNvSpPr/>
          <p:nvPr/>
        </p:nvSpPr>
        <p:spPr>
          <a:xfrm>
            <a:off x="4663440" y="1463040"/>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8" name="Text 6"/>
          <p:cNvSpPr txBox="1"/>
          <p:nvPr/>
        </p:nvSpPr>
        <p:spPr>
          <a:xfrm>
            <a:off x="4663440" y="1463040"/>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RF-02</a:t>
            </a:r>
            <a:endParaRPr lang="en-US" sz="1500" dirty="0"/>
          </a:p>
        </p:txBody>
      </p:sp>
      <p:sp>
        <p:nvSpPr>
          <p:cNvPr id="9" name="req"/>
          <p:cNvSpPr/>
          <p:nvPr/>
        </p:nvSpPr>
        <p:spPr>
          <a:xfrm>
            <a:off x="6035040" y="1463040"/>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10" name="Text 8"/>
          <p:cNvSpPr txBox="1"/>
          <p:nvPr/>
        </p:nvSpPr>
        <p:spPr>
          <a:xfrm>
            <a:off x="6035040" y="1463040"/>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RF-03</a:t>
            </a:r>
            <a:endParaRPr lang="en-US" sz="1500" dirty="0"/>
          </a:p>
        </p:txBody>
      </p:sp>
      <p:sp>
        <p:nvSpPr>
          <p:cNvPr id="11" name="req"/>
          <p:cNvSpPr/>
          <p:nvPr/>
        </p:nvSpPr>
        <p:spPr>
          <a:xfrm>
            <a:off x="7406640" y="1463040"/>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12" name="Text 10"/>
          <p:cNvSpPr txBox="1"/>
          <p:nvPr/>
        </p:nvSpPr>
        <p:spPr>
          <a:xfrm>
            <a:off x="7406640" y="1463040"/>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RF-05</a:t>
            </a:r>
            <a:endParaRPr lang="en-US" sz="1500" dirty="0"/>
          </a:p>
        </p:txBody>
      </p:sp>
      <p:sp>
        <p:nvSpPr>
          <p:cNvPr id="13" name="req"/>
          <p:cNvSpPr/>
          <p:nvPr/>
        </p:nvSpPr>
        <p:spPr>
          <a:xfrm>
            <a:off x="8778240" y="1463040"/>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14" name="Text 12"/>
          <p:cNvSpPr txBox="1"/>
          <p:nvPr/>
        </p:nvSpPr>
        <p:spPr>
          <a:xfrm>
            <a:off x="8778240" y="1463040"/>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RF-08</a:t>
            </a:r>
            <a:endParaRPr lang="en-US" sz="1500" dirty="0"/>
          </a:p>
        </p:txBody>
      </p:sp>
      <p:sp>
        <p:nvSpPr>
          <p:cNvPr id="15" name="req"/>
          <p:cNvSpPr/>
          <p:nvPr/>
        </p:nvSpPr>
        <p:spPr>
          <a:xfrm>
            <a:off x="10149840" y="1463040"/>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16" name="Text 14"/>
          <p:cNvSpPr txBox="1"/>
          <p:nvPr/>
        </p:nvSpPr>
        <p:spPr>
          <a:xfrm>
            <a:off x="10149840" y="1463040"/>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RF-09</a:t>
            </a:r>
            <a:endParaRPr lang="en-US" sz="1500" dirty="0"/>
          </a:p>
        </p:txBody>
      </p:sp>
      <p:sp>
        <p:nvSpPr>
          <p:cNvPr id="17" name="req"/>
          <p:cNvSpPr/>
          <p:nvPr/>
        </p:nvSpPr>
        <p:spPr>
          <a:xfrm>
            <a:off x="3291840" y="2029968"/>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18" name="Text 16"/>
          <p:cNvSpPr txBox="1"/>
          <p:nvPr/>
        </p:nvSpPr>
        <p:spPr>
          <a:xfrm>
            <a:off x="3291840" y="2029968"/>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RF-10</a:t>
            </a:r>
            <a:endParaRPr lang="en-US" sz="1500" dirty="0"/>
          </a:p>
        </p:txBody>
      </p:sp>
      <p:sp>
        <p:nvSpPr>
          <p:cNvPr id="19" name="req"/>
          <p:cNvSpPr/>
          <p:nvPr/>
        </p:nvSpPr>
        <p:spPr>
          <a:xfrm>
            <a:off x="4663440" y="2029968"/>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20" name="Text 18"/>
          <p:cNvSpPr txBox="1"/>
          <p:nvPr/>
        </p:nvSpPr>
        <p:spPr>
          <a:xfrm>
            <a:off x="4663440" y="2029968"/>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RF-12</a:t>
            </a:r>
            <a:endParaRPr lang="en-US" sz="1500" dirty="0"/>
          </a:p>
        </p:txBody>
      </p:sp>
      <p:sp>
        <p:nvSpPr>
          <p:cNvPr id="21" name="req"/>
          <p:cNvSpPr/>
          <p:nvPr/>
        </p:nvSpPr>
        <p:spPr>
          <a:xfrm>
            <a:off x="6035040" y="2029968"/>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22" name="Text 20"/>
          <p:cNvSpPr txBox="1"/>
          <p:nvPr/>
        </p:nvSpPr>
        <p:spPr>
          <a:xfrm>
            <a:off x="6035040" y="2029968"/>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RNF-04</a:t>
            </a:r>
            <a:endParaRPr lang="en-US" sz="1500" dirty="0"/>
          </a:p>
        </p:txBody>
      </p:sp>
      <p:sp>
        <p:nvSpPr>
          <p:cNvPr id="23" name="req"/>
          <p:cNvSpPr/>
          <p:nvPr/>
        </p:nvSpPr>
        <p:spPr>
          <a:xfrm>
            <a:off x="7406640" y="2029968"/>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24" name="Text 22"/>
          <p:cNvSpPr txBox="1"/>
          <p:nvPr/>
        </p:nvSpPr>
        <p:spPr>
          <a:xfrm>
            <a:off x="7406640" y="2029968"/>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RNF-07</a:t>
            </a:r>
            <a:endParaRPr lang="en-US" sz="1500" dirty="0"/>
          </a:p>
        </p:txBody>
      </p:sp>
      <p:sp>
        <p:nvSpPr>
          <p:cNvPr id="25" name="Text 23"/>
          <p:cNvSpPr txBox="1"/>
          <p:nvPr/>
        </p:nvSpPr>
        <p:spPr>
          <a:xfrm>
            <a:off x="548640" y="3008376"/>
            <a:ext cx="2560320" cy="365760"/>
          </a:xfrm>
          <a:prstGeom prst="rect">
            <a:avLst/>
          </a:prstGeom>
          <a:noFill/>
          <a:ln/>
        </p:spPr>
        <p:txBody>
          <a:bodyPr wrap="square" lIns="0" tIns="0" rIns="0" bIns="0" rtlCol="0" anchor="ctr"/>
          <a:lstStyle/>
          <a:p>
            <a:pPr marL="0" indent="0">
              <a:buNone/>
            </a:pPr>
            <a:r>
              <a:rPr lang="en-US" sz="2000" b="1" dirty="0">
                <a:solidFill>
                  <a:schemeClr val="tx1"/>
                </a:solidFill>
              </a:rPr>
              <a:t>Importante</a:t>
            </a:r>
            <a:endParaRPr lang="en-US" sz="2000" dirty="0"/>
          </a:p>
        </p:txBody>
      </p:sp>
      <p:sp>
        <p:nvSpPr>
          <p:cNvPr id="26" name="Text 24"/>
          <p:cNvSpPr txBox="1"/>
          <p:nvPr/>
        </p:nvSpPr>
        <p:spPr>
          <a:xfrm>
            <a:off x="548640" y="3392424"/>
            <a:ext cx="2560320" cy="320040"/>
          </a:xfrm>
          <a:prstGeom prst="rect">
            <a:avLst/>
          </a:prstGeom>
          <a:noFill/>
          <a:ln/>
        </p:spPr>
        <p:txBody>
          <a:bodyPr wrap="square" lIns="0" tIns="0" rIns="0" bIns="0" rtlCol="0" anchor="ctr"/>
          <a:lstStyle/>
          <a:p>
            <a:pPr marL="0" indent="0">
              <a:buNone/>
            </a:pPr>
            <a:r>
              <a:rPr lang="en-US" sz="1300" dirty="0">
                <a:solidFill>
                  <a:schemeClr val="tx2"/>
                </a:solidFill>
              </a:rPr>
              <a:t>Should have</a:t>
            </a:r>
            <a:endParaRPr lang="en-US" sz="1300" dirty="0"/>
          </a:p>
        </p:txBody>
      </p:sp>
      <p:sp>
        <p:nvSpPr>
          <p:cNvPr id="27" name="req"/>
          <p:cNvSpPr/>
          <p:nvPr/>
        </p:nvSpPr>
        <p:spPr>
          <a:xfrm>
            <a:off x="3291840" y="3008376"/>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28" name="Text 26"/>
          <p:cNvSpPr txBox="1"/>
          <p:nvPr/>
        </p:nvSpPr>
        <p:spPr>
          <a:xfrm>
            <a:off x="3291840" y="3008376"/>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RF-04</a:t>
            </a:r>
            <a:endParaRPr lang="en-US" sz="1500" dirty="0"/>
          </a:p>
        </p:txBody>
      </p:sp>
      <p:sp>
        <p:nvSpPr>
          <p:cNvPr id="29" name="req"/>
          <p:cNvSpPr/>
          <p:nvPr/>
        </p:nvSpPr>
        <p:spPr>
          <a:xfrm>
            <a:off x="4663440" y="3008376"/>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30" name="Text 28"/>
          <p:cNvSpPr txBox="1"/>
          <p:nvPr/>
        </p:nvSpPr>
        <p:spPr>
          <a:xfrm>
            <a:off x="4663440" y="3008376"/>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RF-06</a:t>
            </a:r>
            <a:endParaRPr lang="en-US" sz="1500" dirty="0"/>
          </a:p>
        </p:txBody>
      </p:sp>
      <p:sp>
        <p:nvSpPr>
          <p:cNvPr id="31" name="req"/>
          <p:cNvSpPr/>
          <p:nvPr/>
        </p:nvSpPr>
        <p:spPr>
          <a:xfrm>
            <a:off x="6035040" y="3008376"/>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32" name="Text 30"/>
          <p:cNvSpPr txBox="1"/>
          <p:nvPr/>
        </p:nvSpPr>
        <p:spPr>
          <a:xfrm>
            <a:off x="6035040" y="3008376"/>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RF-07</a:t>
            </a:r>
            <a:endParaRPr lang="en-US" sz="1500" dirty="0"/>
          </a:p>
        </p:txBody>
      </p:sp>
      <p:sp>
        <p:nvSpPr>
          <p:cNvPr id="33" name="req"/>
          <p:cNvSpPr/>
          <p:nvPr/>
        </p:nvSpPr>
        <p:spPr>
          <a:xfrm>
            <a:off x="7406640" y="3008376"/>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34" name="Text 32"/>
          <p:cNvSpPr txBox="1"/>
          <p:nvPr/>
        </p:nvSpPr>
        <p:spPr>
          <a:xfrm>
            <a:off x="7406640" y="3008376"/>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RF-11</a:t>
            </a:r>
            <a:endParaRPr lang="en-US" sz="1500" dirty="0"/>
          </a:p>
        </p:txBody>
      </p:sp>
      <p:sp>
        <p:nvSpPr>
          <p:cNvPr id="35" name="req"/>
          <p:cNvSpPr/>
          <p:nvPr/>
        </p:nvSpPr>
        <p:spPr>
          <a:xfrm>
            <a:off x="8778240" y="3008376"/>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36" name="Text 34"/>
          <p:cNvSpPr txBox="1"/>
          <p:nvPr/>
        </p:nvSpPr>
        <p:spPr>
          <a:xfrm>
            <a:off x="8778240" y="3008376"/>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RF-13</a:t>
            </a:r>
            <a:endParaRPr lang="en-US" sz="1500" dirty="0"/>
          </a:p>
        </p:txBody>
      </p:sp>
      <p:sp>
        <p:nvSpPr>
          <p:cNvPr id="37" name="req"/>
          <p:cNvSpPr/>
          <p:nvPr/>
        </p:nvSpPr>
        <p:spPr>
          <a:xfrm>
            <a:off x="10149840" y="3008376"/>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38" name="Text 36"/>
          <p:cNvSpPr txBox="1"/>
          <p:nvPr/>
        </p:nvSpPr>
        <p:spPr>
          <a:xfrm>
            <a:off x="10149840" y="3008376"/>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RNF-01</a:t>
            </a:r>
            <a:endParaRPr lang="en-US" sz="1500" dirty="0"/>
          </a:p>
        </p:txBody>
      </p:sp>
      <p:sp>
        <p:nvSpPr>
          <p:cNvPr id="39" name="req"/>
          <p:cNvSpPr/>
          <p:nvPr/>
        </p:nvSpPr>
        <p:spPr>
          <a:xfrm>
            <a:off x="3291840" y="3575304"/>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40" name="Text 38"/>
          <p:cNvSpPr txBox="1"/>
          <p:nvPr/>
        </p:nvSpPr>
        <p:spPr>
          <a:xfrm>
            <a:off x="3291840" y="3575304"/>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RNF-03</a:t>
            </a:r>
            <a:endParaRPr lang="en-US" sz="1500" dirty="0"/>
          </a:p>
        </p:txBody>
      </p:sp>
      <p:sp>
        <p:nvSpPr>
          <p:cNvPr id="41" name="req"/>
          <p:cNvSpPr/>
          <p:nvPr/>
        </p:nvSpPr>
        <p:spPr>
          <a:xfrm>
            <a:off x="4663440" y="3575304"/>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42" name="Text 40"/>
          <p:cNvSpPr txBox="1"/>
          <p:nvPr/>
        </p:nvSpPr>
        <p:spPr>
          <a:xfrm>
            <a:off x="4663440" y="3575304"/>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RNF-05</a:t>
            </a:r>
            <a:endParaRPr lang="en-US" sz="1500" dirty="0"/>
          </a:p>
        </p:txBody>
      </p:sp>
      <p:sp>
        <p:nvSpPr>
          <p:cNvPr id="43" name="Text 41"/>
          <p:cNvSpPr txBox="1"/>
          <p:nvPr/>
        </p:nvSpPr>
        <p:spPr>
          <a:xfrm>
            <a:off x="548640" y="4553712"/>
            <a:ext cx="2560320" cy="365760"/>
          </a:xfrm>
          <a:prstGeom prst="rect">
            <a:avLst/>
          </a:prstGeom>
          <a:noFill/>
          <a:ln/>
        </p:spPr>
        <p:txBody>
          <a:bodyPr wrap="square" lIns="0" tIns="0" rIns="0" bIns="0" rtlCol="0" anchor="ctr"/>
          <a:lstStyle/>
          <a:p>
            <a:pPr marL="0" indent="0">
              <a:buNone/>
            </a:pPr>
            <a:r>
              <a:rPr lang="en-US" sz="2000" b="1" dirty="0">
                <a:solidFill>
                  <a:schemeClr val="tx1"/>
                </a:solidFill>
              </a:rPr>
              <a:t>Deseable</a:t>
            </a:r>
            <a:endParaRPr lang="en-US" sz="2000" dirty="0"/>
          </a:p>
        </p:txBody>
      </p:sp>
      <p:sp>
        <p:nvSpPr>
          <p:cNvPr id="44" name="Text 42"/>
          <p:cNvSpPr txBox="1"/>
          <p:nvPr/>
        </p:nvSpPr>
        <p:spPr>
          <a:xfrm>
            <a:off x="548640" y="4937760"/>
            <a:ext cx="2560320" cy="320040"/>
          </a:xfrm>
          <a:prstGeom prst="rect">
            <a:avLst/>
          </a:prstGeom>
          <a:noFill/>
          <a:ln/>
        </p:spPr>
        <p:txBody>
          <a:bodyPr wrap="square" lIns="0" tIns="0" rIns="0" bIns="0" rtlCol="0" anchor="ctr"/>
          <a:lstStyle/>
          <a:p>
            <a:pPr marL="0" indent="0">
              <a:buNone/>
            </a:pPr>
            <a:r>
              <a:rPr lang="en-US" sz="1300" dirty="0">
                <a:solidFill>
                  <a:schemeClr val="tx2"/>
                </a:solidFill>
              </a:rPr>
              <a:t>Could have</a:t>
            </a:r>
            <a:endParaRPr lang="en-US" sz="1300" dirty="0"/>
          </a:p>
        </p:txBody>
      </p:sp>
      <p:sp>
        <p:nvSpPr>
          <p:cNvPr id="45" name="req"/>
          <p:cNvSpPr/>
          <p:nvPr/>
        </p:nvSpPr>
        <p:spPr>
          <a:xfrm>
            <a:off x="3291840" y="4553712"/>
            <a:ext cx="1234440" cy="457200"/>
          </a:xfrm>
          <a:prstGeom prst="roundRect">
            <a:avLst>
              <a:gd name="adj" fmla="val 16000"/>
            </a:avLst>
          </a:prstGeom>
          <a:solidFill>
            <a:schemeClr val="accent1">
              <a:alpha val="13000"/>
            </a:schemeClr>
          </a:solidFill>
          <a:ln w="6350">
            <a:solidFill>
              <a:schemeClr val="accent1"/>
            </a:solidFill>
            <a:prstDash val="solid"/>
          </a:ln>
        </p:spPr>
      </p:sp>
      <p:sp>
        <p:nvSpPr>
          <p:cNvPr id="46" name="Text 44"/>
          <p:cNvSpPr txBox="1"/>
          <p:nvPr/>
        </p:nvSpPr>
        <p:spPr>
          <a:xfrm>
            <a:off x="3291840" y="4553712"/>
            <a:ext cx="1234440" cy="457200"/>
          </a:xfrm>
          <a:prstGeom prst="rect">
            <a:avLst/>
          </a:prstGeom>
          <a:noFill/>
          <a:ln/>
        </p:spPr>
        <p:txBody>
          <a:bodyPr wrap="square" lIns="0" tIns="0" rIns="0" bIns="0" rtlCol="0" anchor="ctr"/>
          <a:lstStyle/>
          <a:p>
            <a:pPr marL="0" indent="0" algn="ctr">
              <a:buNone/>
            </a:pPr>
            <a:r>
              <a:rPr lang="en-US" sz="1500" b="1" dirty="0">
                <a:solidFill>
                  <a:schemeClr val="accent1"/>
                </a:solidFill>
                <a:latin typeface="Courier New" pitchFamily="34" charset="0"/>
                <a:ea typeface="Courier New" pitchFamily="34" charset="-122"/>
                <a:cs typeface="Courier New" pitchFamily="34" charset="-120"/>
              </a:rPr>
              <a:t>RNF-02</a:t>
            </a:r>
            <a:endParaRPr lang="en-US" sz="1500" dirty="0"/>
          </a:p>
        </p:txBody>
      </p:sp>
      <p:sp>
        <p:nvSpPr>
          <p:cNvPr id="47" name="req"/>
          <p:cNvSpPr/>
          <p:nvPr/>
        </p:nvSpPr>
        <p:spPr>
          <a:xfrm>
            <a:off x="4663440" y="4553712"/>
            <a:ext cx="1234440" cy="457200"/>
          </a:xfrm>
          <a:prstGeom prst="roundRect">
            <a:avLst>
              <a:gd name="adj" fmla="val 16000"/>
            </a:avLst>
          </a:prstGeom>
          <a:solidFill>
            <a:schemeClr val="accent3">
              <a:alpha val="13000"/>
            </a:schemeClr>
          </a:solidFill>
          <a:ln w="15875">
            <a:solidFill>
              <a:schemeClr val="accent3"/>
            </a:solidFill>
            <a:prstDash val="solid"/>
          </a:ln>
        </p:spPr>
      </p:sp>
      <p:sp>
        <p:nvSpPr>
          <p:cNvPr id="48" name="Text 46"/>
          <p:cNvSpPr txBox="1"/>
          <p:nvPr/>
        </p:nvSpPr>
        <p:spPr>
          <a:xfrm>
            <a:off x="4663440" y="4553712"/>
            <a:ext cx="1234440" cy="457200"/>
          </a:xfrm>
          <a:prstGeom prst="rect">
            <a:avLst/>
          </a:prstGeom>
          <a:noFill/>
          <a:ln/>
        </p:spPr>
        <p:txBody>
          <a:bodyPr wrap="square" lIns="0" tIns="0" rIns="0" bIns="0" rtlCol="0" anchor="ctr"/>
          <a:lstStyle/>
          <a:p>
            <a:pPr marL="0" indent="0" algn="ctr">
              <a:buNone/>
            </a:pPr>
            <a:r>
              <a:rPr lang="en-US" sz="1500" b="1" dirty="0">
                <a:solidFill>
                  <a:schemeClr val="accent3"/>
                </a:solidFill>
                <a:latin typeface="Courier New" pitchFamily="34" charset="0"/>
                <a:ea typeface="Courier New" pitchFamily="34" charset="-122"/>
                <a:cs typeface="Courier New" pitchFamily="34" charset="-120"/>
              </a:rPr>
              <a:t>RNF-06</a:t>
            </a:r>
            <a:endParaRPr lang="en-US" sz="1500" dirty="0"/>
          </a:p>
        </p:txBody>
      </p:sp>
      <p:sp>
        <p:nvSpPr>
          <p:cNvPr id="49" name="chip"/>
          <p:cNvSpPr/>
          <p:nvPr/>
        </p:nvSpPr>
        <p:spPr>
          <a:xfrm>
            <a:off x="3291840" y="5715000"/>
            <a:ext cx="1645920" cy="310896"/>
          </a:xfrm>
          <a:prstGeom prst="roundRect">
            <a:avLst>
              <a:gd name="adj" fmla="val 50000"/>
            </a:avLst>
          </a:prstGeom>
          <a:solidFill>
            <a:schemeClr val="accent1">
              <a:alpha val="15000"/>
            </a:schemeClr>
          </a:solidFill>
          <a:ln w="9525">
            <a:solidFill>
              <a:schemeClr val="accent1"/>
            </a:solidFill>
            <a:prstDash val="solid"/>
          </a:ln>
        </p:spPr>
      </p:sp>
      <p:sp>
        <p:nvSpPr>
          <p:cNvPr id="50" name="Text 48"/>
          <p:cNvSpPr txBox="1"/>
          <p:nvPr/>
        </p:nvSpPr>
        <p:spPr>
          <a:xfrm>
            <a:off x="3291840" y="5715000"/>
            <a:ext cx="1645920" cy="310896"/>
          </a:xfrm>
          <a:prstGeom prst="rect">
            <a:avLst/>
          </a:prstGeom>
          <a:noFill/>
          <a:ln/>
        </p:spPr>
        <p:txBody>
          <a:bodyPr wrap="square" lIns="0" tIns="0" rIns="0" bIns="0" rtlCol="0" anchor="ctr"/>
          <a:lstStyle/>
          <a:p>
            <a:pPr marL="0" indent="0" algn="ctr">
              <a:buNone/>
            </a:pPr>
            <a:r>
              <a:rPr lang="en-US" sz="1200" b="1" dirty="0">
                <a:solidFill>
                  <a:schemeClr val="accent1"/>
                </a:solidFill>
              </a:rPr>
              <a:t>Verificado</a:t>
            </a:r>
            <a:endParaRPr lang="en-US" sz="1200" dirty="0"/>
          </a:p>
        </p:txBody>
      </p:sp>
      <p:sp>
        <p:nvSpPr>
          <p:cNvPr id="51" name="chip"/>
          <p:cNvSpPr/>
          <p:nvPr/>
        </p:nvSpPr>
        <p:spPr>
          <a:xfrm>
            <a:off x="5120640" y="5715000"/>
            <a:ext cx="2103120" cy="310896"/>
          </a:xfrm>
          <a:prstGeom prst="roundRect">
            <a:avLst>
              <a:gd name="adj" fmla="val 50000"/>
            </a:avLst>
          </a:prstGeom>
          <a:solidFill>
            <a:schemeClr val="accent3">
              <a:alpha val="15000"/>
            </a:schemeClr>
          </a:solidFill>
          <a:ln w="9525">
            <a:solidFill>
              <a:schemeClr val="accent3"/>
            </a:solidFill>
            <a:prstDash val="solid"/>
          </a:ln>
        </p:spPr>
      </p:sp>
      <p:sp>
        <p:nvSpPr>
          <p:cNvPr id="52" name="Text 50"/>
          <p:cNvSpPr txBox="1"/>
          <p:nvPr/>
        </p:nvSpPr>
        <p:spPr>
          <a:xfrm>
            <a:off x="5120640" y="5715000"/>
            <a:ext cx="2103120" cy="310896"/>
          </a:xfrm>
          <a:prstGeom prst="rect">
            <a:avLst/>
          </a:prstGeom>
          <a:noFill/>
          <a:ln/>
        </p:spPr>
        <p:txBody>
          <a:bodyPr wrap="square" lIns="0" tIns="0" rIns="0" bIns="0" rtlCol="0" anchor="ctr"/>
          <a:lstStyle/>
          <a:p>
            <a:pPr marL="0" indent="0" algn="ctr">
              <a:buNone/>
            </a:pPr>
            <a:r>
              <a:rPr lang="en-US" sz="1200" b="1" dirty="0">
                <a:solidFill>
                  <a:schemeClr val="accent3"/>
                </a:solidFill>
              </a:rPr>
              <a:t>Fuera del alcance del MVP</a:t>
            </a:r>
            <a:endParaRPr lang="en-US" sz="1200" dirty="0"/>
          </a:p>
        </p:txBody>
      </p:sp>
      <p:sp>
        <p:nvSpPr>
          <p:cNvPr id="53"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Entorno de prueba</a:t>
            </a:r>
            <a:endParaRPr lang="en-US" sz="3200" dirty="0"/>
          </a:p>
        </p:txBody>
      </p:sp>
      <p:sp>
        <p:nvSpPr>
          <p:cNvPr id="3" name="card"/>
          <p:cNvSpPr/>
          <p:nvPr/>
        </p:nvSpPr>
        <p:spPr>
          <a:xfrm>
            <a:off x="548640" y="1463040"/>
            <a:ext cx="5394960" cy="1371600"/>
          </a:xfrm>
          <a:prstGeom prst="roundRect">
            <a:avLst>
              <a:gd name="adj" fmla="val 8000"/>
            </a:avLst>
          </a:prstGeom>
          <a:solidFill>
            <a:schemeClr val="bg2"/>
          </a:solidFill>
          <a:ln w="9525">
            <a:solidFill>
              <a:schemeClr val="accent6"/>
            </a:solidFill>
            <a:prstDash val="solid"/>
          </a:ln>
        </p:spPr>
      </p:sp>
      <p:sp>
        <p:nvSpPr>
          <p:cNvPr id="4" name="icono"/>
          <p:cNvSpPr/>
          <p:nvPr/>
        </p:nvSpPr>
        <p:spPr>
          <a:xfrm>
            <a:off x="822960" y="1783080"/>
            <a:ext cx="731520" cy="731520"/>
          </a:xfrm>
          <a:prstGeom prst="ellipse">
            <a:avLst/>
          </a:prstGeom>
          <a:solidFill>
            <a:schemeClr val="tx1"/>
          </a:solidFill>
          <a:ln w="12700">
            <a:solidFill>
              <a:schemeClr val="tx1"/>
            </a:solidFill>
            <a:prstDash val="solid"/>
          </a:ln>
        </p:spPr>
      </p:sp>
      <p:sp>
        <p:nvSpPr>
          <p:cNvPr id="5" name="Text 3"/>
          <p:cNvSpPr txBox="1"/>
          <p:nvPr/>
        </p:nvSpPr>
        <p:spPr>
          <a:xfrm>
            <a:off x="822960" y="1783080"/>
            <a:ext cx="731520" cy="731520"/>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API</a:t>
            </a:r>
            <a:endParaRPr lang="en-US" sz="1300" dirty="0"/>
          </a:p>
        </p:txBody>
      </p:sp>
      <p:sp>
        <p:nvSpPr>
          <p:cNvPr id="6" name="Text 4"/>
          <p:cNvSpPr txBox="1"/>
          <p:nvPr/>
        </p:nvSpPr>
        <p:spPr>
          <a:xfrm>
            <a:off x="1783080" y="1645920"/>
            <a:ext cx="3931920" cy="365760"/>
          </a:xfrm>
          <a:prstGeom prst="rect">
            <a:avLst/>
          </a:prstGeom>
          <a:noFill/>
          <a:ln/>
        </p:spPr>
        <p:txBody>
          <a:bodyPr wrap="square" lIns="0" tIns="0" rIns="0" bIns="0" rtlCol="0" anchor="ctr"/>
          <a:lstStyle/>
          <a:p>
            <a:pPr marL="0" indent="0">
              <a:buNone/>
            </a:pPr>
            <a:r>
              <a:rPr lang="en-US" sz="1800" b="1" dirty="0">
                <a:solidFill>
                  <a:schemeClr val="tx1"/>
                </a:solidFill>
              </a:rPr>
              <a:t>Servidor</a:t>
            </a:r>
            <a:endParaRPr lang="en-US" sz="1800" dirty="0"/>
          </a:p>
        </p:txBody>
      </p:sp>
      <p:sp>
        <p:nvSpPr>
          <p:cNvPr id="7" name="Text 5"/>
          <p:cNvSpPr txBox="1"/>
          <p:nvPr/>
        </p:nvSpPr>
        <p:spPr>
          <a:xfrm>
            <a:off x="1783080" y="2029968"/>
            <a:ext cx="3931920" cy="685800"/>
          </a:xfrm>
          <a:prstGeom prst="rect">
            <a:avLst/>
          </a:prstGeom>
          <a:noFill/>
          <a:ln/>
        </p:spPr>
        <p:txBody>
          <a:bodyPr wrap="square" lIns="0" tIns="0" rIns="0" bIns="0" rtlCol="0" anchor="t"/>
          <a:lstStyle/>
          <a:p>
            <a:pPr marL="0" indent="0">
              <a:buNone/>
            </a:pPr>
            <a:r>
              <a:rPr lang="en-US" sz="1400" dirty="0">
                <a:solidFill>
                  <a:schemeClr val="tx2"/>
                </a:solidFill>
              </a:rPr>
              <a:t>Node.js 24 con Express, en el equipo local (puerto 4000)</a:t>
            </a:r>
            <a:endParaRPr lang="en-US" sz="1400" dirty="0"/>
          </a:p>
        </p:txBody>
      </p:sp>
      <p:sp>
        <p:nvSpPr>
          <p:cNvPr id="8" name="card"/>
          <p:cNvSpPr/>
          <p:nvPr/>
        </p:nvSpPr>
        <p:spPr>
          <a:xfrm>
            <a:off x="6172200" y="1463040"/>
            <a:ext cx="5394960" cy="1371600"/>
          </a:xfrm>
          <a:prstGeom prst="roundRect">
            <a:avLst>
              <a:gd name="adj" fmla="val 8000"/>
            </a:avLst>
          </a:prstGeom>
          <a:solidFill>
            <a:schemeClr val="bg2"/>
          </a:solidFill>
          <a:ln w="9525">
            <a:solidFill>
              <a:schemeClr val="accent6"/>
            </a:solidFill>
            <a:prstDash val="solid"/>
          </a:ln>
        </p:spPr>
      </p:sp>
      <p:sp>
        <p:nvSpPr>
          <p:cNvPr id="9" name="icono"/>
          <p:cNvSpPr/>
          <p:nvPr/>
        </p:nvSpPr>
        <p:spPr>
          <a:xfrm>
            <a:off x="6446520" y="1783080"/>
            <a:ext cx="731520" cy="731520"/>
          </a:xfrm>
          <a:prstGeom prst="ellipse">
            <a:avLst/>
          </a:prstGeom>
          <a:solidFill>
            <a:schemeClr val="tx1"/>
          </a:solidFill>
          <a:ln w="12700">
            <a:solidFill>
              <a:schemeClr val="tx1"/>
            </a:solidFill>
            <a:prstDash val="solid"/>
          </a:ln>
        </p:spPr>
      </p:sp>
      <p:sp>
        <p:nvSpPr>
          <p:cNvPr id="10" name="Text 8"/>
          <p:cNvSpPr txBox="1"/>
          <p:nvPr/>
        </p:nvSpPr>
        <p:spPr>
          <a:xfrm>
            <a:off x="6446520" y="1783080"/>
            <a:ext cx="731520" cy="731520"/>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BD</a:t>
            </a:r>
            <a:endParaRPr lang="en-US" sz="1300" dirty="0"/>
          </a:p>
        </p:txBody>
      </p:sp>
      <p:sp>
        <p:nvSpPr>
          <p:cNvPr id="11" name="Text 9"/>
          <p:cNvSpPr txBox="1"/>
          <p:nvPr/>
        </p:nvSpPr>
        <p:spPr>
          <a:xfrm>
            <a:off x="7406640" y="1645920"/>
            <a:ext cx="3931920" cy="365760"/>
          </a:xfrm>
          <a:prstGeom prst="rect">
            <a:avLst/>
          </a:prstGeom>
          <a:noFill/>
          <a:ln/>
        </p:spPr>
        <p:txBody>
          <a:bodyPr wrap="square" lIns="0" tIns="0" rIns="0" bIns="0" rtlCol="0" anchor="ctr"/>
          <a:lstStyle/>
          <a:p>
            <a:pPr marL="0" indent="0">
              <a:buNone/>
            </a:pPr>
            <a:r>
              <a:rPr lang="en-US" sz="1800" b="1" dirty="0">
                <a:solidFill>
                  <a:schemeClr val="tx1"/>
                </a:solidFill>
              </a:rPr>
              <a:t>Base de datos</a:t>
            </a:r>
            <a:endParaRPr lang="en-US" sz="1800" dirty="0"/>
          </a:p>
        </p:txBody>
      </p:sp>
      <p:sp>
        <p:nvSpPr>
          <p:cNvPr id="12" name="Text 10"/>
          <p:cNvSpPr txBox="1"/>
          <p:nvPr/>
        </p:nvSpPr>
        <p:spPr>
          <a:xfrm>
            <a:off x="7406640" y="2029968"/>
            <a:ext cx="3931920" cy="685800"/>
          </a:xfrm>
          <a:prstGeom prst="rect">
            <a:avLst/>
          </a:prstGeom>
          <a:noFill/>
          <a:ln/>
        </p:spPr>
        <p:txBody>
          <a:bodyPr wrap="square" lIns="0" tIns="0" rIns="0" bIns="0" rtlCol="0" anchor="t"/>
          <a:lstStyle/>
          <a:p>
            <a:pPr marL="0" indent="0">
              <a:buNone/>
            </a:pPr>
            <a:r>
              <a:rPr lang="en-US" sz="1400" dirty="0">
                <a:solidFill>
                  <a:schemeClr val="tx2"/>
                </a:solidFill>
              </a:rPr>
              <a:t>PostgreSQL 16 en un contenedor Docker</a:t>
            </a:r>
            <a:endParaRPr lang="en-US" sz="1400" dirty="0"/>
          </a:p>
        </p:txBody>
      </p:sp>
      <p:sp>
        <p:nvSpPr>
          <p:cNvPr id="13" name="card"/>
          <p:cNvSpPr/>
          <p:nvPr/>
        </p:nvSpPr>
        <p:spPr>
          <a:xfrm>
            <a:off x="548640" y="3063240"/>
            <a:ext cx="5394960" cy="1371600"/>
          </a:xfrm>
          <a:prstGeom prst="roundRect">
            <a:avLst>
              <a:gd name="adj" fmla="val 8000"/>
            </a:avLst>
          </a:prstGeom>
          <a:solidFill>
            <a:schemeClr val="bg2"/>
          </a:solidFill>
          <a:ln w="9525">
            <a:solidFill>
              <a:schemeClr val="accent6"/>
            </a:solidFill>
            <a:prstDash val="solid"/>
          </a:ln>
        </p:spPr>
      </p:sp>
      <p:sp>
        <p:nvSpPr>
          <p:cNvPr id="14" name="icono"/>
          <p:cNvSpPr/>
          <p:nvPr/>
        </p:nvSpPr>
        <p:spPr>
          <a:xfrm>
            <a:off x="822960" y="3383280"/>
            <a:ext cx="731520" cy="731520"/>
          </a:xfrm>
          <a:prstGeom prst="ellipse">
            <a:avLst/>
          </a:prstGeom>
          <a:solidFill>
            <a:schemeClr val="tx1"/>
          </a:solidFill>
          <a:ln w="12700">
            <a:solidFill>
              <a:schemeClr val="tx1"/>
            </a:solidFill>
            <a:prstDash val="solid"/>
          </a:ln>
        </p:spPr>
      </p:sp>
      <p:sp>
        <p:nvSpPr>
          <p:cNvPr id="15" name="Text 13"/>
          <p:cNvSpPr txBox="1"/>
          <p:nvPr/>
        </p:nvSpPr>
        <p:spPr>
          <a:xfrm>
            <a:off x="822960" y="3383280"/>
            <a:ext cx="731520" cy="731520"/>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APP</a:t>
            </a:r>
            <a:endParaRPr lang="en-US" sz="1300" dirty="0"/>
          </a:p>
        </p:txBody>
      </p:sp>
      <p:sp>
        <p:nvSpPr>
          <p:cNvPr id="16" name="Text 14"/>
          <p:cNvSpPr txBox="1"/>
          <p:nvPr/>
        </p:nvSpPr>
        <p:spPr>
          <a:xfrm>
            <a:off x="1783080" y="3246120"/>
            <a:ext cx="3931920" cy="365760"/>
          </a:xfrm>
          <a:prstGeom prst="rect">
            <a:avLst/>
          </a:prstGeom>
          <a:noFill/>
          <a:ln/>
        </p:spPr>
        <p:txBody>
          <a:bodyPr wrap="square" lIns="0" tIns="0" rIns="0" bIns="0" rtlCol="0" anchor="ctr"/>
          <a:lstStyle/>
          <a:p>
            <a:pPr marL="0" indent="0">
              <a:buNone/>
            </a:pPr>
            <a:r>
              <a:rPr lang="en-US" sz="1800" b="1" dirty="0">
                <a:solidFill>
                  <a:schemeClr val="tx1"/>
                </a:solidFill>
              </a:rPr>
              <a:t>Aplicación</a:t>
            </a:r>
            <a:endParaRPr lang="en-US" sz="1800" dirty="0"/>
          </a:p>
        </p:txBody>
      </p:sp>
      <p:sp>
        <p:nvSpPr>
          <p:cNvPr id="17" name="Text 15"/>
          <p:cNvSpPr txBox="1"/>
          <p:nvPr/>
        </p:nvSpPr>
        <p:spPr>
          <a:xfrm>
            <a:off x="1783080" y="3630168"/>
            <a:ext cx="3931920" cy="685800"/>
          </a:xfrm>
          <a:prstGeom prst="rect">
            <a:avLst/>
          </a:prstGeom>
          <a:noFill/>
          <a:ln/>
        </p:spPr>
        <p:txBody>
          <a:bodyPr wrap="square" lIns="0" tIns="0" rIns="0" bIns="0" rtlCol="0" anchor="t"/>
          <a:lstStyle/>
          <a:p>
            <a:pPr marL="0" indent="0">
              <a:buNone/>
            </a:pPr>
            <a:r>
              <a:rPr lang="en-US" sz="1400" dirty="0">
                <a:solidFill>
                  <a:schemeClr val="tx2"/>
                </a:solidFill>
              </a:rPr>
              <a:t>Flutter web en Google Chrome: escritorio (1920 px) y vista móvil (360 px)</a:t>
            </a:r>
            <a:endParaRPr lang="en-US" sz="1400" dirty="0"/>
          </a:p>
        </p:txBody>
      </p:sp>
      <p:sp>
        <p:nvSpPr>
          <p:cNvPr id="18" name="card"/>
          <p:cNvSpPr/>
          <p:nvPr/>
        </p:nvSpPr>
        <p:spPr>
          <a:xfrm>
            <a:off x="6172200" y="3063240"/>
            <a:ext cx="5394960" cy="1371600"/>
          </a:xfrm>
          <a:prstGeom prst="roundRect">
            <a:avLst>
              <a:gd name="adj" fmla="val 8000"/>
            </a:avLst>
          </a:prstGeom>
          <a:solidFill>
            <a:schemeClr val="bg2"/>
          </a:solidFill>
          <a:ln w="9525">
            <a:solidFill>
              <a:schemeClr val="accent6"/>
            </a:solidFill>
            <a:prstDash val="solid"/>
          </a:ln>
        </p:spPr>
      </p:sp>
      <p:sp>
        <p:nvSpPr>
          <p:cNvPr id="19" name="icono"/>
          <p:cNvSpPr/>
          <p:nvPr/>
        </p:nvSpPr>
        <p:spPr>
          <a:xfrm>
            <a:off x="6446520" y="3383280"/>
            <a:ext cx="731520" cy="731520"/>
          </a:xfrm>
          <a:prstGeom prst="ellipse">
            <a:avLst/>
          </a:prstGeom>
          <a:solidFill>
            <a:schemeClr val="tx1"/>
          </a:solidFill>
          <a:ln w="12700">
            <a:solidFill>
              <a:schemeClr val="tx1"/>
            </a:solidFill>
            <a:prstDash val="solid"/>
          </a:ln>
        </p:spPr>
      </p:sp>
      <p:sp>
        <p:nvSpPr>
          <p:cNvPr id="20" name="Text 18"/>
          <p:cNvSpPr txBox="1"/>
          <p:nvPr/>
        </p:nvSpPr>
        <p:spPr>
          <a:xfrm>
            <a:off x="6446520" y="3383280"/>
            <a:ext cx="731520" cy="731520"/>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CEL</a:t>
            </a:r>
            <a:endParaRPr lang="en-US" sz="1300" dirty="0"/>
          </a:p>
        </p:txBody>
      </p:sp>
      <p:sp>
        <p:nvSpPr>
          <p:cNvPr id="21" name="Text 19"/>
          <p:cNvSpPr txBox="1"/>
          <p:nvPr/>
        </p:nvSpPr>
        <p:spPr>
          <a:xfrm>
            <a:off x="7406640" y="3246120"/>
            <a:ext cx="3931920" cy="365760"/>
          </a:xfrm>
          <a:prstGeom prst="rect">
            <a:avLst/>
          </a:prstGeom>
          <a:noFill/>
          <a:ln/>
        </p:spPr>
        <p:txBody>
          <a:bodyPr wrap="square" lIns="0" tIns="0" rIns="0" bIns="0" rtlCol="0" anchor="ctr"/>
          <a:lstStyle/>
          <a:p>
            <a:pPr marL="0" indent="0">
              <a:buNone/>
            </a:pPr>
            <a:r>
              <a:rPr lang="en-US" sz="1800" b="1" dirty="0">
                <a:solidFill>
                  <a:schemeClr val="tx1"/>
                </a:solidFill>
              </a:rPr>
              <a:t>Celular real</a:t>
            </a:r>
            <a:endParaRPr lang="en-US" sz="1800" dirty="0"/>
          </a:p>
        </p:txBody>
      </p:sp>
      <p:sp>
        <p:nvSpPr>
          <p:cNvPr id="22" name="Text 20"/>
          <p:cNvSpPr txBox="1"/>
          <p:nvPr/>
        </p:nvSpPr>
        <p:spPr>
          <a:xfrm>
            <a:off x="7406640" y="3630168"/>
            <a:ext cx="3931920" cy="685800"/>
          </a:xfrm>
          <a:prstGeom prst="rect">
            <a:avLst/>
          </a:prstGeom>
          <a:noFill/>
          <a:ln/>
        </p:spPr>
        <p:txBody>
          <a:bodyPr wrap="square" lIns="0" tIns="0" rIns="0" bIns="0" rtlCol="0" anchor="t"/>
          <a:lstStyle/>
          <a:p>
            <a:pPr marL="0" indent="0">
              <a:buNone/>
            </a:pPr>
            <a:r>
              <a:rPr lang="en-US" sz="1400" dirty="0">
                <a:solidFill>
                  <a:schemeClr val="tx2"/>
                </a:solidFill>
              </a:rPr>
              <a:t>Samsung Galaxy A55 con Android 16 y Chrome, por Wi-Fi en la misma red</a:t>
            </a:r>
            <a:endParaRPr lang="en-US" sz="1400" dirty="0"/>
          </a:p>
        </p:txBody>
      </p:sp>
      <p:sp>
        <p:nvSpPr>
          <p:cNvPr id="23" name="Text 21"/>
          <p:cNvSpPr txBox="1"/>
          <p:nvPr/>
        </p:nvSpPr>
        <p:spPr>
          <a:xfrm>
            <a:off x="548640" y="4846320"/>
            <a:ext cx="11094415" cy="822960"/>
          </a:xfrm>
          <a:prstGeom prst="rect">
            <a:avLst/>
          </a:prstGeom>
          <a:noFill/>
          <a:ln/>
        </p:spPr>
        <p:txBody>
          <a:bodyPr wrap="square" lIns="0" tIns="0" rIns="0" bIns="0" rtlCol="0" anchor="t"/>
          <a:lstStyle/>
          <a:p>
            <a:pPr marL="0" indent="0">
              <a:buNone/>
            </a:pPr>
            <a:r>
              <a:rPr lang="en-US" sz="1500" b="1" dirty="0">
                <a:solidFill>
                  <a:schemeClr val="tx1"/>
                </a:solidFill>
              </a:rPr>
              <a:t>Datos de prueba: </a:t>
            </a:r>
            <a:r>
              <a:rPr lang="en-US" sz="1500" dirty="0">
                <a:solidFill>
                  <a:schemeClr val="tx1"/>
                </a:solidFill>
              </a:rPr>
              <a:t>7 asignaturas, 5 materiales en PDF y cuentas de administrador y estudiante (npm run datos-prueba). </a:t>
            </a:r>
            <a:r>
              <a:rPr lang="en-US" sz="1500" b="1" dirty="0">
                <a:solidFill>
                  <a:schemeClr val="tx1"/>
                </a:solidFill>
              </a:rPr>
              <a:t>Quién probó: </a:t>
            </a:r>
            <a:r>
              <a:rPr lang="en-US" sz="1500" dirty="0">
                <a:solidFill>
                  <a:schemeClr val="tx1"/>
                </a:solidFill>
              </a:rPr>
              <a:t>el equipo de desarrollo.</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Requerimientos funcionales: 13 de 13 verificados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94960" cy="914400"/>
        </p:xfrm>
        <a:graphic>
          <a:graphicData uri="http://schemas.openxmlformats.org/drawingml/2006/table">
            <a:tbl>
              <a:tblPr/>
              <a:tblGrid>
                <a:gridCol w="9144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75488">
                <a:tc>
                  <a:txBody>
                    <a:bodyPr/>
                    <a:lstStyle/>
                    <a:p>
                      <a:pPr marL="0" indent="0">
                        <a:buNone/>
                      </a:pPr>
                      <a:r>
                        <a:rPr lang="en-US" sz="1200" b="1" dirty="0">
                          <a:solidFill>
                            <a:schemeClr val="tx2"/>
                          </a:solidFill>
                        </a:rPr>
                        <a:t>ID</a:t>
                      </a:r>
                      <a:endParaRPr lang="en-US" sz="12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rPr>
                        <a:t>Requerimiento</a:t>
                      </a:r>
                      <a:endParaRPr lang="en-US" sz="12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rPr>
                        <a:t>Prioridad</a:t>
                      </a:r>
                      <a:endParaRPr lang="en-US" sz="12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75488">
                <a:tc>
                  <a:txBody>
                    <a:bodyP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RF-01</a:t>
                      </a:r>
                      <a:endParaRPr lang="en-US" sz="1400" dirty="0">
                        <a:latin typeface="Courier New" charset="0"/>
                        <a:ea typeface="Courier New" charset="0"/>
                        <a:cs typeface="Courier New" charset="0"/>
                      </a:endParaRPr>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dirty="0">
                          <a:solidFill>
                            <a:schemeClr val="tx1"/>
                          </a:solidFill>
                        </a:rPr>
                        <a:t>Registro de usuario</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b="1" dirty="0">
                          <a:solidFill>
                            <a:schemeClr val="accent1"/>
                          </a:solidFill>
                        </a:rPr>
                        <a:t>Obligatorio</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RF-02</a:t>
                      </a:r>
                      <a:endParaRPr lang="en-US" sz="1400" dirty="0">
                        <a:latin typeface="Courier New" charset="0"/>
                        <a:ea typeface="Courier New" charset="0"/>
                        <a:cs typeface="Courier New" charset="0"/>
                      </a:endParaRPr>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dirty="0">
                          <a:solidFill>
                            <a:schemeClr val="tx1"/>
                          </a:solidFill>
                        </a:rPr>
                        <a:t>Inicio y cierre de sesión</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b="1" dirty="0">
                          <a:solidFill>
                            <a:schemeClr val="accent1"/>
                          </a:solidFill>
                        </a:rPr>
                        <a:t>Obligatorio</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RF-03</a:t>
                      </a:r>
                      <a:endParaRPr lang="en-US" sz="1400" dirty="0">
                        <a:latin typeface="Courier New" charset="0"/>
                        <a:ea typeface="Courier New" charset="0"/>
                        <a:cs typeface="Courier New" charset="0"/>
                      </a:endParaRPr>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dirty="0">
                          <a:solidFill>
                            <a:schemeClr val="tx1"/>
                          </a:solidFill>
                        </a:rPr>
                        <a:t>Búsqueda por asignatura</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b="1" dirty="0">
                          <a:solidFill>
                            <a:schemeClr val="accent1"/>
                          </a:solidFill>
                        </a:rPr>
                        <a:t>Obligatorio</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RF-04</a:t>
                      </a:r>
                      <a:endParaRPr lang="en-US" sz="1400" dirty="0">
                        <a:latin typeface="Courier New" charset="0"/>
                        <a:ea typeface="Courier New" charset="0"/>
                        <a:cs typeface="Courier New" charset="0"/>
                      </a:endParaRPr>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dirty="0">
                          <a:solidFill>
                            <a:schemeClr val="tx1"/>
                          </a:solidFill>
                        </a:rPr>
                        <a:t>Filtro por semestre o tema</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dirty="0">
                          <a:solidFill>
                            <a:schemeClr val="tx2"/>
                          </a:solidFill>
                        </a:rPr>
                        <a:t>Importante</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RF-05</a:t>
                      </a:r>
                      <a:endParaRPr lang="en-US" sz="1400" dirty="0">
                        <a:latin typeface="Courier New" charset="0"/>
                        <a:ea typeface="Courier New" charset="0"/>
                        <a:cs typeface="Courier New" charset="0"/>
                      </a:endParaRPr>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dirty="0">
                          <a:solidFill>
                            <a:schemeClr val="tx1"/>
                          </a:solidFill>
                        </a:rPr>
                        <a:t>Visualización y descarga</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b="1" dirty="0">
                          <a:solidFill>
                            <a:schemeClr val="accent1"/>
                          </a:solidFill>
                        </a:rPr>
                        <a:t>Obligatorio</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RF-06</a:t>
                      </a:r>
                      <a:endParaRPr lang="en-US" sz="1400" dirty="0">
                        <a:latin typeface="Courier New" charset="0"/>
                        <a:ea typeface="Courier New" charset="0"/>
                        <a:cs typeface="Courier New" charset="0"/>
                      </a:endParaRPr>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dirty="0">
                          <a:solidFill>
                            <a:schemeClr val="tx1"/>
                          </a:solidFill>
                        </a:rPr>
                        <a:t>Carga de material</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dirty="0">
                          <a:solidFill>
                            <a:schemeClr val="tx2"/>
                          </a:solidFill>
                        </a:rPr>
                        <a:t>Importante</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extLst>
                  <a:ext uri="{0D108BD9-81ED-4DB2-BD59-A6C34878D82A}">
                    <a16:rowId xmlns:a16="http://schemas.microsoft.com/office/drawing/2014/main" val="10006"/>
                  </a:ext>
                </a:extLst>
              </a:tr>
              <a:tr h="475488">
                <a:tc>
                  <a:txBody>
                    <a:bodyP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RF-07</a:t>
                      </a:r>
                      <a:endParaRPr lang="en-US" sz="1400" dirty="0">
                        <a:latin typeface="Courier New" charset="0"/>
                        <a:ea typeface="Courier New" charset="0"/>
                        <a:cs typeface="Courier New" charset="0"/>
                      </a:endParaRPr>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dirty="0">
                          <a:solidFill>
                            <a:schemeClr val="tx1"/>
                          </a:solidFill>
                        </a:rPr>
                        <a:t>Carga anónima</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dirty="0">
                          <a:solidFill>
                            <a:schemeClr val="tx2"/>
                          </a:solidFill>
                        </a:rPr>
                        <a:t>Importante</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172200" y="1417320"/>
          <a:ext cx="5394960" cy="914400"/>
        </p:xfrm>
        <a:graphic>
          <a:graphicData uri="http://schemas.openxmlformats.org/drawingml/2006/table">
            <a:tbl>
              <a:tblPr/>
              <a:tblGrid>
                <a:gridCol w="9144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75488">
                <a:tc>
                  <a:txBody>
                    <a:bodyPr/>
                    <a:lstStyle/>
                    <a:p>
                      <a:pPr marL="0" indent="0">
                        <a:buNone/>
                      </a:pPr>
                      <a:r>
                        <a:rPr lang="en-US" sz="1200" b="1" dirty="0">
                          <a:solidFill>
                            <a:schemeClr val="tx2"/>
                          </a:solidFill>
                        </a:rPr>
                        <a:t>ID</a:t>
                      </a:r>
                      <a:endParaRPr lang="en-US" sz="12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rPr>
                        <a:t>Requerimiento</a:t>
                      </a:r>
                      <a:endParaRPr lang="en-US" sz="12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solidFill>
                      <a:schemeClr val="bg2"/>
                    </a:solidFill>
                  </a:tcPr>
                </a:tc>
                <a:tc>
                  <a:txBody>
                    <a:bodyPr/>
                    <a:lstStyle/>
                    <a:p>
                      <a:pPr marL="0" indent="0">
                        <a:buNone/>
                      </a:pPr>
                      <a:r>
                        <a:rPr lang="en-US" sz="1200" b="1" dirty="0">
                          <a:solidFill>
                            <a:schemeClr val="tx2"/>
                          </a:solidFill>
                        </a:rPr>
                        <a:t>Prioridad</a:t>
                      </a:r>
                      <a:endParaRPr lang="en-US" sz="12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75488">
                <a:tc>
                  <a:txBody>
                    <a:bodyP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RF-08</a:t>
                      </a:r>
                      <a:endParaRPr lang="en-US" sz="1400" dirty="0">
                        <a:latin typeface="Courier New" charset="0"/>
                        <a:ea typeface="Courier New" charset="0"/>
                        <a:cs typeface="Courier New" charset="0"/>
                      </a:endParaRPr>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dirty="0">
                          <a:solidFill>
                            <a:schemeClr val="tx1"/>
                          </a:solidFill>
                        </a:rPr>
                        <a:t>Valoración y comentarios</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b="1" dirty="0">
                          <a:solidFill>
                            <a:schemeClr val="accent1"/>
                          </a:solidFill>
                        </a:rPr>
                        <a:t>Obligatorio</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RF-09</a:t>
                      </a:r>
                      <a:endParaRPr lang="en-US" sz="1400" dirty="0">
                        <a:latin typeface="Courier New" charset="0"/>
                        <a:ea typeface="Courier New" charset="0"/>
                        <a:cs typeface="Courier New" charset="0"/>
                      </a:endParaRPr>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dirty="0">
                          <a:solidFill>
                            <a:schemeClr val="tx1"/>
                          </a:solidFill>
                        </a:rPr>
                        <a:t>Reporte de contenido</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b="1" dirty="0">
                          <a:solidFill>
                            <a:schemeClr val="accent1"/>
                          </a:solidFill>
                        </a:rPr>
                        <a:t>Obligatorio</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RF-10</a:t>
                      </a:r>
                      <a:endParaRPr lang="en-US" sz="1400" dirty="0">
                        <a:latin typeface="Courier New" charset="0"/>
                        <a:ea typeface="Courier New" charset="0"/>
                        <a:cs typeface="Courier New" charset="0"/>
                      </a:endParaRPr>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dirty="0">
                          <a:solidFill>
                            <a:schemeClr val="tx1"/>
                          </a:solidFill>
                        </a:rPr>
                        <a:t>Revisión de reportes</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b="1" dirty="0">
                          <a:solidFill>
                            <a:schemeClr val="accent1"/>
                          </a:solidFill>
                        </a:rPr>
                        <a:t>Obligatorio</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RF-11</a:t>
                      </a:r>
                      <a:endParaRPr lang="en-US" sz="1400" dirty="0">
                        <a:latin typeface="Courier New" charset="0"/>
                        <a:ea typeface="Courier New" charset="0"/>
                        <a:cs typeface="Courier New" charset="0"/>
                      </a:endParaRPr>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dirty="0">
                          <a:solidFill>
                            <a:schemeClr val="tx1"/>
                          </a:solidFill>
                        </a:rPr>
                        <a:t>Metadatos de vigencia</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dirty="0">
                          <a:solidFill>
                            <a:schemeClr val="tx2"/>
                          </a:solidFill>
                        </a:rPr>
                        <a:t>Importante</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RF-12</a:t>
                      </a:r>
                      <a:endParaRPr lang="en-US" sz="1400" dirty="0">
                        <a:latin typeface="Courier New" charset="0"/>
                        <a:ea typeface="Courier New" charset="0"/>
                        <a:cs typeface="Courier New" charset="0"/>
                      </a:endParaRPr>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dirty="0">
                          <a:solidFill>
                            <a:schemeClr val="tx1"/>
                          </a:solidFill>
                        </a:rPr>
                        <a:t>Gestión de material (admin)</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b="1" dirty="0">
                          <a:solidFill>
                            <a:schemeClr val="accent1"/>
                          </a:solidFill>
                        </a:rPr>
                        <a:t>Obligatorio</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RF-13</a:t>
                      </a:r>
                      <a:endParaRPr lang="en-US" sz="1400" dirty="0">
                        <a:latin typeface="Courier New" charset="0"/>
                        <a:ea typeface="Courier New" charset="0"/>
                        <a:cs typeface="Courier New" charset="0"/>
                      </a:endParaRPr>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dirty="0">
                          <a:solidFill>
                            <a:schemeClr val="tx1"/>
                          </a:solidFill>
                        </a:rPr>
                        <a:t>Gestión de usuarios y asignaturas</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marL="0" indent="0">
                        <a:buNone/>
                      </a:pPr>
                      <a:r>
                        <a:rPr lang="en-US" sz="1400" dirty="0">
                          <a:solidFill>
                            <a:schemeClr val="tx2"/>
                          </a:solidFill>
                        </a:rPr>
                        <a:t>Importante</a:t>
                      </a:r>
                      <a:endParaRPr lang="en-US" sz="1400" dirty="0"/>
                    </a:p>
                  </a:txBody>
                  <a:tcPr marT="0" marB="0"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card"/>
          <p:cNvSpPr/>
          <p:nvPr/>
        </p:nvSpPr>
        <p:spPr>
          <a:xfrm>
            <a:off x="6172200" y="4846320"/>
            <a:ext cx="5394960" cy="1005840"/>
          </a:xfrm>
          <a:prstGeom prst="roundRect">
            <a:avLst>
              <a:gd name="adj" fmla="val 10909"/>
            </a:avLst>
          </a:prstGeom>
          <a:solidFill>
            <a:schemeClr val="bg2"/>
          </a:solidFill>
          <a:ln w="9525">
            <a:solidFill>
              <a:schemeClr val="accent6"/>
            </a:solidFill>
            <a:prstDash val="solid"/>
          </a:ln>
        </p:spPr>
      </p:sp>
      <p:sp>
        <p:nvSpPr>
          <p:cNvPr id="6" name="Text 2"/>
          <p:cNvSpPr txBox="1"/>
          <p:nvPr/>
        </p:nvSpPr>
        <p:spPr>
          <a:xfrm>
            <a:off x="6400800" y="4937760"/>
            <a:ext cx="4937760" cy="822960"/>
          </a:xfrm>
          <a:prstGeom prst="rect">
            <a:avLst/>
          </a:prstGeom>
          <a:noFill/>
          <a:ln/>
        </p:spPr>
        <p:txBody>
          <a:bodyPr wrap="square" lIns="0" tIns="0" rIns="0" bIns="0" rtlCol="0" anchor="ctr"/>
          <a:lstStyle/>
          <a:p>
            <a:pPr marL="0" indent="0">
              <a:buNone/>
            </a:pPr>
            <a:r>
              <a:rPr lang="en-US" sz="1400" dirty="0">
                <a:solidFill>
                  <a:schemeClr val="tx1"/>
                </a:solidFill>
              </a:rPr>
              <a:t>Cada requerimiento funcional tiene al menos una prueba automática y una figura del informe que lo respalda.</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Requerimientos no funcionales</a:t>
            </a:r>
            <a:endParaRPr lang="en-US" sz="3200" dirty="0"/>
          </a:p>
        </p:txBody>
      </p:sp>
      <p:sp>
        <p:nvSpPr>
          <p:cNvPr id="3" name="fila"/>
          <p:cNvSpPr/>
          <p:nvPr/>
        </p:nvSpPr>
        <p:spPr>
          <a:xfrm>
            <a:off x="548640" y="1371600"/>
            <a:ext cx="11094415" cy="640080"/>
          </a:xfrm>
          <a:prstGeom prst="rect">
            <a:avLst/>
          </a:prstGeom>
          <a:solidFill>
            <a:schemeClr val="bg2"/>
          </a:solidFill>
          <a:ln w="12700">
            <a:solidFill>
              <a:schemeClr val="bg2"/>
            </a:solidFill>
            <a:prstDash val="solid"/>
          </a:ln>
        </p:spPr>
      </p:sp>
      <p:sp>
        <p:nvSpPr>
          <p:cNvPr id="4" name="Text 2"/>
          <p:cNvSpPr txBox="1"/>
          <p:nvPr/>
        </p:nvSpPr>
        <p:spPr>
          <a:xfrm>
            <a:off x="731520" y="1536192"/>
            <a:ext cx="109728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RNF-01</a:t>
            </a:r>
            <a:endParaRPr lang="en-US" sz="1400" dirty="0"/>
          </a:p>
        </p:txBody>
      </p:sp>
      <p:sp>
        <p:nvSpPr>
          <p:cNvPr id="5" name="Text 3"/>
          <p:cNvSpPr txBox="1"/>
          <p:nvPr/>
        </p:nvSpPr>
        <p:spPr>
          <a:xfrm>
            <a:off x="1920240" y="1371600"/>
            <a:ext cx="2926080" cy="640080"/>
          </a:xfrm>
          <a:prstGeom prst="rect">
            <a:avLst/>
          </a:prstGeom>
          <a:noFill/>
          <a:ln/>
        </p:spPr>
        <p:txBody>
          <a:bodyPr wrap="square" lIns="0" tIns="0" rIns="0" bIns="0" rtlCol="0" anchor="ctr"/>
          <a:lstStyle/>
          <a:p>
            <a:pPr marL="0" indent="0">
              <a:buNone/>
            </a:pPr>
            <a:r>
              <a:rPr lang="en-US" sz="1500" b="1" dirty="0">
                <a:solidFill>
                  <a:schemeClr val="tx1"/>
                </a:solidFill>
              </a:rPr>
              <a:t>Usabilidad en la carga</a:t>
            </a:r>
            <a:endParaRPr lang="en-US" sz="1500" dirty="0"/>
          </a:p>
        </p:txBody>
      </p:sp>
      <p:sp>
        <p:nvSpPr>
          <p:cNvPr id="6" name="Text 4"/>
          <p:cNvSpPr txBox="1"/>
          <p:nvPr/>
        </p:nvSpPr>
        <p:spPr>
          <a:xfrm>
            <a:off x="4937760" y="1371600"/>
            <a:ext cx="5120640" cy="640080"/>
          </a:xfrm>
          <a:prstGeom prst="rect">
            <a:avLst/>
          </a:prstGeom>
          <a:noFill/>
          <a:ln/>
        </p:spPr>
        <p:txBody>
          <a:bodyPr wrap="square" lIns="0" tIns="0" rIns="0" bIns="0" rtlCol="0" anchor="ctr"/>
          <a:lstStyle/>
          <a:p>
            <a:pPr marL="0" indent="0">
              <a:buNone/>
            </a:pPr>
            <a:r>
              <a:rPr lang="en-US" sz="1300" dirty="0">
                <a:solidFill>
                  <a:schemeClr val="tx2"/>
                </a:solidFill>
              </a:rPr>
              <a:t>La carga se hace en 3 pasos; falta confirmarlo con estudiantes</a:t>
            </a:r>
            <a:endParaRPr lang="en-US" sz="1300" dirty="0"/>
          </a:p>
        </p:txBody>
      </p:sp>
      <p:sp>
        <p:nvSpPr>
          <p:cNvPr id="7" name="chip"/>
          <p:cNvSpPr/>
          <p:nvPr/>
        </p:nvSpPr>
        <p:spPr>
          <a:xfrm>
            <a:off x="9814255" y="1536192"/>
            <a:ext cx="1691640" cy="310896"/>
          </a:xfrm>
          <a:prstGeom prst="roundRect">
            <a:avLst>
              <a:gd name="adj" fmla="val 50000"/>
            </a:avLst>
          </a:prstGeom>
          <a:solidFill>
            <a:schemeClr val="accent1">
              <a:alpha val="15000"/>
            </a:schemeClr>
          </a:solidFill>
          <a:ln w="9525">
            <a:solidFill>
              <a:schemeClr val="accent1"/>
            </a:solidFill>
            <a:prstDash val="solid"/>
          </a:ln>
        </p:spPr>
      </p:sp>
      <p:sp>
        <p:nvSpPr>
          <p:cNvPr id="8" name="Text 6"/>
          <p:cNvSpPr txBox="1"/>
          <p:nvPr/>
        </p:nvSpPr>
        <p:spPr>
          <a:xfrm>
            <a:off x="9814255" y="1536192"/>
            <a:ext cx="1691640" cy="310896"/>
          </a:xfrm>
          <a:prstGeom prst="rect">
            <a:avLst/>
          </a:prstGeom>
          <a:noFill/>
          <a:ln/>
        </p:spPr>
        <p:txBody>
          <a:bodyPr wrap="square" lIns="0" tIns="0" rIns="0" bIns="0" rtlCol="0" anchor="ctr"/>
          <a:lstStyle/>
          <a:p>
            <a:pPr marL="0" indent="0" algn="ctr">
              <a:buNone/>
            </a:pPr>
            <a:r>
              <a:rPr lang="en-US" sz="1200" b="1" dirty="0">
                <a:solidFill>
                  <a:schemeClr val="accent1"/>
                </a:solidFill>
              </a:rPr>
              <a:t>Verificado</a:t>
            </a:r>
            <a:endParaRPr lang="en-US" sz="1200" dirty="0"/>
          </a:p>
        </p:txBody>
      </p:sp>
      <p:sp>
        <p:nvSpPr>
          <p:cNvPr id="9" name="Text 7"/>
          <p:cNvSpPr txBox="1"/>
          <p:nvPr/>
        </p:nvSpPr>
        <p:spPr>
          <a:xfrm>
            <a:off x="731520" y="2221992"/>
            <a:ext cx="109728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RNF-02</a:t>
            </a:r>
            <a:endParaRPr lang="en-US" sz="1400" dirty="0"/>
          </a:p>
        </p:txBody>
      </p:sp>
      <p:sp>
        <p:nvSpPr>
          <p:cNvPr id="10" name="Text 8"/>
          <p:cNvSpPr txBox="1"/>
          <p:nvPr/>
        </p:nvSpPr>
        <p:spPr>
          <a:xfrm>
            <a:off x="1920240" y="2057400"/>
            <a:ext cx="2926080" cy="640080"/>
          </a:xfrm>
          <a:prstGeom prst="rect">
            <a:avLst/>
          </a:prstGeom>
          <a:noFill/>
          <a:ln/>
        </p:spPr>
        <p:txBody>
          <a:bodyPr wrap="square" lIns="0" tIns="0" rIns="0" bIns="0" rtlCol="0" anchor="ctr"/>
          <a:lstStyle/>
          <a:p>
            <a:pPr marL="0" indent="0">
              <a:buNone/>
            </a:pPr>
            <a:r>
              <a:rPr lang="en-US" sz="1500" b="1" dirty="0">
                <a:solidFill>
                  <a:schemeClr val="tx1"/>
                </a:solidFill>
              </a:rPr>
              <a:t>Rendimiento de la búsqueda</a:t>
            </a:r>
            <a:endParaRPr lang="en-US" sz="1500" dirty="0"/>
          </a:p>
        </p:txBody>
      </p:sp>
      <p:sp>
        <p:nvSpPr>
          <p:cNvPr id="11" name="Text 9"/>
          <p:cNvSpPr txBox="1"/>
          <p:nvPr/>
        </p:nvSpPr>
        <p:spPr>
          <a:xfrm>
            <a:off x="4937760" y="2057400"/>
            <a:ext cx="5120640" cy="640080"/>
          </a:xfrm>
          <a:prstGeom prst="rect">
            <a:avLst/>
          </a:prstGeom>
          <a:noFill/>
          <a:ln/>
        </p:spPr>
        <p:txBody>
          <a:bodyPr wrap="square" lIns="0" tIns="0" rIns="0" bIns="0" rtlCol="0" anchor="ctr"/>
          <a:lstStyle/>
          <a:p>
            <a:pPr marL="0" indent="0">
              <a:buNone/>
            </a:pPr>
            <a:r>
              <a:rPr lang="en-US" sz="1300" dirty="0">
                <a:solidFill>
                  <a:schemeClr val="tx2"/>
                </a:solidFill>
              </a:rPr>
              <a:t>100 % de las búsquedas en menos de 3 s, con hasta 10.000 materiales</a:t>
            </a:r>
            <a:endParaRPr lang="en-US" sz="1300" dirty="0"/>
          </a:p>
        </p:txBody>
      </p:sp>
      <p:sp>
        <p:nvSpPr>
          <p:cNvPr id="12" name="chip"/>
          <p:cNvSpPr/>
          <p:nvPr/>
        </p:nvSpPr>
        <p:spPr>
          <a:xfrm>
            <a:off x="9814255" y="2221992"/>
            <a:ext cx="1691640" cy="310896"/>
          </a:xfrm>
          <a:prstGeom prst="roundRect">
            <a:avLst>
              <a:gd name="adj" fmla="val 50000"/>
            </a:avLst>
          </a:prstGeom>
          <a:solidFill>
            <a:schemeClr val="accent1">
              <a:alpha val="15000"/>
            </a:schemeClr>
          </a:solidFill>
          <a:ln w="9525">
            <a:solidFill>
              <a:schemeClr val="accent1"/>
            </a:solidFill>
            <a:prstDash val="solid"/>
          </a:ln>
        </p:spPr>
      </p:sp>
      <p:sp>
        <p:nvSpPr>
          <p:cNvPr id="13" name="Text 11"/>
          <p:cNvSpPr txBox="1"/>
          <p:nvPr/>
        </p:nvSpPr>
        <p:spPr>
          <a:xfrm>
            <a:off x="9814255" y="2221992"/>
            <a:ext cx="1691640" cy="310896"/>
          </a:xfrm>
          <a:prstGeom prst="rect">
            <a:avLst/>
          </a:prstGeom>
          <a:noFill/>
          <a:ln/>
        </p:spPr>
        <p:txBody>
          <a:bodyPr wrap="square" lIns="0" tIns="0" rIns="0" bIns="0" rtlCol="0" anchor="ctr"/>
          <a:lstStyle/>
          <a:p>
            <a:pPr marL="0" indent="0" algn="ctr">
              <a:buNone/>
            </a:pPr>
            <a:r>
              <a:rPr lang="en-US" sz="1200" b="1" dirty="0">
                <a:solidFill>
                  <a:schemeClr val="accent1"/>
                </a:solidFill>
              </a:rPr>
              <a:t>Verificado</a:t>
            </a:r>
            <a:endParaRPr lang="en-US" sz="1200" dirty="0"/>
          </a:p>
        </p:txBody>
      </p:sp>
      <p:sp>
        <p:nvSpPr>
          <p:cNvPr id="14" name="fila"/>
          <p:cNvSpPr/>
          <p:nvPr/>
        </p:nvSpPr>
        <p:spPr>
          <a:xfrm>
            <a:off x="548640" y="2743200"/>
            <a:ext cx="11094415" cy="640080"/>
          </a:xfrm>
          <a:prstGeom prst="rect">
            <a:avLst/>
          </a:prstGeom>
          <a:solidFill>
            <a:schemeClr val="bg2"/>
          </a:solidFill>
          <a:ln w="12700">
            <a:solidFill>
              <a:schemeClr val="bg2"/>
            </a:solidFill>
            <a:prstDash val="solid"/>
          </a:ln>
        </p:spPr>
      </p:sp>
      <p:sp>
        <p:nvSpPr>
          <p:cNvPr id="15" name="Text 13"/>
          <p:cNvSpPr txBox="1"/>
          <p:nvPr/>
        </p:nvSpPr>
        <p:spPr>
          <a:xfrm>
            <a:off x="731520" y="2907792"/>
            <a:ext cx="109728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RNF-03</a:t>
            </a:r>
            <a:endParaRPr lang="en-US" sz="1400" dirty="0"/>
          </a:p>
        </p:txBody>
      </p:sp>
      <p:sp>
        <p:nvSpPr>
          <p:cNvPr id="16" name="Text 14"/>
          <p:cNvSpPr txBox="1"/>
          <p:nvPr/>
        </p:nvSpPr>
        <p:spPr>
          <a:xfrm>
            <a:off x="1920240" y="2743200"/>
            <a:ext cx="2926080" cy="640080"/>
          </a:xfrm>
          <a:prstGeom prst="rect">
            <a:avLst/>
          </a:prstGeom>
          <a:noFill/>
          <a:ln/>
        </p:spPr>
        <p:txBody>
          <a:bodyPr wrap="square" lIns="0" tIns="0" rIns="0" bIns="0" rtlCol="0" anchor="ctr"/>
          <a:lstStyle/>
          <a:p>
            <a:pPr marL="0" indent="0">
              <a:buNone/>
            </a:pPr>
            <a:r>
              <a:rPr lang="en-US" sz="1500" b="1" dirty="0">
                <a:solidFill>
                  <a:schemeClr val="tx1"/>
                </a:solidFill>
              </a:rPr>
              <a:t>Compatibilidad móvil</a:t>
            </a:r>
            <a:endParaRPr lang="en-US" sz="1500" dirty="0"/>
          </a:p>
        </p:txBody>
      </p:sp>
      <p:sp>
        <p:nvSpPr>
          <p:cNvPr id="17" name="Text 15"/>
          <p:cNvSpPr txBox="1"/>
          <p:nvPr/>
        </p:nvSpPr>
        <p:spPr>
          <a:xfrm>
            <a:off x="4937760" y="2743200"/>
            <a:ext cx="5120640" cy="640080"/>
          </a:xfrm>
          <a:prstGeom prst="rect">
            <a:avLst/>
          </a:prstGeom>
          <a:noFill/>
          <a:ln/>
        </p:spPr>
        <p:txBody>
          <a:bodyPr wrap="square" lIns="0" tIns="0" rIns="0" bIns="0" rtlCol="0" anchor="ctr"/>
          <a:lstStyle/>
          <a:p>
            <a:pPr marL="0" indent="0">
              <a:buNone/>
            </a:pPr>
            <a:r>
              <a:rPr lang="en-US" sz="1300" dirty="0">
                <a:solidFill>
                  <a:schemeClr val="tx2"/>
                </a:solidFill>
              </a:rPr>
              <a:t>Todo funciona en un Galaxy A55 con Chrome, incluida la carga de un PDF</a:t>
            </a:r>
            <a:endParaRPr lang="en-US" sz="1300" dirty="0"/>
          </a:p>
        </p:txBody>
      </p:sp>
      <p:sp>
        <p:nvSpPr>
          <p:cNvPr id="18" name="chip"/>
          <p:cNvSpPr/>
          <p:nvPr/>
        </p:nvSpPr>
        <p:spPr>
          <a:xfrm>
            <a:off x="9814255" y="2907792"/>
            <a:ext cx="1691640" cy="310896"/>
          </a:xfrm>
          <a:prstGeom prst="roundRect">
            <a:avLst>
              <a:gd name="adj" fmla="val 50000"/>
            </a:avLst>
          </a:prstGeom>
          <a:solidFill>
            <a:schemeClr val="accent1">
              <a:alpha val="15000"/>
            </a:schemeClr>
          </a:solidFill>
          <a:ln w="9525">
            <a:solidFill>
              <a:schemeClr val="accent1"/>
            </a:solidFill>
            <a:prstDash val="solid"/>
          </a:ln>
        </p:spPr>
      </p:sp>
      <p:sp>
        <p:nvSpPr>
          <p:cNvPr id="19" name="Text 17"/>
          <p:cNvSpPr txBox="1"/>
          <p:nvPr/>
        </p:nvSpPr>
        <p:spPr>
          <a:xfrm>
            <a:off x="9814255" y="2907792"/>
            <a:ext cx="1691640" cy="310896"/>
          </a:xfrm>
          <a:prstGeom prst="rect">
            <a:avLst/>
          </a:prstGeom>
          <a:noFill/>
          <a:ln/>
        </p:spPr>
        <p:txBody>
          <a:bodyPr wrap="square" lIns="0" tIns="0" rIns="0" bIns="0" rtlCol="0" anchor="ctr"/>
          <a:lstStyle/>
          <a:p>
            <a:pPr marL="0" indent="0" algn="ctr">
              <a:buNone/>
            </a:pPr>
            <a:r>
              <a:rPr lang="en-US" sz="1200" b="1" dirty="0">
                <a:solidFill>
                  <a:schemeClr val="accent1"/>
                </a:solidFill>
              </a:rPr>
              <a:t>Verificado</a:t>
            </a:r>
            <a:endParaRPr lang="en-US" sz="1200" dirty="0"/>
          </a:p>
        </p:txBody>
      </p:sp>
      <p:sp>
        <p:nvSpPr>
          <p:cNvPr id="20" name="Text 18"/>
          <p:cNvSpPr txBox="1"/>
          <p:nvPr/>
        </p:nvSpPr>
        <p:spPr>
          <a:xfrm>
            <a:off x="731520" y="3593592"/>
            <a:ext cx="109728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RNF-04</a:t>
            </a:r>
            <a:endParaRPr lang="en-US" sz="1400" dirty="0"/>
          </a:p>
        </p:txBody>
      </p:sp>
      <p:sp>
        <p:nvSpPr>
          <p:cNvPr id="21" name="Text 19"/>
          <p:cNvSpPr txBox="1"/>
          <p:nvPr/>
        </p:nvSpPr>
        <p:spPr>
          <a:xfrm>
            <a:off x="1920240" y="3429000"/>
            <a:ext cx="2926080" cy="640080"/>
          </a:xfrm>
          <a:prstGeom prst="rect">
            <a:avLst/>
          </a:prstGeom>
          <a:noFill/>
          <a:ln/>
        </p:spPr>
        <p:txBody>
          <a:bodyPr wrap="square" lIns="0" tIns="0" rIns="0" bIns="0" rtlCol="0" anchor="ctr"/>
          <a:lstStyle/>
          <a:p>
            <a:pPr marL="0" indent="0">
              <a:buNone/>
            </a:pPr>
            <a:r>
              <a:rPr lang="en-US" sz="1500" b="1" dirty="0">
                <a:solidFill>
                  <a:schemeClr val="tx1"/>
                </a:solidFill>
              </a:rPr>
              <a:t>Seguridad de la información</a:t>
            </a:r>
            <a:endParaRPr lang="en-US" sz="1500" dirty="0"/>
          </a:p>
        </p:txBody>
      </p:sp>
      <p:sp>
        <p:nvSpPr>
          <p:cNvPr id="22" name="Text 20"/>
          <p:cNvSpPr txBox="1"/>
          <p:nvPr/>
        </p:nvSpPr>
        <p:spPr>
          <a:xfrm>
            <a:off x="4937760" y="3429000"/>
            <a:ext cx="5120640" cy="640080"/>
          </a:xfrm>
          <a:prstGeom prst="rect">
            <a:avLst/>
          </a:prstGeom>
          <a:noFill/>
          <a:ln/>
        </p:spPr>
        <p:txBody>
          <a:bodyPr wrap="square" lIns="0" tIns="0" rIns="0" bIns="0" rtlCol="0" anchor="ctr"/>
          <a:lstStyle/>
          <a:p>
            <a:pPr marL="0" indent="0">
              <a:buNone/>
            </a:pPr>
            <a:r>
              <a:rPr lang="en-US" sz="1300" dirty="0">
                <a:solidFill>
                  <a:schemeClr val="tx2"/>
                </a:solidFill>
              </a:rPr>
              <a:t>Un estudiante recibe 403 en la gestión; contraseñas cifradas con bcrypt</a:t>
            </a:r>
            <a:endParaRPr lang="en-US" sz="1300" dirty="0"/>
          </a:p>
        </p:txBody>
      </p:sp>
      <p:sp>
        <p:nvSpPr>
          <p:cNvPr id="23" name="chip"/>
          <p:cNvSpPr/>
          <p:nvPr/>
        </p:nvSpPr>
        <p:spPr>
          <a:xfrm>
            <a:off x="9814255" y="3593592"/>
            <a:ext cx="1691640" cy="310896"/>
          </a:xfrm>
          <a:prstGeom prst="roundRect">
            <a:avLst>
              <a:gd name="adj" fmla="val 50000"/>
            </a:avLst>
          </a:prstGeom>
          <a:solidFill>
            <a:schemeClr val="accent1">
              <a:alpha val="15000"/>
            </a:schemeClr>
          </a:solidFill>
          <a:ln w="9525">
            <a:solidFill>
              <a:schemeClr val="accent1"/>
            </a:solidFill>
            <a:prstDash val="solid"/>
          </a:ln>
        </p:spPr>
      </p:sp>
      <p:sp>
        <p:nvSpPr>
          <p:cNvPr id="24" name="Text 22"/>
          <p:cNvSpPr txBox="1"/>
          <p:nvPr/>
        </p:nvSpPr>
        <p:spPr>
          <a:xfrm>
            <a:off x="9814255" y="3593592"/>
            <a:ext cx="1691640" cy="310896"/>
          </a:xfrm>
          <a:prstGeom prst="rect">
            <a:avLst/>
          </a:prstGeom>
          <a:noFill/>
          <a:ln/>
        </p:spPr>
        <p:txBody>
          <a:bodyPr wrap="square" lIns="0" tIns="0" rIns="0" bIns="0" rtlCol="0" anchor="ctr"/>
          <a:lstStyle/>
          <a:p>
            <a:pPr marL="0" indent="0" algn="ctr">
              <a:buNone/>
            </a:pPr>
            <a:r>
              <a:rPr lang="en-US" sz="1200" b="1" dirty="0">
                <a:solidFill>
                  <a:schemeClr val="accent1"/>
                </a:solidFill>
              </a:rPr>
              <a:t>Verificado</a:t>
            </a:r>
            <a:endParaRPr lang="en-US" sz="1200" dirty="0"/>
          </a:p>
        </p:txBody>
      </p:sp>
      <p:sp>
        <p:nvSpPr>
          <p:cNvPr id="25" name="fila"/>
          <p:cNvSpPr/>
          <p:nvPr/>
        </p:nvSpPr>
        <p:spPr>
          <a:xfrm>
            <a:off x="548640" y="4114800"/>
            <a:ext cx="11094415" cy="640080"/>
          </a:xfrm>
          <a:prstGeom prst="rect">
            <a:avLst/>
          </a:prstGeom>
          <a:solidFill>
            <a:schemeClr val="bg2"/>
          </a:solidFill>
          <a:ln w="12700">
            <a:solidFill>
              <a:schemeClr val="bg2"/>
            </a:solidFill>
            <a:prstDash val="solid"/>
          </a:ln>
        </p:spPr>
      </p:sp>
      <p:sp>
        <p:nvSpPr>
          <p:cNvPr id="26" name="Text 24"/>
          <p:cNvSpPr txBox="1"/>
          <p:nvPr/>
        </p:nvSpPr>
        <p:spPr>
          <a:xfrm>
            <a:off x="731520" y="4279392"/>
            <a:ext cx="109728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RNF-05</a:t>
            </a:r>
            <a:endParaRPr lang="en-US" sz="1400" dirty="0"/>
          </a:p>
        </p:txBody>
      </p:sp>
      <p:sp>
        <p:nvSpPr>
          <p:cNvPr id="27" name="Text 25"/>
          <p:cNvSpPr txBox="1"/>
          <p:nvPr/>
        </p:nvSpPr>
        <p:spPr>
          <a:xfrm>
            <a:off x="1920240" y="4114800"/>
            <a:ext cx="2926080" cy="640080"/>
          </a:xfrm>
          <a:prstGeom prst="rect">
            <a:avLst/>
          </a:prstGeom>
          <a:noFill/>
          <a:ln/>
        </p:spPr>
        <p:txBody>
          <a:bodyPr wrap="square" lIns="0" tIns="0" rIns="0" bIns="0" rtlCol="0" anchor="ctr"/>
          <a:lstStyle/>
          <a:p>
            <a:pPr marL="0" indent="0">
              <a:buNone/>
            </a:pPr>
            <a:r>
              <a:rPr lang="en-US" sz="1500" b="1" dirty="0">
                <a:solidFill>
                  <a:schemeClr val="tx1"/>
                </a:solidFill>
              </a:rPr>
              <a:t>Confiabilidad y moderación</a:t>
            </a:r>
            <a:endParaRPr lang="en-US" sz="1500" dirty="0"/>
          </a:p>
        </p:txBody>
      </p:sp>
      <p:sp>
        <p:nvSpPr>
          <p:cNvPr id="28" name="Text 26"/>
          <p:cNvSpPr txBox="1"/>
          <p:nvPr/>
        </p:nvSpPr>
        <p:spPr>
          <a:xfrm>
            <a:off x="4937760" y="4114800"/>
            <a:ext cx="5120640" cy="640080"/>
          </a:xfrm>
          <a:prstGeom prst="rect">
            <a:avLst/>
          </a:prstGeom>
          <a:noFill/>
          <a:ln/>
        </p:spPr>
        <p:txBody>
          <a:bodyPr wrap="square" lIns="0" tIns="0" rIns="0" bIns="0" rtlCol="0" anchor="ctr"/>
          <a:lstStyle/>
          <a:p>
            <a:pPr marL="0" indent="0">
              <a:buNone/>
            </a:pPr>
            <a:r>
              <a:rPr lang="en-US" sz="1300" dirty="0">
                <a:solidFill>
                  <a:schemeClr val="tx2"/>
                </a:solidFill>
              </a:rPr>
              <a:t>Calificación promedio e indicador «En revisión» en cada material</a:t>
            </a:r>
            <a:endParaRPr lang="en-US" sz="1300" dirty="0"/>
          </a:p>
        </p:txBody>
      </p:sp>
      <p:sp>
        <p:nvSpPr>
          <p:cNvPr id="29" name="chip"/>
          <p:cNvSpPr/>
          <p:nvPr/>
        </p:nvSpPr>
        <p:spPr>
          <a:xfrm>
            <a:off x="9814255" y="4279392"/>
            <a:ext cx="1691640" cy="310896"/>
          </a:xfrm>
          <a:prstGeom prst="roundRect">
            <a:avLst>
              <a:gd name="adj" fmla="val 50000"/>
            </a:avLst>
          </a:prstGeom>
          <a:solidFill>
            <a:schemeClr val="accent1">
              <a:alpha val="15000"/>
            </a:schemeClr>
          </a:solidFill>
          <a:ln w="9525">
            <a:solidFill>
              <a:schemeClr val="accent1"/>
            </a:solidFill>
            <a:prstDash val="solid"/>
          </a:ln>
        </p:spPr>
      </p:sp>
      <p:sp>
        <p:nvSpPr>
          <p:cNvPr id="30" name="Text 28"/>
          <p:cNvSpPr txBox="1"/>
          <p:nvPr/>
        </p:nvSpPr>
        <p:spPr>
          <a:xfrm>
            <a:off x="9814255" y="4279392"/>
            <a:ext cx="1691640" cy="310896"/>
          </a:xfrm>
          <a:prstGeom prst="rect">
            <a:avLst/>
          </a:prstGeom>
          <a:noFill/>
          <a:ln/>
        </p:spPr>
        <p:txBody>
          <a:bodyPr wrap="square" lIns="0" tIns="0" rIns="0" bIns="0" rtlCol="0" anchor="ctr"/>
          <a:lstStyle/>
          <a:p>
            <a:pPr marL="0" indent="0" algn="ctr">
              <a:buNone/>
            </a:pPr>
            <a:r>
              <a:rPr lang="en-US" sz="1200" b="1" dirty="0">
                <a:solidFill>
                  <a:schemeClr val="accent1"/>
                </a:solidFill>
              </a:rPr>
              <a:t>Verificado</a:t>
            </a:r>
            <a:endParaRPr lang="en-US" sz="1200" dirty="0"/>
          </a:p>
        </p:txBody>
      </p:sp>
      <p:sp>
        <p:nvSpPr>
          <p:cNvPr id="31" name="Text 29"/>
          <p:cNvSpPr txBox="1"/>
          <p:nvPr/>
        </p:nvSpPr>
        <p:spPr>
          <a:xfrm>
            <a:off x="731520" y="4965192"/>
            <a:ext cx="109728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RNF-06</a:t>
            </a:r>
            <a:endParaRPr lang="en-US" sz="1400" dirty="0"/>
          </a:p>
        </p:txBody>
      </p:sp>
      <p:sp>
        <p:nvSpPr>
          <p:cNvPr id="32" name="Text 30"/>
          <p:cNvSpPr txBox="1"/>
          <p:nvPr/>
        </p:nvSpPr>
        <p:spPr>
          <a:xfrm>
            <a:off x="1920240" y="4800600"/>
            <a:ext cx="2926080" cy="640080"/>
          </a:xfrm>
          <a:prstGeom prst="rect">
            <a:avLst/>
          </a:prstGeom>
          <a:noFill/>
          <a:ln/>
        </p:spPr>
        <p:txBody>
          <a:bodyPr wrap="square" lIns="0" tIns="0" rIns="0" bIns="0" rtlCol="0" anchor="ctr"/>
          <a:lstStyle/>
          <a:p>
            <a:pPr marL="0" indent="0">
              <a:buNone/>
            </a:pPr>
            <a:r>
              <a:rPr lang="en-US" sz="1500" b="1" dirty="0">
                <a:solidFill>
                  <a:schemeClr val="tx1"/>
                </a:solidFill>
              </a:rPr>
              <a:t>Disponibilidad del 99 %</a:t>
            </a:r>
            <a:endParaRPr lang="en-US" sz="1500" dirty="0"/>
          </a:p>
        </p:txBody>
      </p:sp>
      <p:sp>
        <p:nvSpPr>
          <p:cNvPr id="33" name="Text 31"/>
          <p:cNvSpPr txBox="1"/>
          <p:nvPr/>
        </p:nvSpPr>
        <p:spPr>
          <a:xfrm>
            <a:off x="4937760" y="4800600"/>
            <a:ext cx="5120640" cy="640080"/>
          </a:xfrm>
          <a:prstGeom prst="rect">
            <a:avLst/>
          </a:prstGeom>
          <a:noFill/>
          <a:ln/>
        </p:spPr>
        <p:txBody>
          <a:bodyPr wrap="square" lIns="0" tIns="0" rIns="0" bIns="0" rtlCol="0" anchor="ctr"/>
          <a:lstStyle/>
          <a:p>
            <a:pPr marL="0" indent="0">
              <a:buNone/>
            </a:pPr>
            <a:r>
              <a:rPr lang="en-US" sz="1300" dirty="0">
                <a:solidFill>
                  <a:schemeClr val="tx2"/>
                </a:solidFill>
              </a:rPr>
              <a:t>Requiere desplegar y monitorear un mes: fuera del MVP</a:t>
            </a:r>
            <a:endParaRPr lang="en-US" sz="1300" dirty="0"/>
          </a:p>
        </p:txBody>
      </p:sp>
      <p:sp>
        <p:nvSpPr>
          <p:cNvPr id="34" name="chip"/>
          <p:cNvSpPr/>
          <p:nvPr/>
        </p:nvSpPr>
        <p:spPr>
          <a:xfrm>
            <a:off x="9814255" y="4965192"/>
            <a:ext cx="1691640" cy="310896"/>
          </a:xfrm>
          <a:prstGeom prst="roundRect">
            <a:avLst>
              <a:gd name="adj" fmla="val 50000"/>
            </a:avLst>
          </a:prstGeom>
          <a:solidFill>
            <a:schemeClr val="accent3">
              <a:alpha val="15000"/>
            </a:schemeClr>
          </a:solidFill>
          <a:ln w="9525">
            <a:solidFill>
              <a:schemeClr val="accent3"/>
            </a:solidFill>
            <a:prstDash val="solid"/>
          </a:ln>
        </p:spPr>
      </p:sp>
      <p:sp>
        <p:nvSpPr>
          <p:cNvPr id="35" name="Text 33"/>
          <p:cNvSpPr txBox="1"/>
          <p:nvPr/>
        </p:nvSpPr>
        <p:spPr>
          <a:xfrm>
            <a:off x="9814255" y="4965192"/>
            <a:ext cx="1691640" cy="310896"/>
          </a:xfrm>
          <a:prstGeom prst="rect">
            <a:avLst/>
          </a:prstGeom>
          <a:noFill/>
          <a:ln/>
        </p:spPr>
        <p:txBody>
          <a:bodyPr wrap="square" lIns="0" tIns="0" rIns="0" bIns="0" rtlCol="0" anchor="ctr"/>
          <a:lstStyle/>
          <a:p>
            <a:pPr marL="0" indent="0" algn="ctr">
              <a:buNone/>
            </a:pPr>
            <a:r>
              <a:rPr lang="en-US" sz="1200" b="1" dirty="0">
                <a:solidFill>
                  <a:schemeClr val="accent3"/>
                </a:solidFill>
              </a:rPr>
              <a:t>Fuera del alcance</a:t>
            </a:r>
            <a:endParaRPr lang="en-US" sz="1200" dirty="0"/>
          </a:p>
        </p:txBody>
      </p:sp>
      <p:sp>
        <p:nvSpPr>
          <p:cNvPr id="36" name="fila"/>
          <p:cNvSpPr/>
          <p:nvPr/>
        </p:nvSpPr>
        <p:spPr>
          <a:xfrm>
            <a:off x="548640" y="5486400"/>
            <a:ext cx="11094415" cy="640080"/>
          </a:xfrm>
          <a:prstGeom prst="rect">
            <a:avLst/>
          </a:prstGeom>
          <a:solidFill>
            <a:schemeClr val="bg2"/>
          </a:solidFill>
          <a:ln w="12700">
            <a:solidFill>
              <a:schemeClr val="bg2"/>
            </a:solidFill>
            <a:prstDash val="solid"/>
          </a:ln>
        </p:spPr>
      </p:sp>
      <p:sp>
        <p:nvSpPr>
          <p:cNvPr id="37" name="Text 35"/>
          <p:cNvSpPr txBox="1"/>
          <p:nvPr/>
        </p:nvSpPr>
        <p:spPr>
          <a:xfrm>
            <a:off x="731520" y="5650992"/>
            <a:ext cx="109728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RNF-07</a:t>
            </a:r>
            <a:endParaRPr lang="en-US" sz="1400" dirty="0"/>
          </a:p>
        </p:txBody>
      </p:sp>
      <p:sp>
        <p:nvSpPr>
          <p:cNvPr id="38" name="Text 36"/>
          <p:cNvSpPr txBox="1"/>
          <p:nvPr/>
        </p:nvSpPr>
        <p:spPr>
          <a:xfrm>
            <a:off x="1920240" y="5486400"/>
            <a:ext cx="2926080" cy="640080"/>
          </a:xfrm>
          <a:prstGeom prst="rect">
            <a:avLst/>
          </a:prstGeom>
          <a:noFill/>
          <a:ln/>
        </p:spPr>
        <p:txBody>
          <a:bodyPr wrap="square" lIns="0" tIns="0" rIns="0" bIns="0" rtlCol="0" anchor="ctr"/>
          <a:lstStyle/>
          <a:p>
            <a:pPr marL="0" indent="0">
              <a:buNone/>
            </a:pPr>
            <a:r>
              <a:rPr lang="en-US" sz="1500" b="1" dirty="0">
                <a:solidFill>
                  <a:schemeClr val="tx1"/>
                </a:solidFill>
              </a:rPr>
              <a:t>Costo para el usuario final</a:t>
            </a:r>
            <a:endParaRPr lang="en-US" sz="1500" dirty="0"/>
          </a:p>
        </p:txBody>
      </p:sp>
      <p:sp>
        <p:nvSpPr>
          <p:cNvPr id="39" name="Text 37"/>
          <p:cNvSpPr txBox="1"/>
          <p:nvPr/>
        </p:nvSpPr>
        <p:spPr>
          <a:xfrm>
            <a:off x="4937760" y="5486400"/>
            <a:ext cx="5120640" cy="640080"/>
          </a:xfrm>
          <a:prstGeom prst="rect">
            <a:avLst/>
          </a:prstGeom>
          <a:noFill/>
          <a:ln/>
        </p:spPr>
        <p:txBody>
          <a:bodyPr wrap="square" lIns="0" tIns="0" rIns="0" bIns="0" rtlCol="0" anchor="ctr"/>
          <a:lstStyle/>
          <a:p>
            <a:pPr marL="0" indent="0">
              <a:buNone/>
            </a:pPr>
            <a:r>
              <a:rPr lang="en-US" sz="1300" dirty="0">
                <a:solidFill>
                  <a:schemeClr val="tx2"/>
                </a:solidFill>
              </a:rPr>
              <a:t>Ningún paso pide pago; la API no tiene flujo de pago</a:t>
            </a:r>
            <a:endParaRPr lang="en-US" sz="1300" dirty="0"/>
          </a:p>
        </p:txBody>
      </p:sp>
      <p:sp>
        <p:nvSpPr>
          <p:cNvPr id="40" name="chip"/>
          <p:cNvSpPr/>
          <p:nvPr/>
        </p:nvSpPr>
        <p:spPr>
          <a:xfrm>
            <a:off x="9814255" y="5650992"/>
            <a:ext cx="1691640" cy="310896"/>
          </a:xfrm>
          <a:prstGeom prst="roundRect">
            <a:avLst>
              <a:gd name="adj" fmla="val 50000"/>
            </a:avLst>
          </a:prstGeom>
          <a:solidFill>
            <a:schemeClr val="accent1">
              <a:alpha val="15000"/>
            </a:schemeClr>
          </a:solidFill>
          <a:ln w="9525">
            <a:solidFill>
              <a:schemeClr val="accent1"/>
            </a:solidFill>
            <a:prstDash val="solid"/>
          </a:ln>
        </p:spPr>
      </p:sp>
      <p:sp>
        <p:nvSpPr>
          <p:cNvPr id="41" name="Text 39"/>
          <p:cNvSpPr txBox="1"/>
          <p:nvPr/>
        </p:nvSpPr>
        <p:spPr>
          <a:xfrm>
            <a:off x="9814255" y="5650992"/>
            <a:ext cx="1691640" cy="310896"/>
          </a:xfrm>
          <a:prstGeom prst="rect">
            <a:avLst/>
          </a:prstGeom>
          <a:noFill/>
          <a:ln/>
        </p:spPr>
        <p:txBody>
          <a:bodyPr wrap="square" lIns="0" tIns="0" rIns="0" bIns="0" rtlCol="0" anchor="ctr"/>
          <a:lstStyle/>
          <a:p>
            <a:pPr marL="0" indent="0" algn="ctr">
              <a:buNone/>
            </a:pPr>
            <a:r>
              <a:rPr lang="en-US" sz="1200" b="1" dirty="0">
                <a:solidFill>
                  <a:schemeClr val="accent1"/>
                </a:solidFill>
              </a:rPr>
              <a:t>Verificado</a:t>
            </a:r>
            <a:endParaRPr lang="en-US" sz="1200" dirty="0"/>
          </a:p>
        </p:txBody>
      </p:sp>
      <p:sp>
        <p:nvSpPr>
          <p:cNvPr id="4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Evidencia: la aplicación funcionando</a:t>
            </a:r>
            <a:endParaRPr lang="en-US" sz="3200" dirty="0"/>
          </a:p>
        </p:txBody>
      </p:sp>
      <p:pic>
        <p:nvPicPr>
          <p:cNvPr id="3" name="Image 0" descr="fig1"/>
          <p:cNvPicPr>
            <a:picLocks noChangeAspect="1"/>
          </p:cNvPicPr>
          <p:nvPr/>
        </p:nvPicPr>
        <p:blipFill>
          <a:blip r:embed="rId3"/>
          <a:stretch>
            <a:fillRect/>
          </a:stretch>
        </p:blipFill>
        <p:spPr>
          <a:xfrm>
            <a:off x="548640" y="1371600"/>
            <a:ext cx="6400800" cy="3005593"/>
          </a:xfrm>
          <a:prstGeom prst="rect">
            <a:avLst/>
          </a:prstGeom>
        </p:spPr>
      </p:pic>
      <p:sp>
        <p:nvSpPr>
          <p:cNvPr id="4" name="marco"/>
          <p:cNvSpPr/>
          <p:nvPr/>
        </p:nvSpPr>
        <p:spPr>
          <a:xfrm>
            <a:off x="548640" y="1371600"/>
            <a:ext cx="6400800" cy="3005593"/>
          </a:xfrm>
          <a:prstGeom prst="rect">
            <a:avLst/>
          </a:prstGeom>
          <a:solidFill>
            <a:schemeClr val="bg1">
              <a:alpha val="0"/>
            </a:schemeClr>
          </a:solidFill>
          <a:ln w="12700">
            <a:solidFill>
              <a:schemeClr val="accent6"/>
            </a:solidFill>
            <a:prstDash val="solid"/>
          </a:ln>
        </p:spPr>
      </p:sp>
      <p:sp>
        <p:nvSpPr>
          <p:cNvPr id="5" name="Text 2"/>
          <p:cNvSpPr txBox="1"/>
          <p:nvPr/>
        </p:nvSpPr>
        <p:spPr>
          <a:xfrm>
            <a:off x="548640" y="4486921"/>
            <a:ext cx="6400800" cy="502920"/>
          </a:xfrm>
          <a:prstGeom prst="rect">
            <a:avLst/>
          </a:prstGeom>
          <a:noFill/>
          <a:ln/>
        </p:spPr>
        <p:txBody>
          <a:bodyPr wrap="square" lIns="0" tIns="0" rIns="0" bIns="0" rtlCol="0" anchor="t"/>
          <a:lstStyle/>
          <a:p>
            <a:pPr marL="0" indent="0">
              <a:buNone/>
            </a:pPr>
            <a:r>
              <a:rPr lang="en-US" sz="1100" dirty="0">
                <a:solidFill>
                  <a:schemeClr val="tx2"/>
                </a:solidFill>
              </a:rPr>
              <a:t>Fig. 1 · Lista de material: autor anónimo, profesor y periodo, calificación e indicador «En revisión». RF-03, RF-06, RF-07, RF-11, RNF-05</a:t>
            </a:r>
            <a:endParaRPr lang="en-US" sz="1100" dirty="0"/>
          </a:p>
        </p:txBody>
      </p:sp>
      <p:pic>
        <p:nvPicPr>
          <p:cNvPr id="6" name="Image 1" descr="fig2"/>
          <p:cNvPicPr>
            <a:picLocks noChangeAspect="1"/>
          </p:cNvPicPr>
          <p:nvPr/>
        </p:nvPicPr>
        <p:blipFill>
          <a:blip r:embed="rId4"/>
          <a:stretch>
            <a:fillRect/>
          </a:stretch>
        </p:blipFill>
        <p:spPr>
          <a:xfrm>
            <a:off x="7208215" y="1371600"/>
            <a:ext cx="4434840" cy="1886332"/>
          </a:xfrm>
          <a:prstGeom prst="rect">
            <a:avLst/>
          </a:prstGeom>
        </p:spPr>
      </p:pic>
      <p:sp>
        <p:nvSpPr>
          <p:cNvPr id="7" name="marco"/>
          <p:cNvSpPr/>
          <p:nvPr/>
        </p:nvSpPr>
        <p:spPr>
          <a:xfrm>
            <a:off x="7208215" y="1371600"/>
            <a:ext cx="4434840" cy="1886332"/>
          </a:xfrm>
          <a:prstGeom prst="rect">
            <a:avLst/>
          </a:prstGeom>
          <a:solidFill>
            <a:schemeClr val="bg1">
              <a:alpha val="0"/>
            </a:schemeClr>
          </a:solidFill>
          <a:ln w="12700">
            <a:solidFill>
              <a:schemeClr val="accent6"/>
            </a:solidFill>
            <a:prstDash val="solid"/>
          </a:ln>
        </p:spPr>
      </p:sp>
      <p:sp>
        <p:nvSpPr>
          <p:cNvPr id="8" name="Text 4"/>
          <p:cNvSpPr txBox="1"/>
          <p:nvPr/>
        </p:nvSpPr>
        <p:spPr>
          <a:xfrm>
            <a:off x="7208215" y="3349372"/>
            <a:ext cx="4434840" cy="320040"/>
          </a:xfrm>
          <a:prstGeom prst="rect">
            <a:avLst/>
          </a:prstGeom>
          <a:noFill/>
          <a:ln/>
        </p:spPr>
        <p:txBody>
          <a:bodyPr wrap="square" lIns="0" tIns="0" rIns="0" bIns="0" rtlCol="0" anchor="t"/>
          <a:lstStyle/>
          <a:p>
            <a:pPr marL="0" indent="0">
              <a:buNone/>
            </a:pPr>
            <a:r>
              <a:rPr lang="en-US" sz="1100" dirty="0">
                <a:solidFill>
                  <a:schemeClr val="tx2"/>
                </a:solidFill>
              </a:rPr>
              <a:t>Fig. 2 · Ficha del material reportado. RF-05, RF-08, RF-09</a:t>
            </a:r>
            <a:endParaRPr lang="en-US" sz="1100" dirty="0"/>
          </a:p>
        </p:txBody>
      </p:sp>
      <p:pic>
        <p:nvPicPr>
          <p:cNvPr id="9" name="Image 2" descr="fig4"/>
          <p:cNvPicPr>
            <a:picLocks noChangeAspect="1"/>
          </p:cNvPicPr>
          <p:nvPr/>
        </p:nvPicPr>
        <p:blipFill>
          <a:blip r:embed="rId5"/>
          <a:stretch>
            <a:fillRect/>
          </a:stretch>
        </p:blipFill>
        <p:spPr>
          <a:xfrm>
            <a:off x="7208215" y="3806572"/>
            <a:ext cx="4434840" cy="1886332"/>
          </a:xfrm>
          <a:prstGeom prst="rect">
            <a:avLst/>
          </a:prstGeom>
        </p:spPr>
      </p:pic>
      <p:sp>
        <p:nvSpPr>
          <p:cNvPr id="10" name="marco"/>
          <p:cNvSpPr/>
          <p:nvPr/>
        </p:nvSpPr>
        <p:spPr>
          <a:xfrm>
            <a:off x="7208215" y="3806572"/>
            <a:ext cx="4434840" cy="1886332"/>
          </a:xfrm>
          <a:prstGeom prst="rect">
            <a:avLst/>
          </a:prstGeom>
          <a:solidFill>
            <a:schemeClr val="bg1">
              <a:alpha val="0"/>
            </a:schemeClr>
          </a:solidFill>
          <a:ln w="12700">
            <a:solidFill>
              <a:schemeClr val="accent6"/>
            </a:solidFill>
            <a:prstDash val="solid"/>
          </a:ln>
        </p:spPr>
      </p:sp>
      <p:sp>
        <p:nvSpPr>
          <p:cNvPr id="11" name="Text 6"/>
          <p:cNvSpPr txBox="1"/>
          <p:nvPr/>
        </p:nvSpPr>
        <p:spPr>
          <a:xfrm>
            <a:off x="7208215" y="5784343"/>
            <a:ext cx="4434840" cy="502920"/>
          </a:xfrm>
          <a:prstGeom prst="rect">
            <a:avLst/>
          </a:prstGeom>
          <a:noFill/>
          <a:ln/>
        </p:spPr>
        <p:txBody>
          <a:bodyPr wrap="square" lIns="0" tIns="0" rIns="0" bIns="0" rtlCol="0" anchor="t"/>
          <a:lstStyle/>
          <a:p>
            <a:pPr marL="0" indent="0">
              <a:buNone/>
            </a:pPr>
            <a:r>
              <a:rPr lang="en-US" sz="1100" dirty="0">
                <a:solidFill>
                  <a:schemeClr val="tx2"/>
                </a:solidFill>
              </a:rPr>
              <a:t>Fig. 4 · El mismo material con el reporte cerrado: vuelve a «publicado». RF-10</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RNF-02: la búsqueda responde muy por debajo de 3 s</a:t>
            </a:r>
            <a:endParaRPr lang="en-US" sz="3200" dirty="0"/>
          </a:p>
        </p:txBody>
      </p:sp>
      <p:graphicFrame>
        <p:nvGraphicFramePr>
          <p:cNvPr id="3" name="Chart 0"/>
          <p:cNvGraphicFramePr/>
          <p:nvPr/>
        </p:nvGraphicFramePr>
        <p:xfrm>
          <a:off x="548640" y="1371600"/>
          <a:ext cx="694944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8001000" y="1463040"/>
            <a:ext cx="3657600" cy="64008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302 ms</a:t>
            </a:r>
            <a:endParaRPr lang="en-US" sz="3600" dirty="0"/>
          </a:p>
        </p:txBody>
      </p:sp>
      <p:sp>
        <p:nvSpPr>
          <p:cNvPr id="5" name="Text 2"/>
          <p:cNvSpPr txBox="1"/>
          <p:nvPr/>
        </p:nvSpPr>
        <p:spPr>
          <a:xfrm>
            <a:off x="8001000" y="2103120"/>
            <a:ext cx="3657600" cy="548640"/>
          </a:xfrm>
          <a:prstGeom prst="rect">
            <a:avLst/>
          </a:prstGeom>
          <a:noFill/>
          <a:ln/>
        </p:spPr>
        <p:txBody>
          <a:bodyPr wrap="square" lIns="0" tIns="0" rIns="0" bIns="0" rtlCol="0" anchor="t"/>
          <a:lstStyle/>
          <a:p>
            <a:pPr marL="0" indent="0">
              <a:buNone/>
            </a:pPr>
            <a:r>
              <a:rPr lang="en-US" sz="1400" dirty="0">
                <a:solidFill>
                  <a:schemeClr val="tx2"/>
                </a:solidFill>
              </a:rPr>
              <a:t>peor p95: 10.000 materiales y 10 usuarios a la vez</a:t>
            </a:r>
            <a:endParaRPr lang="en-US" sz="1400" dirty="0"/>
          </a:p>
        </p:txBody>
      </p:sp>
      <p:sp>
        <p:nvSpPr>
          <p:cNvPr id="6" name="Text 3"/>
          <p:cNvSpPr txBox="1"/>
          <p:nvPr/>
        </p:nvSpPr>
        <p:spPr>
          <a:xfrm>
            <a:off x="8001000" y="2788920"/>
            <a:ext cx="3657600" cy="640080"/>
          </a:xfrm>
          <a:prstGeom prst="rect">
            <a:avLst/>
          </a:prstGeom>
          <a:noFill/>
          <a:ln/>
        </p:spPr>
        <p:txBody>
          <a:bodyPr wrap="square" lIns="0" tIns="0" rIns="0" bIns="0" rtlCol="0" anchor="ctr"/>
          <a:lstStyle/>
          <a:p>
            <a:pPr marL="0" indent="0">
              <a:buNone/>
            </a:pPr>
            <a:r>
              <a:rPr lang="en-US" sz="3600" b="1" dirty="0">
                <a:solidFill>
                  <a:schemeClr val="accent1"/>
                </a:solidFill>
                <a:latin typeface="Cambria" pitchFamily="34" charset="0"/>
                <a:ea typeface="Cambria" pitchFamily="34" charset="-122"/>
                <a:cs typeface="Cambria" pitchFamily="34" charset="-120"/>
              </a:rPr>
              <a:t>100 %</a:t>
            </a:r>
            <a:endParaRPr lang="en-US" sz="3600" dirty="0"/>
          </a:p>
        </p:txBody>
      </p:sp>
      <p:sp>
        <p:nvSpPr>
          <p:cNvPr id="7" name="Text 4"/>
          <p:cNvSpPr txBox="1"/>
          <p:nvPr/>
        </p:nvSpPr>
        <p:spPr>
          <a:xfrm>
            <a:off x="8001000" y="3429000"/>
            <a:ext cx="3657600" cy="548640"/>
          </a:xfrm>
          <a:prstGeom prst="rect">
            <a:avLst/>
          </a:prstGeom>
          <a:noFill/>
          <a:ln/>
        </p:spPr>
        <p:txBody>
          <a:bodyPr wrap="square" lIns="0" tIns="0" rIns="0" bIns="0" rtlCol="0" anchor="t"/>
          <a:lstStyle/>
          <a:p>
            <a:pPr marL="0" indent="0">
              <a:buNone/>
            </a:pPr>
            <a:r>
              <a:rPr lang="en-US" sz="1400" dirty="0">
                <a:solidFill>
                  <a:schemeClr val="tx2"/>
                </a:solidFill>
              </a:rPr>
              <a:t>de las búsquedas en menos de 3 s, en los cuatro escenarios</a:t>
            </a:r>
            <a:endParaRPr lang="en-US" sz="1400" dirty="0"/>
          </a:p>
        </p:txBody>
      </p:sp>
      <p:sp>
        <p:nvSpPr>
          <p:cNvPr id="8" name="Text 5"/>
          <p:cNvSpPr txBox="1"/>
          <p:nvPr/>
        </p:nvSpPr>
        <p:spPr>
          <a:xfrm>
            <a:off x="8001000" y="4114800"/>
            <a:ext cx="3657600" cy="64008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1.200</a:t>
            </a:r>
            <a:endParaRPr lang="en-US" sz="3600" dirty="0"/>
          </a:p>
        </p:txBody>
      </p:sp>
      <p:sp>
        <p:nvSpPr>
          <p:cNvPr id="9" name="Text 6"/>
          <p:cNvSpPr txBox="1"/>
          <p:nvPr/>
        </p:nvSpPr>
        <p:spPr>
          <a:xfrm>
            <a:off x="8001000" y="4754880"/>
            <a:ext cx="3657600" cy="548640"/>
          </a:xfrm>
          <a:prstGeom prst="rect">
            <a:avLst/>
          </a:prstGeom>
          <a:noFill/>
          <a:ln/>
        </p:spPr>
        <p:txBody>
          <a:bodyPr wrap="square" lIns="0" tIns="0" rIns="0" bIns="0" rtlCol="0" anchor="t"/>
          <a:lstStyle/>
          <a:p>
            <a:pPr marL="0" indent="0">
              <a:buNone/>
            </a:pPr>
            <a:r>
              <a:rPr lang="en-US" sz="1400" dirty="0">
                <a:solidFill>
                  <a:schemeClr val="tx2"/>
                </a:solidFill>
              </a:rPr>
              <a:t>búsquedas medidas: 300 por escenario, con un script de Node.js</a:t>
            </a:r>
            <a:endParaRPr lang="en-US" sz="1400" dirty="0"/>
          </a:p>
        </p:txBody>
      </p:sp>
      <p:sp>
        <p:nvSpPr>
          <p:cNvPr id="10" name="Text 7"/>
          <p:cNvSpPr txBox="1"/>
          <p:nvPr/>
        </p:nvSpPr>
        <p:spPr>
          <a:xfrm>
            <a:off x="8001000" y="5440680"/>
            <a:ext cx="3657600" cy="548640"/>
          </a:xfrm>
          <a:prstGeom prst="rect">
            <a:avLst/>
          </a:prstGeom>
          <a:noFill/>
          <a:ln/>
        </p:spPr>
        <p:txBody>
          <a:bodyPr wrap="square" lIns="0" tIns="0" rIns="0" bIns="0" rtlCol="0" anchor="t"/>
          <a:lstStyle/>
          <a:p>
            <a:pPr marL="0" indent="0">
              <a:buNone/>
            </a:pPr>
            <a:r>
              <a:rPr lang="en-US" sz="1200" i="1" dirty="0">
                <a:solidFill>
                  <a:schemeClr val="accent2"/>
                </a:solidFill>
              </a:rPr>
              <a:t>Medido en la API local: no incluye la red del celular ni el dibujo de la lista en la aplicación.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RNF-03: funciona en un celular real</a:t>
            </a:r>
            <a:endParaRPr lang="en-US" sz="3200" dirty="0"/>
          </a:p>
        </p:txBody>
      </p:sp>
      <p:sp>
        <p:nvSpPr>
          <p:cNvPr id="3" name="Text 1"/>
          <p:cNvSpPr txBox="1"/>
          <p:nvPr/>
        </p:nvSpPr>
        <p:spPr>
          <a:xfrm>
            <a:off x="548640" y="1463040"/>
            <a:ext cx="4206240" cy="4389120"/>
          </a:xfrm>
          <a:prstGeom prst="rect">
            <a:avLst/>
          </a:prstGeom>
          <a:noFill/>
          <a:ln/>
        </p:spPr>
        <p:txBody>
          <a:bodyPr wrap="square" lIns="0" tIns="0" rIns="0" bIns="0" rtlCol="0" anchor="t"/>
          <a:lstStyle/>
          <a:p>
            <a:pPr marL="0" indent="0">
              <a:spcAft>
                <a:spcPts val="1000"/>
              </a:spcAft>
              <a:buNone/>
            </a:pPr>
            <a:r>
              <a:rPr lang="en-US" sz="1600" b="1" dirty="0">
                <a:solidFill>
                  <a:schemeClr val="tx1"/>
                </a:solidFill>
              </a:rPr>
              <a:t>Samsung Galaxy A55, Android 16, Chrome.</a:t>
            </a:r>
            <a:endParaRPr lang="en-US" sz="1600" dirty="0"/>
          </a:p>
          <a:p>
            <a:pPr marL="342900" indent="-342900">
              <a:spcAft>
                <a:spcPts val="1000"/>
              </a:spcAft>
              <a:buSzPct val="100000"/>
              <a:buChar char="•"/>
            </a:pPr>
            <a:r>
              <a:rPr lang="en-US" sz="1600" dirty="0">
                <a:solidFill>
                  <a:schemeClr val="tx1"/>
                </a:solidFill>
              </a:rPr>
              <a:t>Los filtros se apilan bajo el buscador y devuelven los dos parciales de primer semestre.</a:t>
            </a:r>
            <a:endParaRPr lang="en-US" sz="1600" dirty="0"/>
          </a:p>
          <a:p>
            <a:pPr marL="342900" indent="-342900">
              <a:spcAft>
                <a:spcPts val="1000"/>
              </a:spcAft>
              <a:buSzPct val="100000"/>
              <a:buChar char="•"/>
            </a:pPr>
            <a:r>
              <a:rPr lang="en-US" sz="1600" dirty="0">
                <a:solidFill>
                  <a:schemeClr val="tx1"/>
                </a:solidFill>
              </a:rPr>
              <a:t>La ficha acomoda sus botones en dos filas; «Descargar» abre el PDF.</a:t>
            </a:r>
            <a:endParaRPr lang="en-US" sz="1600" dirty="0"/>
          </a:p>
          <a:p>
            <a:pPr marL="342900" indent="-342900">
              <a:spcAft>
                <a:spcPts val="1000"/>
              </a:spcAft>
              <a:buSzPct val="100000"/>
              <a:buChar char="•"/>
            </a:pPr>
            <a:r>
              <a:rPr lang="en-US" sz="1600" dirty="0">
                <a:solidFill>
                  <a:schemeClr val="tx1"/>
                </a:solidFill>
              </a:rPr>
              <a:t>Un estudiante subió un PDF de 1,7 MB desde el celular.</a:t>
            </a:r>
            <a:endParaRPr lang="en-US" sz="1600" dirty="0"/>
          </a:p>
          <a:p>
            <a:pPr marL="342900" indent="-342900">
              <a:spcAft>
                <a:spcPts val="1000"/>
              </a:spcAft>
              <a:buSzPct val="100000"/>
              <a:buChar char="•"/>
            </a:pPr>
            <a:r>
              <a:rPr lang="en-US" sz="1600" dirty="0">
                <a:solidFill>
                  <a:schemeClr val="tx1"/>
                </a:solidFill>
              </a:rPr>
              <a:t>Con el teclado abierto, el campo activo sigue visible.</a:t>
            </a:r>
            <a:endParaRPr lang="en-US" sz="1600" dirty="0"/>
          </a:p>
        </p:txBody>
      </p:sp>
      <p:pic>
        <p:nvPicPr>
          <p:cNvPr id="4" name="Image 0" descr="fig23"/>
          <p:cNvPicPr>
            <a:picLocks noChangeAspect="1"/>
          </p:cNvPicPr>
          <p:nvPr/>
        </p:nvPicPr>
        <p:blipFill>
          <a:blip r:embed="rId3"/>
          <a:stretch>
            <a:fillRect/>
          </a:stretch>
        </p:blipFill>
        <p:spPr>
          <a:xfrm>
            <a:off x="5074920" y="1371600"/>
            <a:ext cx="2124222" cy="4297680"/>
          </a:xfrm>
          <a:prstGeom prst="rect">
            <a:avLst/>
          </a:prstGeom>
        </p:spPr>
      </p:pic>
      <p:sp>
        <p:nvSpPr>
          <p:cNvPr id="5" name="marco"/>
          <p:cNvSpPr/>
          <p:nvPr/>
        </p:nvSpPr>
        <p:spPr>
          <a:xfrm>
            <a:off x="5074920" y="1371600"/>
            <a:ext cx="2124222" cy="4297680"/>
          </a:xfrm>
          <a:prstGeom prst="rect">
            <a:avLst/>
          </a:prstGeom>
          <a:solidFill>
            <a:schemeClr val="bg1">
              <a:alpha val="0"/>
            </a:schemeClr>
          </a:solidFill>
          <a:ln w="12700">
            <a:solidFill>
              <a:schemeClr val="accent6"/>
            </a:solidFill>
            <a:prstDash val="solid"/>
          </a:ln>
        </p:spPr>
      </p:sp>
      <p:sp>
        <p:nvSpPr>
          <p:cNvPr id="6" name="Text 3"/>
          <p:cNvSpPr txBox="1"/>
          <p:nvPr/>
        </p:nvSpPr>
        <p:spPr>
          <a:xfrm>
            <a:off x="5074920" y="5760720"/>
            <a:ext cx="2124222" cy="320040"/>
          </a:xfrm>
          <a:prstGeom prst="rect">
            <a:avLst/>
          </a:prstGeom>
          <a:noFill/>
          <a:ln/>
        </p:spPr>
        <p:txBody>
          <a:bodyPr wrap="square" lIns="0" tIns="0" rIns="0" bIns="0" rtlCol="0" anchor="t"/>
          <a:lstStyle/>
          <a:p>
            <a:pPr marL="0" indent="0">
              <a:buNone/>
            </a:pPr>
            <a:r>
              <a:rPr lang="en-US" sz="1100" dirty="0">
                <a:solidFill>
                  <a:schemeClr val="tx2"/>
                </a:solidFill>
              </a:rPr>
              <a:t>Fig. 23 · Filtros</a:t>
            </a:r>
            <a:endParaRPr lang="en-US" sz="1100" dirty="0"/>
          </a:p>
        </p:txBody>
      </p:sp>
      <p:pic>
        <p:nvPicPr>
          <p:cNvPr id="7" name="Image 1" descr="fig24"/>
          <p:cNvPicPr>
            <a:picLocks noChangeAspect="1"/>
          </p:cNvPicPr>
          <p:nvPr/>
        </p:nvPicPr>
        <p:blipFill>
          <a:blip r:embed="rId4"/>
          <a:stretch>
            <a:fillRect/>
          </a:stretch>
        </p:blipFill>
        <p:spPr>
          <a:xfrm>
            <a:off x="7519182" y="1371600"/>
            <a:ext cx="2124222" cy="4297680"/>
          </a:xfrm>
          <a:prstGeom prst="rect">
            <a:avLst/>
          </a:prstGeom>
        </p:spPr>
      </p:pic>
      <p:sp>
        <p:nvSpPr>
          <p:cNvPr id="8" name="marco"/>
          <p:cNvSpPr/>
          <p:nvPr/>
        </p:nvSpPr>
        <p:spPr>
          <a:xfrm>
            <a:off x="7519182" y="1371600"/>
            <a:ext cx="2124222" cy="4297680"/>
          </a:xfrm>
          <a:prstGeom prst="rect">
            <a:avLst/>
          </a:prstGeom>
          <a:solidFill>
            <a:schemeClr val="bg1">
              <a:alpha val="0"/>
            </a:schemeClr>
          </a:solidFill>
          <a:ln w="12700">
            <a:solidFill>
              <a:schemeClr val="accent6"/>
            </a:solidFill>
            <a:prstDash val="solid"/>
          </a:ln>
        </p:spPr>
      </p:sp>
      <p:sp>
        <p:nvSpPr>
          <p:cNvPr id="9" name="Text 5"/>
          <p:cNvSpPr txBox="1"/>
          <p:nvPr/>
        </p:nvSpPr>
        <p:spPr>
          <a:xfrm>
            <a:off x="7519182" y="5760720"/>
            <a:ext cx="2124222" cy="320040"/>
          </a:xfrm>
          <a:prstGeom prst="rect">
            <a:avLst/>
          </a:prstGeom>
          <a:noFill/>
          <a:ln/>
        </p:spPr>
        <p:txBody>
          <a:bodyPr wrap="square" lIns="0" tIns="0" rIns="0" bIns="0" rtlCol="0" anchor="t"/>
          <a:lstStyle/>
          <a:p>
            <a:pPr marL="0" indent="0">
              <a:buNone/>
            </a:pPr>
            <a:r>
              <a:rPr lang="en-US" sz="1100" dirty="0">
                <a:solidFill>
                  <a:schemeClr val="tx2"/>
                </a:solidFill>
              </a:rPr>
              <a:t>Fig. 24 · Ficha</a:t>
            </a:r>
            <a:endParaRPr lang="en-US" sz="1100" dirty="0"/>
          </a:p>
        </p:txBody>
      </p:sp>
      <p:pic>
        <p:nvPicPr>
          <p:cNvPr id="10" name="Image 2" descr="fig26"/>
          <p:cNvPicPr>
            <a:picLocks noChangeAspect="1"/>
          </p:cNvPicPr>
          <p:nvPr/>
        </p:nvPicPr>
        <p:blipFill>
          <a:blip r:embed="rId5"/>
          <a:stretch>
            <a:fillRect/>
          </a:stretch>
        </p:blipFill>
        <p:spPr>
          <a:xfrm>
            <a:off x="9963443" y="1371600"/>
            <a:ext cx="2124222" cy="4297680"/>
          </a:xfrm>
          <a:prstGeom prst="rect">
            <a:avLst/>
          </a:prstGeom>
        </p:spPr>
      </p:pic>
      <p:sp>
        <p:nvSpPr>
          <p:cNvPr id="11" name="marco"/>
          <p:cNvSpPr/>
          <p:nvPr/>
        </p:nvSpPr>
        <p:spPr>
          <a:xfrm>
            <a:off x="9963443" y="1371600"/>
            <a:ext cx="2124222" cy="4297680"/>
          </a:xfrm>
          <a:prstGeom prst="rect">
            <a:avLst/>
          </a:prstGeom>
          <a:solidFill>
            <a:schemeClr val="bg1">
              <a:alpha val="0"/>
            </a:schemeClr>
          </a:solidFill>
          <a:ln w="12700">
            <a:solidFill>
              <a:schemeClr val="accent6"/>
            </a:solidFill>
            <a:prstDash val="solid"/>
          </a:ln>
        </p:spPr>
      </p:sp>
      <p:sp>
        <p:nvSpPr>
          <p:cNvPr id="12" name="Text 7"/>
          <p:cNvSpPr txBox="1"/>
          <p:nvPr/>
        </p:nvSpPr>
        <p:spPr>
          <a:xfrm>
            <a:off x="9963443" y="5760720"/>
            <a:ext cx="2124222" cy="320040"/>
          </a:xfrm>
          <a:prstGeom prst="rect">
            <a:avLst/>
          </a:prstGeom>
          <a:noFill/>
          <a:ln/>
        </p:spPr>
        <p:txBody>
          <a:bodyPr wrap="square" lIns="0" tIns="0" rIns="0" bIns="0" rtlCol="0" anchor="t"/>
          <a:lstStyle/>
          <a:p>
            <a:pPr marL="0" indent="0">
              <a:buNone/>
            </a:pPr>
            <a:r>
              <a:rPr lang="en-US" sz="1100" dirty="0">
                <a:solidFill>
                  <a:schemeClr val="tx2"/>
                </a:solidFill>
              </a:rPr>
              <a:t>Fig. 26 · Subir material</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Defectos encontrados y corregidos</a:t>
            </a:r>
            <a:endParaRPr lang="en-US" sz="3200" dirty="0"/>
          </a:p>
        </p:txBody>
      </p:sp>
      <p:sp>
        <p:nvSpPr>
          <p:cNvPr id="3" name="card"/>
          <p:cNvSpPr/>
          <p:nvPr/>
        </p:nvSpPr>
        <p:spPr>
          <a:xfrm>
            <a:off x="548640" y="1371600"/>
            <a:ext cx="5394960" cy="2011680"/>
          </a:xfrm>
          <a:prstGeom prst="roundRect">
            <a:avLst>
              <a:gd name="adj" fmla="val 5455"/>
            </a:avLst>
          </a:prstGeom>
          <a:solidFill>
            <a:schemeClr val="bg1"/>
          </a:solidFill>
          <a:ln w="9525">
            <a:solidFill>
              <a:schemeClr val="accent6"/>
            </a:solidFill>
            <a:prstDash val="solid"/>
          </a:ln>
        </p:spPr>
      </p:sp>
      <p:sp>
        <p:nvSpPr>
          <p:cNvPr id="4" name="Text 2"/>
          <p:cNvSpPr txBox="1"/>
          <p:nvPr/>
        </p:nvSpPr>
        <p:spPr>
          <a:xfrm>
            <a:off x="777240" y="1554480"/>
            <a:ext cx="914400" cy="310896"/>
          </a:xfrm>
          <a:prstGeom prst="rect">
            <a:avLst/>
          </a:prstGeom>
          <a:noFill/>
          <a:ln/>
        </p:spPr>
        <p:txBody>
          <a:bodyPr wrap="square" lIns="0" tIns="0" rIns="0" bIns="0" rtlCol="0" anchor="ctr"/>
          <a:lstStyle/>
          <a:p>
            <a:pPr marL="0" indent="0">
              <a:buNone/>
            </a:pPr>
            <a:r>
              <a:rPr lang="en-US" sz="1400" b="1" dirty="0">
                <a:solidFill>
                  <a:schemeClr val="tx1"/>
                </a:solidFill>
                <a:latin typeface="Courier New" pitchFamily="34" charset="0"/>
                <a:ea typeface="Courier New" pitchFamily="34" charset="-122"/>
                <a:cs typeface="Courier New" pitchFamily="34" charset="-120"/>
              </a:rPr>
              <a:t>D-01</a:t>
            </a:r>
            <a:endParaRPr lang="en-US" sz="1400" dirty="0"/>
          </a:p>
        </p:txBody>
      </p:sp>
      <p:sp>
        <p:nvSpPr>
          <p:cNvPr id="5" name="severidad"/>
          <p:cNvSpPr/>
          <p:nvPr/>
        </p:nvSpPr>
        <p:spPr>
          <a:xfrm>
            <a:off x="1645920" y="1554480"/>
            <a:ext cx="914400" cy="310896"/>
          </a:xfrm>
          <a:prstGeom prst="roundRect">
            <a:avLst>
              <a:gd name="adj" fmla="val 50000"/>
            </a:avLst>
          </a:prstGeom>
          <a:solidFill>
            <a:schemeClr val="accent5">
              <a:alpha val="15000"/>
            </a:schemeClr>
          </a:solidFill>
          <a:ln w="9525">
            <a:solidFill>
              <a:schemeClr val="accent5"/>
            </a:solidFill>
            <a:prstDash val="solid"/>
          </a:ln>
        </p:spPr>
      </p:sp>
      <p:sp>
        <p:nvSpPr>
          <p:cNvPr id="6" name="Text 4"/>
          <p:cNvSpPr txBox="1"/>
          <p:nvPr/>
        </p:nvSpPr>
        <p:spPr>
          <a:xfrm>
            <a:off x="1645920" y="1554480"/>
            <a:ext cx="914400" cy="310896"/>
          </a:xfrm>
          <a:prstGeom prst="rect">
            <a:avLst/>
          </a:prstGeom>
          <a:noFill/>
          <a:ln/>
        </p:spPr>
        <p:txBody>
          <a:bodyPr wrap="square" lIns="0" tIns="0" rIns="0" bIns="0" rtlCol="0" anchor="ctr"/>
          <a:lstStyle/>
          <a:p>
            <a:pPr marL="0" indent="0" algn="ctr">
              <a:buNone/>
            </a:pPr>
            <a:r>
              <a:rPr lang="en-US" sz="1200" b="1" dirty="0">
                <a:solidFill>
                  <a:schemeClr val="accent5"/>
                </a:solidFill>
              </a:rPr>
              <a:t>Alta</a:t>
            </a:r>
            <a:endParaRPr lang="en-US" sz="1200" dirty="0"/>
          </a:p>
        </p:txBody>
      </p:sp>
      <p:sp>
        <p:nvSpPr>
          <p:cNvPr id="7" name="chip"/>
          <p:cNvSpPr/>
          <p:nvPr/>
        </p:nvSpPr>
        <p:spPr>
          <a:xfrm>
            <a:off x="4434840" y="1554480"/>
            <a:ext cx="1280160" cy="310896"/>
          </a:xfrm>
          <a:prstGeom prst="roundRect">
            <a:avLst>
              <a:gd name="adj" fmla="val 50000"/>
            </a:avLst>
          </a:prstGeom>
          <a:solidFill>
            <a:schemeClr val="accent1">
              <a:alpha val="15000"/>
            </a:schemeClr>
          </a:solidFill>
          <a:ln w="9525">
            <a:solidFill>
              <a:schemeClr val="accent1"/>
            </a:solidFill>
            <a:prstDash val="solid"/>
          </a:ln>
        </p:spPr>
      </p:sp>
      <p:sp>
        <p:nvSpPr>
          <p:cNvPr id="8" name="Text 6"/>
          <p:cNvSpPr txBox="1"/>
          <p:nvPr/>
        </p:nvSpPr>
        <p:spPr>
          <a:xfrm>
            <a:off x="4434840" y="1554480"/>
            <a:ext cx="1280160" cy="310896"/>
          </a:xfrm>
          <a:prstGeom prst="rect">
            <a:avLst/>
          </a:prstGeom>
          <a:noFill/>
          <a:ln/>
        </p:spPr>
        <p:txBody>
          <a:bodyPr wrap="square" lIns="0" tIns="0" rIns="0" bIns="0" rtlCol="0" anchor="ctr"/>
          <a:lstStyle/>
          <a:p>
            <a:pPr marL="0" indent="0" algn="ctr">
              <a:buNone/>
            </a:pPr>
            <a:r>
              <a:rPr lang="en-US" sz="1200" b="1" dirty="0">
                <a:solidFill>
                  <a:schemeClr val="accent1"/>
                </a:solidFill>
              </a:rPr>
              <a:t>Corregido</a:t>
            </a:r>
            <a:endParaRPr lang="en-US" sz="1200" dirty="0"/>
          </a:p>
        </p:txBody>
      </p:sp>
      <p:sp>
        <p:nvSpPr>
          <p:cNvPr id="9" name="Text 7"/>
          <p:cNvSpPr txBox="1"/>
          <p:nvPr/>
        </p:nvSpPr>
        <p:spPr>
          <a:xfrm>
            <a:off x="777240" y="1965960"/>
            <a:ext cx="4937760" cy="548640"/>
          </a:xfrm>
          <a:prstGeom prst="rect">
            <a:avLst/>
          </a:prstGeom>
          <a:noFill/>
          <a:ln/>
        </p:spPr>
        <p:txBody>
          <a:bodyPr wrap="square" lIns="0" tIns="0" rIns="0" bIns="0" rtlCol="0" anchor="t"/>
          <a:lstStyle/>
          <a:p>
            <a:pPr marL="0" indent="0">
              <a:buNone/>
            </a:pPr>
            <a:r>
              <a:rPr lang="en-US" sz="1400" b="1" dirty="0">
                <a:solidFill>
                  <a:schemeClr val="tx1"/>
                </a:solidFill>
              </a:rPr>
              <a:t>Un PDF válido se rechazaba con «Tipo de archivo no permitido».</a:t>
            </a:r>
            <a:endParaRPr lang="en-US" sz="1400" dirty="0"/>
          </a:p>
        </p:txBody>
      </p:sp>
      <p:sp>
        <p:nvSpPr>
          <p:cNvPr id="10" name="Text 8"/>
          <p:cNvSpPr txBox="1"/>
          <p:nvPr/>
        </p:nvSpPr>
        <p:spPr>
          <a:xfrm>
            <a:off x="777240" y="2468880"/>
            <a:ext cx="4937760" cy="731520"/>
          </a:xfrm>
          <a:prstGeom prst="rect">
            <a:avLst/>
          </a:prstGeom>
          <a:noFill/>
          <a:ln/>
        </p:spPr>
        <p:txBody>
          <a:bodyPr wrap="square" lIns="0" tIns="0" rIns="0" bIns="0" rtlCol="0" anchor="t"/>
          <a:lstStyle/>
          <a:p>
            <a:pPr marL="0" indent="0">
              <a:spcAft>
                <a:spcPts val="200"/>
              </a:spcAft>
              <a:buNone/>
            </a:pPr>
            <a:r>
              <a:rPr lang="en-US" sz="1300" b="1" dirty="0">
                <a:solidFill>
                  <a:schemeClr val="tx1"/>
                </a:solidFill>
              </a:rPr>
              <a:t>Causa: </a:t>
            </a:r>
            <a:r>
              <a:rPr lang="en-US" sz="1300" dirty="0">
                <a:solidFill>
                  <a:schemeClr val="tx2"/>
                </a:solidFill>
              </a:rPr>
              <a:t>Requerimiento incompleto (RF-06)</a:t>
            </a:r>
            <a:endParaRPr lang="en-US" sz="1300" dirty="0"/>
          </a:p>
          <a:p>
            <a:pPr marL="0" indent="0">
              <a:spcAft>
                <a:spcPts val="200"/>
              </a:spcAft>
              <a:buNone/>
            </a:pPr>
            <a:r>
              <a:rPr lang="en-US" sz="1300" b="1" dirty="0">
                <a:solidFill>
                  <a:schemeClr val="tx1"/>
                </a:solidFill>
              </a:rPr>
              <a:t>Corrección: </a:t>
            </a:r>
            <a:r>
              <a:rPr lang="en-US" sz="1300" dirty="0">
                <a:solidFill>
                  <a:schemeClr val="tx2"/>
                </a:solidFill>
              </a:rPr>
              <a:t>El servidor valida por extensión. Regla R-02.</a:t>
            </a:r>
            <a:endParaRPr lang="en-US" sz="1300" dirty="0"/>
          </a:p>
        </p:txBody>
      </p:sp>
      <p:sp>
        <p:nvSpPr>
          <p:cNvPr id="11" name="card"/>
          <p:cNvSpPr/>
          <p:nvPr/>
        </p:nvSpPr>
        <p:spPr>
          <a:xfrm>
            <a:off x="6172200" y="1371600"/>
            <a:ext cx="5394960" cy="2011680"/>
          </a:xfrm>
          <a:prstGeom prst="roundRect">
            <a:avLst>
              <a:gd name="adj" fmla="val 5455"/>
            </a:avLst>
          </a:prstGeom>
          <a:solidFill>
            <a:schemeClr val="bg1"/>
          </a:solidFill>
          <a:ln w="9525">
            <a:solidFill>
              <a:schemeClr val="accent6"/>
            </a:solidFill>
            <a:prstDash val="solid"/>
          </a:ln>
        </p:spPr>
      </p:sp>
      <p:sp>
        <p:nvSpPr>
          <p:cNvPr id="12" name="Text 10"/>
          <p:cNvSpPr txBox="1"/>
          <p:nvPr/>
        </p:nvSpPr>
        <p:spPr>
          <a:xfrm>
            <a:off x="6400800" y="1554480"/>
            <a:ext cx="914400" cy="310896"/>
          </a:xfrm>
          <a:prstGeom prst="rect">
            <a:avLst/>
          </a:prstGeom>
          <a:noFill/>
          <a:ln/>
        </p:spPr>
        <p:txBody>
          <a:bodyPr wrap="square" lIns="0" tIns="0" rIns="0" bIns="0" rtlCol="0" anchor="ctr"/>
          <a:lstStyle/>
          <a:p>
            <a:pPr marL="0" indent="0">
              <a:buNone/>
            </a:pPr>
            <a:r>
              <a:rPr lang="en-US" sz="1400" b="1" dirty="0">
                <a:solidFill>
                  <a:schemeClr val="tx1"/>
                </a:solidFill>
                <a:latin typeface="Courier New" pitchFamily="34" charset="0"/>
                <a:ea typeface="Courier New" pitchFamily="34" charset="-122"/>
                <a:cs typeface="Courier New" pitchFamily="34" charset="-120"/>
              </a:rPr>
              <a:t>D-02</a:t>
            </a:r>
            <a:endParaRPr lang="en-US" sz="1400" dirty="0"/>
          </a:p>
        </p:txBody>
      </p:sp>
      <p:sp>
        <p:nvSpPr>
          <p:cNvPr id="13" name="severidad"/>
          <p:cNvSpPr/>
          <p:nvPr/>
        </p:nvSpPr>
        <p:spPr>
          <a:xfrm>
            <a:off x="7269480" y="1554480"/>
            <a:ext cx="914400" cy="310896"/>
          </a:xfrm>
          <a:prstGeom prst="roundRect">
            <a:avLst>
              <a:gd name="adj" fmla="val 50000"/>
            </a:avLst>
          </a:prstGeom>
          <a:solidFill>
            <a:schemeClr val="tx2">
              <a:alpha val="15000"/>
            </a:schemeClr>
          </a:solidFill>
          <a:ln w="9525">
            <a:solidFill>
              <a:schemeClr val="tx2"/>
            </a:solidFill>
            <a:prstDash val="solid"/>
          </a:ln>
        </p:spPr>
      </p:sp>
      <p:sp>
        <p:nvSpPr>
          <p:cNvPr id="14" name="Text 12"/>
          <p:cNvSpPr txBox="1"/>
          <p:nvPr/>
        </p:nvSpPr>
        <p:spPr>
          <a:xfrm>
            <a:off x="7269480" y="1554480"/>
            <a:ext cx="914400" cy="310896"/>
          </a:xfrm>
          <a:prstGeom prst="rect">
            <a:avLst/>
          </a:prstGeom>
          <a:noFill/>
          <a:ln/>
        </p:spPr>
        <p:txBody>
          <a:bodyPr wrap="square" lIns="0" tIns="0" rIns="0" bIns="0" rtlCol="0" anchor="ctr"/>
          <a:lstStyle/>
          <a:p>
            <a:pPr marL="0" indent="0" algn="ctr">
              <a:buNone/>
            </a:pPr>
            <a:r>
              <a:rPr lang="en-US" sz="1200" b="1" dirty="0">
                <a:solidFill>
                  <a:schemeClr val="tx2"/>
                </a:solidFill>
              </a:rPr>
              <a:t>Baja</a:t>
            </a:r>
            <a:endParaRPr lang="en-US" sz="1200" dirty="0"/>
          </a:p>
        </p:txBody>
      </p:sp>
      <p:sp>
        <p:nvSpPr>
          <p:cNvPr id="15" name="chip"/>
          <p:cNvSpPr/>
          <p:nvPr/>
        </p:nvSpPr>
        <p:spPr>
          <a:xfrm>
            <a:off x="10058400" y="1554480"/>
            <a:ext cx="1280160" cy="310896"/>
          </a:xfrm>
          <a:prstGeom prst="roundRect">
            <a:avLst>
              <a:gd name="adj" fmla="val 50000"/>
            </a:avLst>
          </a:prstGeom>
          <a:solidFill>
            <a:schemeClr val="accent1">
              <a:alpha val="15000"/>
            </a:schemeClr>
          </a:solidFill>
          <a:ln w="9525">
            <a:solidFill>
              <a:schemeClr val="accent1"/>
            </a:solidFill>
            <a:prstDash val="solid"/>
          </a:ln>
        </p:spPr>
      </p:sp>
      <p:sp>
        <p:nvSpPr>
          <p:cNvPr id="16" name="Text 14"/>
          <p:cNvSpPr txBox="1"/>
          <p:nvPr/>
        </p:nvSpPr>
        <p:spPr>
          <a:xfrm>
            <a:off x="10058400" y="1554480"/>
            <a:ext cx="1280160" cy="310896"/>
          </a:xfrm>
          <a:prstGeom prst="rect">
            <a:avLst/>
          </a:prstGeom>
          <a:noFill/>
          <a:ln/>
        </p:spPr>
        <p:txBody>
          <a:bodyPr wrap="square" lIns="0" tIns="0" rIns="0" bIns="0" rtlCol="0" anchor="ctr"/>
          <a:lstStyle/>
          <a:p>
            <a:pPr marL="0" indent="0" algn="ctr">
              <a:buNone/>
            </a:pPr>
            <a:r>
              <a:rPr lang="en-US" sz="1200" b="1" dirty="0">
                <a:solidFill>
                  <a:schemeClr val="accent1"/>
                </a:solidFill>
              </a:rPr>
              <a:t>Corregido</a:t>
            </a:r>
            <a:endParaRPr lang="en-US" sz="1200" dirty="0"/>
          </a:p>
        </p:txBody>
      </p:sp>
      <p:sp>
        <p:nvSpPr>
          <p:cNvPr id="17" name="Text 15"/>
          <p:cNvSpPr txBox="1"/>
          <p:nvPr/>
        </p:nvSpPr>
        <p:spPr>
          <a:xfrm>
            <a:off x="6400800" y="1965960"/>
            <a:ext cx="4937760" cy="548640"/>
          </a:xfrm>
          <a:prstGeom prst="rect">
            <a:avLst/>
          </a:prstGeom>
          <a:noFill/>
          <a:ln/>
        </p:spPr>
        <p:txBody>
          <a:bodyPr wrap="square" lIns="0" tIns="0" rIns="0" bIns="0" rtlCol="0" anchor="t"/>
          <a:lstStyle/>
          <a:p>
            <a:pPr marL="0" indent="0">
              <a:buNone/>
            </a:pPr>
            <a:r>
              <a:rPr lang="en-US" sz="1400" b="1" dirty="0">
                <a:solidFill>
                  <a:schemeClr val="tx1"/>
                </a:solidFill>
              </a:rPr>
              <a:t>Tras registrarse aparecía una flecha «atrás» a otra pantalla principal.</a:t>
            </a:r>
            <a:endParaRPr lang="en-US" sz="1400" dirty="0"/>
          </a:p>
        </p:txBody>
      </p:sp>
      <p:sp>
        <p:nvSpPr>
          <p:cNvPr id="18" name="Text 16"/>
          <p:cNvSpPr txBox="1"/>
          <p:nvPr/>
        </p:nvSpPr>
        <p:spPr>
          <a:xfrm>
            <a:off x="6400800" y="2468880"/>
            <a:ext cx="4937760" cy="731520"/>
          </a:xfrm>
          <a:prstGeom prst="rect">
            <a:avLst/>
          </a:prstGeom>
          <a:noFill/>
          <a:ln/>
        </p:spPr>
        <p:txBody>
          <a:bodyPr wrap="square" lIns="0" tIns="0" rIns="0" bIns="0" rtlCol="0" anchor="t"/>
          <a:lstStyle/>
          <a:p>
            <a:pPr marL="0" indent="0">
              <a:spcAft>
                <a:spcPts val="200"/>
              </a:spcAft>
              <a:buNone/>
            </a:pPr>
            <a:r>
              <a:rPr lang="en-US" sz="1300" b="1" dirty="0">
                <a:solidFill>
                  <a:schemeClr val="tx1"/>
                </a:solidFill>
              </a:rPr>
              <a:t>Causa: </a:t>
            </a:r>
            <a:r>
              <a:rPr lang="en-US" sz="1300" dirty="0">
                <a:solidFill>
                  <a:schemeClr val="tx2"/>
                </a:solidFill>
              </a:rPr>
              <a:t>Implementación</a:t>
            </a:r>
            <a:endParaRPr lang="en-US" sz="1300" dirty="0"/>
          </a:p>
          <a:p>
            <a:pPr marL="0" indent="0">
              <a:spcAft>
                <a:spcPts val="200"/>
              </a:spcAft>
              <a:buNone/>
            </a:pPr>
            <a:r>
              <a:rPr lang="en-US" sz="1300" b="1" dirty="0">
                <a:solidFill>
                  <a:schemeClr val="tx1"/>
                </a:solidFill>
              </a:rPr>
              <a:t>Corrección: </a:t>
            </a:r>
            <a:r>
              <a:rPr lang="en-US" sz="1300" dirty="0">
                <a:solidFill>
                  <a:schemeClr val="tx2"/>
                </a:solidFill>
              </a:rPr>
              <a:t>La pantalla principal reemplaza la navegación anterior.</a:t>
            </a:r>
            <a:endParaRPr lang="en-US" sz="1300" dirty="0"/>
          </a:p>
        </p:txBody>
      </p:sp>
      <p:sp>
        <p:nvSpPr>
          <p:cNvPr id="19" name="card"/>
          <p:cNvSpPr/>
          <p:nvPr/>
        </p:nvSpPr>
        <p:spPr>
          <a:xfrm>
            <a:off x="548640" y="3611880"/>
            <a:ext cx="5394960" cy="2011680"/>
          </a:xfrm>
          <a:prstGeom prst="roundRect">
            <a:avLst>
              <a:gd name="adj" fmla="val 5455"/>
            </a:avLst>
          </a:prstGeom>
          <a:solidFill>
            <a:schemeClr val="bg1"/>
          </a:solidFill>
          <a:ln w="9525">
            <a:solidFill>
              <a:schemeClr val="accent6"/>
            </a:solidFill>
            <a:prstDash val="solid"/>
          </a:ln>
        </p:spPr>
      </p:sp>
      <p:sp>
        <p:nvSpPr>
          <p:cNvPr id="20" name="Text 18"/>
          <p:cNvSpPr txBox="1"/>
          <p:nvPr/>
        </p:nvSpPr>
        <p:spPr>
          <a:xfrm>
            <a:off x="777240" y="3794760"/>
            <a:ext cx="914400" cy="310896"/>
          </a:xfrm>
          <a:prstGeom prst="rect">
            <a:avLst/>
          </a:prstGeom>
          <a:noFill/>
          <a:ln/>
        </p:spPr>
        <p:txBody>
          <a:bodyPr wrap="square" lIns="0" tIns="0" rIns="0" bIns="0" rtlCol="0" anchor="ctr"/>
          <a:lstStyle/>
          <a:p>
            <a:pPr marL="0" indent="0">
              <a:buNone/>
            </a:pPr>
            <a:r>
              <a:rPr lang="en-US" sz="1400" b="1" dirty="0">
                <a:solidFill>
                  <a:schemeClr val="tx1"/>
                </a:solidFill>
                <a:latin typeface="Courier New" pitchFamily="34" charset="0"/>
                <a:ea typeface="Courier New" pitchFamily="34" charset="-122"/>
                <a:cs typeface="Courier New" pitchFamily="34" charset="-120"/>
              </a:rPr>
              <a:t>D-03</a:t>
            </a:r>
            <a:endParaRPr lang="en-US" sz="1400" dirty="0"/>
          </a:p>
        </p:txBody>
      </p:sp>
      <p:sp>
        <p:nvSpPr>
          <p:cNvPr id="21" name="severidad"/>
          <p:cNvSpPr/>
          <p:nvPr/>
        </p:nvSpPr>
        <p:spPr>
          <a:xfrm>
            <a:off x="1645920" y="3794760"/>
            <a:ext cx="914400" cy="310896"/>
          </a:xfrm>
          <a:prstGeom prst="roundRect">
            <a:avLst>
              <a:gd name="adj" fmla="val 50000"/>
            </a:avLst>
          </a:prstGeom>
          <a:solidFill>
            <a:schemeClr val="accent2">
              <a:alpha val="15000"/>
            </a:schemeClr>
          </a:solidFill>
          <a:ln w="9525">
            <a:solidFill>
              <a:schemeClr val="accent2"/>
            </a:solidFill>
            <a:prstDash val="solid"/>
          </a:ln>
        </p:spPr>
      </p:sp>
      <p:sp>
        <p:nvSpPr>
          <p:cNvPr id="22" name="Text 20"/>
          <p:cNvSpPr txBox="1"/>
          <p:nvPr/>
        </p:nvSpPr>
        <p:spPr>
          <a:xfrm>
            <a:off x="1645920" y="3794760"/>
            <a:ext cx="914400" cy="310896"/>
          </a:xfrm>
          <a:prstGeom prst="rect">
            <a:avLst/>
          </a:prstGeom>
          <a:noFill/>
          <a:ln/>
        </p:spPr>
        <p:txBody>
          <a:bodyPr wrap="square" lIns="0" tIns="0" rIns="0" bIns="0" rtlCol="0" anchor="ctr"/>
          <a:lstStyle/>
          <a:p>
            <a:pPr marL="0" indent="0" algn="ctr">
              <a:buNone/>
            </a:pPr>
            <a:r>
              <a:rPr lang="en-US" sz="1200" b="1" dirty="0">
                <a:solidFill>
                  <a:schemeClr val="accent2"/>
                </a:solidFill>
              </a:rPr>
              <a:t>Media</a:t>
            </a:r>
            <a:endParaRPr lang="en-US" sz="1200" dirty="0"/>
          </a:p>
        </p:txBody>
      </p:sp>
      <p:sp>
        <p:nvSpPr>
          <p:cNvPr id="23" name="chip"/>
          <p:cNvSpPr/>
          <p:nvPr/>
        </p:nvSpPr>
        <p:spPr>
          <a:xfrm>
            <a:off x="4434840" y="3794760"/>
            <a:ext cx="1280160" cy="310896"/>
          </a:xfrm>
          <a:prstGeom prst="roundRect">
            <a:avLst>
              <a:gd name="adj" fmla="val 50000"/>
            </a:avLst>
          </a:prstGeom>
          <a:solidFill>
            <a:schemeClr val="accent1">
              <a:alpha val="15000"/>
            </a:schemeClr>
          </a:solidFill>
          <a:ln w="9525">
            <a:solidFill>
              <a:schemeClr val="accent1"/>
            </a:solidFill>
            <a:prstDash val="solid"/>
          </a:ln>
        </p:spPr>
      </p:sp>
      <p:sp>
        <p:nvSpPr>
          <p:cNvPr id="24" name="Text 22"/>
          <p:cNvSpPr txBox="1"/>
          <p:nvPr/>
        </p:nvSpPr>
        <p:spPr>
          <a:xfrm>
            <a:off x="4434840" y="3794760"/>
            <a:ext cx="1280160" cy="310896"/>
          </a:xfrm>
          <a:prstGeom prst="rect">
            <a:avLst/>
          </a:prstGeom>
          <a:noFill/>
          <a:ln/>
        </p:spPr>
        <p:txBody>
          <a:bodyPr wrap="square" lIns="0" tIns="0" rIns="0" bIns="0" rtlCol="0" anchor="ctr"/>
          <a:lstStyle/>
          <a:p>
            <a:pPr marL="0" indent="0" algn="ctr">
              <a:buNone/>
            </a:pPr>
            <a:r>
              <a:rPr lang="en-US" sz="1200" b="1" dirty="0">
                <a:solidFill>
                  <a:schemeClr val="accent1"/>
                </a:solidFill>
              </a:rPr>
              <a:t>Corregido</a:t>
            </a:r>
            <a:endParaRPr lang="en-US" sz="1200" dirty="0"/>
          </a:p>
        </p:txBody>
      </p:sp>
      <p:sp>
        <p:nvSpPr>
          <p:cNvPr id="25" name="Text 23"/>
          <p:cNvSpPr txBox="1"/>
          <p:nvPr/>
        </p:nvSpPr>
        <p:spPr>
          <a:xfrm>
            <a:off x="777240" y="4206240"/>
            <a:ext cx="4937760" cy="548640"/>
          </a:xfrm>
          <a:prstGeom prst="rect">
            <a:avLst/>
          </a:prstGeom>
          <a:noFill/>
          <a:ln/>
        </p:spPr>
        <p:txBody>
          <a:bodyPr wrap="square" lIns="0" tIns="0" rIns="0" bIns="0" rtlCol="0" anchor="t"/>
          <a:lstStyle/>
          <a:p>
            <a:pPr marL="0" indent="0">
              <a:buNone/>
            </a:pPr>
            <a:r>
              <a:rPr lang="en-US" sz="1400" b="1" dirty="0">
                <a:solidFill>
                  <a:schemeClr val="tx1"/>
                </a:solidFill>
              </a:rPr>
              <a:t>Al resolver un reporte, el material seguía «En revisión».</a:t>
            </a:r>
            <a:endParaRPr lang="en-US" sz="1400" dirty="0"/>
          </a:p>
        </p:txBody>
      </p:sp>
      <p:sp>
        <p:nvSpPr>
          <p:cNvPr id="26" name="Text 24"/>
          <p:cNvSpPr txBox="1"/>
          <p:nvPr/>
        </p:nvSpPr>
        <p:spPr>
          <a:xfrm>
            <a:off x="777240" y="4709160"/>
            <a:ext cx="4937760" cy="731520"/>
          </a:xfrm>
          <a:prstGeom prst="rect">
            <a:avLst/>
          </a:prstGeom>
          <a:noFill/>
          <a:ln/>
        </p:spPr>
        <p:txBody>
          <a:bodyPr wrap="square" lIns="0" tIns="0" rIns="0" bIns="0" rtlCol="0" anchor="t"/>
          <a:lstStyle/>
          <a:p>
            <a:pPr marL="0" indent="0">
              <a:spcAft>
                <a:spcPts val="200"/>
              </a:spcAft>
              <a:buNone/>
            </a:pPr>
            <a:r>
              <a:rPr lang="en-US" sz="1300" b="1" dirty="0">
                <a:solidFill>
                  <a:schemeClr val="tx1"/>
                </a:solidFill>
              </a:rPr>
              <a:t>Causa: </a:t>
            </a:r>
            <a:r>
              <a:rPr lang="en-US" sz="1300" dirty="0">
                <a:solidFill>
                  <a:schemeClr val="tx2"/>
                </a:solidFill>
              </a:rPr>
              <a:t>Requerimiento incompleto (RF-10)</a:t>
            </a:r>
            <a:endParaRPr lang="en-US" sz="1300" dirty="0"/>
          </a:p>
          <a:p>
            <a:pPr marL="0" indent="0">
              <a:spcAft>
                <a:spcPts val="200"/>
              </a:spcAft>
              <a:buNone/>
            </a:pPr>
            <a:r>
              <a:rPr lang="en-US" sz="1300" b="1" dirty="0">
                <a:solidFill>
                  <a:schemeClr val="tx1"/>
                </a:solidFill>
              </a:rPr>
              <a:t>Corrección: </a:t>
            </a:r>
            <a:r>
              <a:rPr lang="en-US" sz="1300" dirty="0">
                <a:solidFill>
                  <a:schemeClr val="tx2"/>
                </a:solidFill>
              </a:rPr>
              <a:t>Al cerrar el último reporte vuelve a «publicado». Regla R-01.</a:t>
            </a:r>
            <a:endParaRPr lang="en-US" sz="1300" dirty="0"/>
          </a:p>
        </p:txBody>
      </p:sp>
      <p:sp>
        <p:nvSpPr>
          <p:cNvPr id="27" name="card"/>
          <p:cNvSpPr/>
          <p:nvPr/>
        </p:nvSpPr>
        <p:spPr>
          <a:xfrm>
            <a:off x="6172200" y="3611880"/>
            <a:ext cx="5394960" cy="2011680"/>
          </a:xfrm>
          <a:prstGeom prst="roundRect">
            <a:avLst>
              <a:gd name="adj" fmla="val 5455"/>
            </a:avLst>
          </a:prstGeom>
          <a:solidFill>
            <a:schemeClr val="bg1"/>
          </a:solidFill>
          <a:ln w="9525">
            <a:solidFill>
              <a:schemeClr val="accent6"/>
            </a:solidFill>
            <a:prstDash val="solid"/>
          </a:ln>
        </p:spPr>
      </p:sp>
      <p:sp>
        <p:nvSpPr>
          <p:cNvPr id="28" name="Text 26"/>
          <p:cNvSpPr txBox="1"/>
          <p:nvPr/>
        </p:nvSpPr>
        <p:spPr>
          <a:xfrm>
            <a:off x="6400800" y="3794760"/>
            <a:ext cx="914400" cy="310896"/>
          </a:xfrm>
          <a:prstGeom prst="rect">
            <a:avLst/>
          </a:prstGeom>
          <a:noFill/>
          <a:ln/>
        </p:spPr>
        <p:txBody>
          <a:bodyPr wrap="square" lIns="0" tIns="0" rIns="0" bIns="0" rtlCol="0" anchor="ctr"/>
          <a:lstStyle/>
          <a:p>
            <a:pPr marL="0" indent="0">
              <a:buNone/>
            </a:pPr>
            <a:r>
              <a:rPr lang="en-US" sz="1400" b="1" dirty="0">
                <a:solidFill>
                  <a:schemeClr val="tx1"/>
                </a:solidFill>
                <a:latin typeface="Courier New" pitchFamily="34" charset="0"/>
                <a:ea typeface="Courier New" pitchFamily="34" charset="-122"/>
                <a:cs typeface="Courier New" pitchFamily="34" charset="-120"/>
              </a:rPr>
              <a:t>D-04</a:t>
            </a:r>
            <a:endParaRPr lang="en-US" sz="1400" dirty="0"/>
          </a:p>
        </p:txBody>
      </p:sp>
      <p:sp>
        <p:nvSpPr>
          <p:cNvPr id="29" name="severidad"/>
          <p:cNvSpPr/>
          <p:nvPr/>
        </p:nvSpPr>
        <p:spPr>
          <a:xfrm>
            <a:off x="7269480" y="3794760"/>
            <a:ext cx="914400" cy="310896"/>
          </a:xfrm>
          <a:prstGeom prst="roundRect">
            <a:avLst>
              <a:gd name="adj" fmla="val 50000"/>
            </a:avLst>
          </a:prstGeom>
          <a:solidFill>
            <a:schemeClr val="tx2">
              <a:alpha val="15000"/>
            </a:schemeClr>
          </a:solidFill>
          <a:ln w="9525">
            <a:solidFill>
              <a:schemeClr val="tx2"/>
            </a:solidFill>
            <a:prstDash val="solid"/>
          </a:ln>
        </p:spPr>
      </p:sp>
      <p:sp>
        <p:nvSpPr>
          <p:cNvPr id="30" name="Text 28"/>
          <p:cNvSpPr txBox="1"/>
          <p:nvPr/>
        </p:nvSpPr>
        <p:spPr>
          <a:xfrm>
            <a:off x="7269480" y="3794760"/>
            <a:ext cx="914400" cy="310896"/>
          </a:xfrm>
          <a:prstGeom prst="rect">
            <a:avLst/>
          </a:prstGeom>
          <a:noFill/>
          <a:ln/>
        </p:spPr>
        <p:txBody>
          <a:bodyPr wrap="square" lIns="0" tIns="0" rIns="0" bIns="0" rtlCol="0" anchor="ctr"/>
          <a:lstStyle/>
          <a:p>
            <a:pPr marL="0" indent="0" algn="ctr">
              <a:buNone/>
            </a:pPr>
            <a:r>
              <a:rPr lang="en-US" sz="1200" b="1" dirty="0">
                <a:solidFill>
                  <a:schemeClr val="tx2"/>
                </a:solidFill>
              </a:rPr>
              <a:t>Baja</a:t>
            </a:r>
            <a:endParaRPr lang="en-US" sz="1200" dirty="0"/>
          </a:p>
        </p:txBody>
      </p:sp>
      <p:sp>
        <p:nvSpPr>
          <p:cNvPr id="31" name="chip"/>
          <p:cNvSpPr/>
          <p:nvPr/>
        </p:nvSpPr>
        <p:spPr>
          <a:xfrm>
            <a:off x="10058400" y="3794760"/>
            <a:ext cx="1280160" cy="310896"/>
          </a:xfrm>
          <a:prstGeom prst="roundRect">
            <a:avLst>
              <a:gd name="adj" fmla="val 50000"/>
            </a:avLst>
          </a:prstGeom>
          <a:solidFill>
            <a:schemeClr val="accent1">
              <a:alpha val="15000"/>
            </a:schemeClr>
          </a:solidFill>
          <a:ln w="9525">
            <a:solidFill>
              <a:schemeClr val="accent1"/>
            </a:solidFill>
            <a:prstDash val="solid"/>
          </a:ln>
        </p:spPr>
      </p:sp>
      <p:sp>
        <p:nvSpPr>
          <p:cNvPr id="32" name="Text 30"/>
          <p:cNvSpPr txBox="1"/>
          <p:nvPr/>
        </p:nvSpPr>
        <p:spPr>
          <a:xfrm>
            <a:off x="10058400" y="3794760"/>
            <a:ext cx="1280160" cy="310896"/>
          </a:xfrm>
          <a:prstGeom prst="rect">
            <a:avLst/>
          </a:prstGeom>
          <a:noFill/>
          <a:ln/>
        </p:spPr>
        <p:txBody>
          <a:bodyPr wrap="square" lIns="0" tIns="0" rIns="0" bIns="0" rtlCol="0" anchor="ctr"/>
          <a:lstStyle/>
          <a:p>
            <a:pPr marL="0" indent="0" algn="ctr">
              <a:buNone/>
            </a:pPr>
            <a:r>
              <a:rPr lang="en-US" sz="1200" b="1" dirty="0">
                <a:solidFill>
                  <a:schemeClr val="accent1"/>
                </a:solidFill>
              </a:rPr>
              <a:t>Corregido</a:t>
            </a:r>
            <a:endParaRPr lang="en-US" sz="1200" dirty="0"/>
          </a:p>
        </p:txBody>
      </p:sp>
      <p:sp>
        <p:nvSpPr>
          <p:cNvPr id="33" name="Text 31"/>
          <p:cNvSpPr txBox="1"/>
          <p:nvPr/>
        </p:nvSpPr>
        <p:spPr>
          <a:xfrm>
            <a:off x="6400800" y="4206240"/>
            <a:ext cx="4937760" cy="548640"/>
          </a:xfrm>
          <a:prstGeom prst="rect">
            <a:avLst/>
          </a:prstGeom>
          <a:noFill/>
          <a:ln/>
        </p:spPr>
        <p:txBody>
          <a:bodyPr wrap="square" lIns="0" tIns="0" rIns="0" bIns="0" rtlCol="0" anchor="t"/>
          <a:lstStyle/>
          <a:p>
            <a:pPr marL="0" indent="0">
              <a:buNone/>
            </a:pPr>
            <a:r>
              <a:rPr lang="en-US" sz="1400" b="1" dirty="0">
                <a:solidFill>
                  <a:schemeClr val="tx1"/>
                </a:solidFill>
              </a:rPr>
              <a:t>El acceso a la administración era un ícono sin texto.</a:t>
            </a:r>
            <a:endParaRPr lang="en-US" sz="1400" dirty="0"/>
          </a:p>
        </p:txBody>
      </p:sp>
      <p:sp>
        <p:nvSpPr>
          <p:cNvPr id="34" name="Text 32"/>
          <p:cNvSpPr txBox="1"/>
          <p:nvPr/>
        </p:nvSpPr>
        <p:spPr>
          <a:xfrm>
            <a:off x="6400800" y="4709160"/>
            <a:ext cx="4937760" cy="731520"/>
          </a:xfrm>
          <a:prstGeom prst="rect">
            <a:avLst/>
          </a:prstGeom>
          <a:noFill/>
          <a:ln/>
        </p:spPr>
        <p:txBody>
          <a:bodyPr wrap="square" lIns="0" tIns="0" rIns="0" bIns="0" rtlCol="0" anchor="t"/>
          <a:lstStyle/>
          <a:p>
            <a:pPr marL="0" indent="0">
              <a:spcAft>
                <a:spcPts val="200"/>
              </a:spcAft>
              <a:buNone/>
            </a:pPr>
            <a:r>
              <a:rPr lang="en-US" sz="1300" b="1" dirty="0">
                <a:solidFill>
                  <a:schemeClr val="tx1"/>
                </a:solidFill>
              </a:rPr>
              <a:t>Causa: </a:t>
            </a:r>
            <a:r>
              <a:rPr lang="en-US" sz="1300" dirty="0">
                <a:solidFill>
                  <a:schemeClr val="tx2"/>
                </a:solidFill>
              </a:rPr>
              <a:t>Usabilidad</a:t>
            </a:r>
            <a:endParaRPr lang="en-US" sz="1300" dirty="0"/>
          </a:p>
          <a:p>
            <a:pPr marL="0" indent="0">
              <a:spcAft>
                <a:spcPts val="200"/>
              </a:spcAft>
              <a:buNone/>
            </a:pPr>
            <a:r>
              <a:rPr lang="en-US" sz="1300" b="1" dirty="0">
                <a:solidFill>
                  <a:schemeClr val="tx1"/>
                </a:solidFill>
              </a:rPr>
              <a:t>Corrección: </a:t>
            </a:r>
            <a:r>
              <a:rPr lang="en-US" sz="1300" dirty="0">
                <a:solidFill>
                  <a:schemeClr val="tx2"/>
                </a:solidFill>
              </a:rPr>
              <a:t>En pantallas anchas se muestra el botón «Administración».</a:t>
            </a:r>
            <a:endParaRPr lang="en-US" sz="1300" dirty="0"/>
          </a:p>
        </p:txBody>
      </p:sp>
      <p:sp>
        <p:nvSpPr>
          <p:cNvPr id="35" name="Text 33"/>
          <p:cNvSpPr txBox="1"/>
          <p:nvPr/>
        </p:nvSpPr>
        <p:spPr>
          <a:xfrm>
            <a:off x="548640" y="5897880"/>
            <a:ext cx="11094415" cy="365760"/>
          </a:xfrm>
          <a:prstGeom prst="rect">
            <a:avLst/>
          </a:prstGeom>
          <a:noFill/>
          <a:ln/>
        </p:spPr>
        <p:txBody>
          <a:bodyPr wrap="square" lIns="0" tIns="0" rIns="0" bIns="0" rtlCol="0" anchor="ctr"/>
          <a:lstStyle/>
          <a:p>
            <a:pPr marL="0" indent="0">
              <a:buNone/>
            </a:pPr>
            <a:r>
              <a:rPr lang="en-US" sz="1500" i="1" dirty="0">
                <a:solidFill>
                  <a:schemeClr val="tx1"/>
                </a:solidFill>
              </a:rPr>
              <a:t>Dos de los cuatro defectos venían de requerimientos que no definían una regla.</a:t>
            </a:r>
            <a:endParaRPr lang="en-US" sz="1500" dirty="0"/>
          </a:p>
        </p:txBody>
      </p:sp>
      <p:sp>
        <p:nvSpPr>
          <p:cNvPr id="36"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Reglas de negocio que surgieron al implementar</a:t>
            </a:r>
            <a:endParaRPr lang="en-US" sz="3200" dirty="0"/>
          </a:p>
        </p:txBody>
      </p:sp>
      <p:sp>
        <p:nvSpPr>
          <p:cNvPr id="3" name="fila"/>
          <p:cNvSpPr/>
          <p:nvPr/>
        </p:nvSpPr>
        <p:spPr>
          <a:xfrm>
            <a:off x="548640" y="1325880"/>
            <a:ext cx="7863840" cy="475488"/>
          </a:xfrm>
          <a:prstGeom prst="rect">
            <a:avLst/>
          </a:prstGeom>
          <a:solidFill>
            <a:schemeClr val="bg2"/>
          </a:solidFill>
          <a:ln w="12700">
            <a:solidFill>
              <a:schemeClr val="bg2"/>
            </a:solidFill>
            <a:prstDash val="solid"/>
          </a:ln>
        </p:spPr>
      </p:sp>
      <p:sp>
        <p:nvSpPr>
          <p:cNvPr id="4" name="Text 2"/>
          <p:cNvSpPr txBox="1"/>
          <p:nvPr/>
        </p:nvSpPr>
        <p:spPr>
          <a:xfrm>
            <a:off x="685800" y="1408176"/>
            <a:ext cx="73152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R-01</a:t>
            </a:r>
            <a:endParaRPr lang="en-US" sz="1400" dirty="0"/>
          </a:p>
        </p:txBody>
      </p:sp>
      <p:sp>
        <p:nvSpPr>
          <p:cNvPr id="5" name="Text 3"/>
          <p:cNvSpPr txBox="1"/>
          <p:nvPr/>
        </p:nvSpPr>
        <p:spPr>
          <a:xfrm>
            <a:off x="1463040" y="1325880"/>
            <a:ext cx="5120640" cy="475488"/>
          </a:xfrm>
          <a:prstGeom prst="rect">
            <a:avLst/>
          </a:prstGeom>
          <a:noFill/>
          <a:ln/>
        </p:spPr>
        <p:txBody>
          <a:bodyPr wrap="square" lIns="0" tIns="0" rIns="0" bIns="0" rtlCol="0" anchor="ctr"/>
          <a:lstStyle/>
          <a:p>
            <a:pPr marL="0" indent="0">
              <a:buNone/>
            </a:pPr>
            <a:r>
              <a:rPr lang="en-US" sz="1400" dirty="0">
                <a:solidFill>
                  <a:schemeClr val="tx1"/>
                </a:solidFill>
              </a:rPr>
              <a:t>Al cerrar el último reporte, el material vuelve a «publicado»</a:t>
            </a:r>
            <a:endParaRPr lang="en-US" sz="1400" dirty="0"/>
          </a:p>
        </p:txBody>
      </p:sp>
      <p:sp>
        <p:nvSpPr>
          <p:cNvPr id="6" name="chip"/>
          <p:cNvSpPr/>
          <p:nvPr/>
        </p:nvSpPr>
        <p:spPr>
          <a:xfrm>
            <a:off x="6720840" y="1417320"/>
            <a:ext cx="1554480" cy="292608"/>
          </a:xfrm>
          <a:prstGeom prst="roundRect">
            <a:avLst>
              <a:gd name="adj" fmla="val 50000"/>
            </a:avLst>
          </a:prstGeom>
          <a:solidFill>
            <a:schemeClr val="accent1">
              <a:alpha val="15000"/>
            </a:schemeClr>
          </a:solidFill>
          <a:ln w="9525">
            <a:solidFill>
              <a:schemeClr val="accent1"/>
            </a:solidFill>
            <a:prstDash val="solid"/>
          </a:ln>
        </p:spPr>
      </p:sp>
      <p:sp>
        <p:nvSpPr>
          <p:cNvPr id="7" name="Text 5"/>
          <p:cNvSpPr txBox="1"/>
          <p:nvPr/>
        </p:nvSpPr>
        <p:spPr>
          <a:xfrm>
            <a:off x="6720840" y="1417320"/>
            <a:ext cx="1554480" cy="292608"/>
          </a:xfrm>
          <a:prstGeom prst="rect">
            <a:avLst/>
          </a:prstGeom>
          <a:noFill/>
          <a:ln/>
        </p:spPr>
        <p:txBody>
          <a:bodyPr wrap="square" lIns="0" tIns="0" rIns="0" bIns="0" rtlCol="0" anchor="ctr"/>
          <a:lstStyle/>
          <a:p>
            <a:pPr marL="0" indent="0" algn="ctr">
              <a:buNone/>
            </a:pPr>
            <a:r>
              <a:rPr lang="en-US" sz="1100" b="1" dirty="0">
                <a:solidFill>
                  <a:schemeClr val="accent1"/>
                </a:solidFill>
              </a:rPr>
              <a:t>Aprobada</a:t>
            </a:r>
            <a:endParaRPr lang="en-US" sz="1100" dirty="0"/>
          </a:p>
        </p:txBody>
      </p:sp>
      <p:sp>
        <p:nvSpPr>
          <p:cNvPr id="8" name="Text 6"/>
          <p:cNvSpPr txBox="1"/>
          <p:nvPr/>
        </p:nvSpPr>
        <p:spPr>
          <a:xfrm>
            <a:off x="685800" y="1920240"/>
            <a:ext cx="73152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R-02</a:t>
            </a:r>
            <a:endParaRPr lang="en-US" sz="1400" dirty="0"/>
          </a:p>
        </p:txBody>
      </p:sp>
      <p:sp>
        <p:nvSpPr>
          <p:cNvPr id="9" name="Text 7"/>
          <p:cNvSpPr txBox="1"/>
          <p:nvPr/>
        </p:nvSpPr>
        <p:spPr>
          <a:xfrm>
            <a:off x="1463040" y="1837944"/>
            <a:ext cx="5120640" cy="475488"/>
          </a:xfrm>
          <a:prstGeom prst="rect">
            <a:avLst/>
          </a:prstGeom>
          <a:noFill/>
          <a:ln/>
        </p:spPr>
        <p:txBody>
          <a:bodyPr wrap="square" lIns="0" tIns="0" rIns="0" bIns="0" rtlCol="0" anchor="ctr"/>
          <a:lstStyle/>
          <a:p>
            <a:pPr marL="0" indent="0">
              <a:buNone/>
            </a:pPr>
            <a:r>
              <a:rPr lang="en-US" sz="1400" dirty="0">
                <a:solidFill>
                  <a:schemeClr val="tx1"/>
                </a:solidFill>
              </a:rPr>
              <a:t>Solo PDF, PNG, JPG, DOC/DOCX y ZIP, hasta 25 MB</a:t>
            </a:r>
            <a:endParaRPr lang="en-US" sz="1400" dirty="0"/>
          </a:p>
        </p:txBody>
      </p:sp>
      <p:sp>
        <p:nvSpPr>
          <p:cNvPr id="10" name="chip"/>
          <p:cNvSpPr/>
          <p:nvPr/>
        </p:nvSpPr>
        <p:spPr>
          <a:xfrm>
            <a:off x="6720840" y="1929384"/>
            <a:ext cx="1554480" cy="292608"/>
          </a:xfrm>
          <a:prstGeom prst="roundRect">
            <a:avLst>
              <a:gd name="adj" fmla="val 50000"/>
            </a:avLst>
          </a:prstGeom>
          <a:solidFill>
            <a:schemeClr val="accent1">
              <a:alpha val="15000"/>
            </a:schemeClr>
          </a:solidFill>
          <a:ln w="9525">
            <a:solidFill>
              <a:schemeClr val="accent1"/>
            </a:solidFill>
            <a:prstDash val="solid"/>
          </a:ln>
        </p:spPr>
      </p:sp>
      <p:sp>
        <p:nvSpPr>
          <p:cNvPr id="11" name="Text 9"/>
          <p:cNvSpPr txBox="1"/>
          <p:nvPr/>
        </p:nvSpPr>
        <p:spPr>
          <a:xfrm>
            <a:off x="6720840" y="1929384"/>
            <a:ext cx="1554480" cy="292608"/>
          </a:xfrm>
          <a:prstGeom prst="rect">
            <a:avLst/>
          </a:prstGeom>
          <a:noFill/>
          <a:ln/>
        </p:spPr>
        <p:txBody>
          <a:bodyPr wrap="square" lIns="0" tIns="0" rIns="0" bIns="0" rtlCol="0" anchor="ctr"/>
          <a:lstStyle/>
          <a:p>
            <a:pPr marL="0" indent="0" algn="ctr">
              <a:buNone/>
            </a:pPr>
            <a:r>
              <a:rPr lang="en-US" sz="1100" b="1" dirty="0">
                <a:solidFill>
                  <a:schemeClr val="accent1"/>
                </a:solidFill>
              </a:rPr>
              <a:t>Aprobada</a:t>
            </a:r>
            <a:endParaRPr lang="en-US" sz="1100" dirty="0"/>
          </a:p>
        </p:txBody>
      </p:sp>
      <p:sp>
        <p:nvSpPr>
          <p:cNvPr id="12" name="fila"/>
          <p:cNvSpPr/>
          <p:nvPr/>
        </p:nvSpPr>
        <p:spPr>
          <a:xfrm>
            <a:off x="548640" y="2350008"/>
            <a:ext cx="7863840" cy="475488"/>
          </a:xfrm>
          <a:prstGeom prst="rect">
            <a:avLst/>
          </a:prstGeom>
          <a:solidFill>
            <a:schemeClr val="bg2"/>
          </a:solidFill>
          <a:ln w="12700">
            <a:solidFill>
              <a:schemeClr val="bg2"/>
            </a:solidFill>
            <a:prstDash val="solid"/>
          </a:ln>
        </p:spPr>
      </p:sp>
      <p:sp>
        <p:nvSpPr>
          <p:cNvPr id="13" name="Text 11"/>
          <p:cNvSpPr txBox="1"/>
          <p:nvPr/>
        </p:nvSpPr>
        <p:spPr>
          <a:xfrm>
            <a:off x="685800" y="2432304"/>
            <a:ext cx="73152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R-03</a:t>
            </a:r>
            <a:endParaRPr lang="en-US" sz="1400" dirty="0"/>
          </a:p>
        </p:txBody>
      </p:sp>
      <p:sp>
        <p:nvSpPr>
          <p:cNvPr id="14" name="Text 12"/>
          <p:cNvSpPr txBox="1"/>
          <p:nvPr/>
        </p:nvSpPr>
        <p:spPr>
          <a:xfrm>
            <a:off x="1463040" y="2350008"/>
            <a:ext cx="5120640" cy="475488"/>
          </a:xfrm>
          <a:prstGeom prst="rect">
            <a:avLst/>
          </a:prstGeom>
          <a:noFill/>
          <a:ln/>
        </p:spPr>
        <p:txBody>
          <a:bodyPr wrap="square" lIns="0" tIns="0" rIns="0" bIns="0" rtlCol="0" anchor="ctr"/>
          <a:lstStyle/>
          <a:p>
            <a:pPr marL="0" indent="0">
              <a:buNone/>
            </a:pPr>
            <a:r>
              <a:rPr lang="en-US" sz="1400" dirty="0">
                <a:solidFill>
                  <a:schemeClr val="tx1"/>
                </a:solidFill>
              </a:rPr>
              <a:t>El registro exige nombre, correo y contraseña de 8+ caracteres</a:t>
            </a:r>
            <a:endParaRPr lang="en-US" sz="1400" dirty="0"/>
          </a:p>
        </p:txBody>
      </p:sp>
      <p:sp>
        <p:nvSpPr>
          <p:cNvPr id="15" name="chip"/>
          <p:cNvSpPr/>
          <p:nvPr/>
        </p:nvSpPr>
        <p:spPr>
          <a:xfrm>
            <a:off x="6720840" y="2441448"/>
            <a:ext cx="1554480" cy="292608"/>
          </a:xfrm>
          <a:prstGeom prst="roundRect">
            <a:avLst>
              <a:gd name="adj" fmla="val 50000"/>
            </a:avLst>
          </a:prstGeom>
          <a:solidFill>
            <a:schemeClr val="accent1">
              <a:alpha val="15000"/>
            </a:schemeClr>
          </a:solidFill>
          <a:ln w="9525">
            <a:solidFill>
              <a:schemeClr val="accent1"/>
            </a:solidFill>
            <a:prstDash val="solid"/>
          </a:ln>
        </p:spPr>
      </p:sp>
      <p:sp>
        <p:nvSpPr>
          <p:cNvPr id="16" name="Text 14"/>
          <p:cNvSpPr txBox="1"/>
          <p:nvPr/>
        </p:nvSpPr>
        <p:spPr>
          <a:xfrm>
            <a:off x="6720840" y="2441448"/>
            <a:ext cx="1554480" cy="292608"/>
          </a:xfrm>
          <a:prstGeom prst="rect">
            <a:avLst/>
          </a:prstGeom>
          <a:noFill/>
          <a:ln/>
        </p:spPr>
        <p:txBody>
          <a:bodyPr wrap="square" lIns="0" tIns="0" rIns="0" bIns="0" rtlCol="0" anchor="ctr"/>
          <a:lstStyle/>
          <a:p>
            <a:pPr marL="0" indent="0" algn="ctr">
              <a:buNone/>
            </a:pPr>
            <a:r>
              <a:rPr lang="en-US" sz="1100" b="1" dirty="0">
                <a:solidFill>
                  <a:schemeClr val="accent1"/>
                </a:solidFill>
              </a:rPr>
              <a:t>Aprobada</a:t>
            </a:r>
            <a:endParaRPr lang="en-US" sz="1100" dirty="0"/>
          </a:p>
        </p:txBody>
      </p:sp>
      <p:sp>
        <p:nvSpPr>
          <p:cNvPr id="17" name="Text 15"/>
          <p:cNvSpPr txBox="1"/>
          <p:nvPr/>
        </p:nvSpPr>
        <p:spPr>
          <a:xfrm>
            <a:off x="685800" y="2944368"/>
            <a:ext cx="73152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R-04</a:t>
            </a:r>
            <a:endParaRPr lang="en-US" sz="1400" dirty="0"/>
          </a:p>
        </p:txBody>
      </p:sp>
      <p:sp>
        <p:nvSpPr>
          <p:cNvPr id="18" name="Text 16"/>
          <p:cNvSpPr txBox="1"/>
          <p:nvPr/>
        </p:nvSpPr>
        <p:spPr>
          <a:xfrm>
            <a:off x="1463040" y="2862072"/>
            <a:ext cx="5120640" cy="475488"/>
          </a:xfrm>
          <a:prstGeom prst="rect">
            <a:avLst/>
          </a:prstGeom>
          <a:noFill/>
          <a:ln/>
        </p:spPr>
        <p:txBody>
          <a:bodyPr wrap="square" lIns="0" tIns="0" rIns="0" bIns="0" rtlCol="0" anchor="ctr"/>
          <a:lstStyle/>
          <a:p>
            <a:pPr marL="0" indent="0">
              <a:buNone/>
            </a:pPr>
            <a:r>
              <a:rPr lang="en-US" sz="1400" dirty="0">
                <a:solidFill>
                  <a:schemeClr val="tx1"/>
                </a:solidFill>
              </a:rPr>
              <a:t>El registro público solo crea estudiantes</a:t>
            </a:r>
            <a:endParaRPr lang="en-US" sz="1400" dirty="0"/>
          </a:p>
        </p:txBody>
      </p:sp>
      <p:sp>
        <p:nvSpPr>
          <p:cNvPr id="19" name="chip"/>
          <p:cNvSpPr/>
          <p:nvPr/>
        </p:nvSpPr>
        <p:spPr>
          <a:xfrm>
            <a:off x="6720840" y="2953512"/>
            <a:ext cx="1554480" cy="292608"/>
          </a:xfrm>
          <a:prstGeom prst="roundRect">
            <a:avLst>
              <a:gd name="adj" fmla="val 50000"/>
            </a:avLst>
          </a:prstGeom>
          <a:solidFill>
            <a:schemeClr val="accent1">
              <a:alpha val="15000"/>
            </a:schemeClr>
          </a:solidFill>
          <a:ln w="9525">
            <a:solidFill>
              <a:schemeClr val="accent1"/>
            </a:solidFill>
            <a:prstDash val="solid"/>
          </a:ln>
        </p:spPr>
      </p:sp>
      <p:sp>
        <p:nvSpPr>
          <p:cNvPr id="20" name="Text 18"/>
          <p:cNvSpPr txBox="1"/>
          <p:nvPr/>
        </p:nvSpPr>
        <p:spPr>
          <a:xfrm>
            <a:off x="6720840" y="2953512"/>
            <a:ext cx="1554480" cy="292608"/>
          </a:xfrm>
          <a:prstGeom prst="rect">
            <a:avLst/>
          </a:prstGeom>
          <a:noFill/>
          <a:ln/>
        </p:spPr>
        <p:txBody>
          <a:bodyPr wrap="square" lIns="0" tIns="0" rIns="0" bIns="0" rtlCol="0" anchor="ctr"/>
          <a:lstStyle/>
          <a:p>
            <a:pPr marL="0" indent="0" algn="ctr">
              <a:buNone/>
            </a:pPr>
            <a:r>
              <a:rPr lang="en-US" sz="1100" b="1" dirty="0">
                <a:solidFill>
                  <a:schemeClr val="accent1"/>
                </a:solidFill>
              </a:rPr>
              <a:t>Aprobada</a:t>
            </a:r>
            <a:endParaRPr lang="en-US" sz="1100" dirty="0"/>
          </a:p>
        </p:txBody>
      </p:sp>
      <p:sp>
        <p:nvSpPr>
          <p:cNvPr id="21" name="fila"/>
          <p:cNvSpPr/>
          <p:nvPr/>
        </p:nvSpPr>
        <p:spPr>
          <a:xfrm>
            <a:off x="548640" y="3374136"/>
            <a:ext cx="7863840" cy="475488"/>
          </a:xfrm>
          <a:prstGeom prst="rect">
            <a:avLst/>
          </a:prstGeom>
          <a:solidFill>
            <a:schemeClr val="bg2"/>
          </a:solidFill>
          <a:ln w="12700">
            <a:solidFill>
              <a:schemeClr val="bg2"/>
            </a:solidFill>
            <a:prstDash val="solid"/>
          </a:ln>
        </p:spPr>
      </p:sp>
      <p:sp>
        <p:nvSpPr>
          <p:cNvPr id="22" name="Text 20"/>
          <p:cNvSpPr txBox="1"/>
          <p:nvPr/>
        </p:nvSpPr>
        <p:spPr>
          <a:xfrm>
            <a:off x="685800" y="3456432"/>
            <a:ext cx="73152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R-05</a:t>
            </a:r>
            <a:endParaRPr lang="en-US" sz="1400" dirty="0"/>
          </a:p>
        </p:txBody>
      </p:sp>
      <p:sp>
        <p:nvSpPr>
          <p:cNvPr id="23" name="Text 21"/>
          <p:cNvSpPr txBox="1"/>
          <p:nvPr/>
        </p:nvSpPr>
        <p:spPr>
          <a:xfrm>
            <a:off x="1463040" y="3374136"/>
            <a:ext cx="5120640" cy="475488"/>
          </a:xfrm>
          <a:prstGeom prst="rect">
            <a:avLst/>
          </a:prstGeom>
          <a:noFill/>
          <a:ln/>
        </p:spPr>
        <p:txBody>
          <a:bodyPr wrap="square" lIns="0" tIns="0" rIns="0" bIns="0" rtlCol="0" anchor="ctr"/>
          <a:lstStyle/>
          <a:p>
            <a:pPr marL="0" indent="0">
              <a:buNone/>
            </a:pPr>
            <a:r>
              <a:rPr lang="en-US" sz="1400" dirty="0">
                <a:solidFill>
                  <a:schemeClr val="tx1"/>
                </a:solidFill>
              </a:rPr>
              <a:t>El administrador no puede desactivarse a sí mismo</a:t>
            </a:r>
            <a:endParaRPr lang="en-US" sz="1400" dirty="0"/>
          </a:p>
        </p:txBody>
      </p:sp>
      <p:sp>
        <p:nvSpPr>
          <p:cNvPr id="24" name="chip"/>
          <p:cNvSpPr/>
          <p:nvPr/>
        </p:nvSpPr>
        <p:spPr>
          <a:xfrm>
            <a:off x="6720840" y="3465576"/>
            <a:ext cx="1554480" cy="292608"/>
          </a:xfrm>
          <a:prstGeom prst="roundRect">
            <a:avLst>
              <a:gd name="adj" fmla="val 50000"/>
            </a:avLst>
          </a:prstGeom>
          <a:solidFill>
            <a:schemeClr val="accent1">
              <a:alpha val="15000"/>
            </a:schemeClr>
          </a:solidFill>
          <a:ln w="9525">
            <a:solidFill>
              <a:schemeClr val="accent1"/>
            </a:solidFill>
            <a:prstDash val="solid"/>
          </a:ln>
        </p:spPr>
      </p:sp>
      <p:sp>
        <p:nvSpPr>
          <p:cNvPr id="25" name="Text 23"/>
          <p:cNvSpPr txBox="1"/>
          <p:nvPr/>
        </p:nvSpPr>
        <p:spPr>
          <a:xfrm>
            <a:off x="6720840" y="3465576"/>
            <a:ext cx="1554480" cy="292608"/>
          </a:xfrm>
          <a:prstGeom prst="rect">
            <a:avLst/>
          </a:prstGeom>
          <a:noFill/>
          <a:ln/>
        </p:spPr>
        <p:txBody>
          <a:bodyPr wrap="square" lIns="0" tIns="0" rIns="0" bIns="0" rtlCol="0" anchor="ctr"/>
          <a:lstStyle/>
          <a:p>
            <a:pPr marL="0" indent="0" algn="ctr">
              <a:buNone/>
            </a:pPr>
            <a:r>
              <a:rPr lang="en-US" sz="1100" b="1" dirty="0">
                <a:solidFill>
                  <a:schemeClr val="accent1"/>
                </a:solidFill>
              </a:rPr>
              <a:t>Aprobada</a:t>
            </a:r>
            <a:endParaRPr lang="en-US" sz="1100" dirty="0"/>
          </a:p>
        </p:txBody>
      </p:sp>
      <p:sp>
        <p:nvSpPr>
          <p:cNvPr id="26" name="Text 24"/>
          <p:cNvSpPr txBox="1"/>
          <p:nvPr/>
        </p:nvSpPr>
        <p:spPr>
          <a:xfrm>
            <a:off x="685800" y="3968496"/>
            <a:ext cx="73152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R-06</a:t>
            </a:r>
            <a:endParaRPr lang="en-US" sz="1400" dirty="0"/>
          </a:p>
        </p:txBody>
      </p:sp>
      <p:sp>
        <p:nvSpPr>
          <p:cNvPr id="27" name="Text 25"/>
          <p:cNvSpPr txBox="1"/>
          <p:nvPr/>
        </p:nvSpPr>
        <p:spPr>
          <a:xfrm>
            <a:off x="1463040" y="3886200"/>
            <a:ext cx="5120640" cy="475488"/>
          </a:xfrm>
          <a:prstGeom prst="rect">
            <a:avLst/>
          </a:prstGeom>
          <a:noFill/>
          <a:ln/>
        </p:spPr>
        <p:txBody>
          <a:bodyPr wrap="square" lIns="0" tIns="0" rIns="0" bIns="0" rtlCol="0" anchor="ctr"/>
          <a:lstStyle/>
          <a:p>
            <a:pPr marL="0" indent="0">
              <a:buNone/>
            </a:pPr>
            <a:r>
              <a:rPr lang="en-US" sz="1400" dirty="0">
                <a:solidFill>
                  <a:schemeClr val="tx1"/>
                </a:solidFill>
              </a:rPr>
              <a:t>Una asignatura desactivada sale del buscador y conserva su material</a:t>
            </a:r>
            <a:endParaRPr lang="en-US" sz="1400" dirty="0"/>
          </a:p>
        </p:txBody>
      </p:sp>
      <p:sp>
        <p:nvSpPr>
          <p:cNvPr id="28" name="chip"/>
          <p:cNvSpPr/>
          <p:nvPr/>
        </p:nvSpPr>
        <p:spPr>
          <a:xfrm>
            <a:off x="6720840" y="3977640"/>
            <a:ext cx="1554480" cy="292608"/>
          </a:xfrm>
          <a:prstGeom prst="roundRect">
            <a:avLst>
              <a:gd name="adj" fmla="val 50000"/>
            </a:avLst>
          </a:prstGeom>
          <a:solidFill>
            <a:schemeClr val="accent1">
              <a:alpha val="15000"/>
            </a:schemeClr>
          </a:solidFill>
          <a:ln w="9525">
            <a:solidFill>
              <a:schemeClr val="accent1"/>
            </a:solidFill>
            <a:prstDash val="solid"/>
          </a:ln>
        </p:spPr>
      </p:sp>
      <p:sp>
        <p:nvSpPr>
          <p:cNvPr id="29" name="Text 27"/>
          <p:cNvSpPr txBox="1"/>
          <p:nvPr/>
        </p:nvSpPr>
        <p:spPr>
          <a:xfrm>
            <a:off x="6720840" y="3977640"/>
            <a:ext cx="1554480" cy="292608"/>
          </a:xfrm>
          <a:prstGeom prst="rect">
            <a:avLst/>
          </a:prstGeom>
          <a:noFill/>
          <a:ln/>
        </p:spPr>
        <p:txBody>
          <a:bodyPr wrap="square" lIns="0" tIns="0" rIns="0" bIns="0" rtlCol="0" anchor="ctr"/>
          <a:lstStyle/>
          <a:p>
            <a:pPr marL="0" indent="0" algn="ctr">
              <a:buNone/>
            </a:pPr>
            <a:r>
              <a:rPr lang="en-US" sz="1100" b="1" dirty="0">
                <a:solidFill>
                  <a:schemeClr val="accent1"/>
                </a:solidFill>
              </a:rPr>
              <a:t>Aprobada</a:t>
            </a:r>
            <a:endParaRPr lang="en-US" sz="1100" dirty="0"/>
          </a:p>
        </p:txBody>
      </p:sp>
      <p:sp>
        <p:nvSpPr>
          <p:cNvPr id="30" name="fila"/>
          <p:cNvSpPr/>
          <p:nvPr/>
        </p:nvSpPr>
        <p:spPr>
          <a:xfrm>
            <a:off x="548640" y="4398264"/>
            <a:ext cx="7863840" cy="475488"/>
          </a:xfrm>
          <a:prstGeom prst="rect">
            <a:avLst/>
          </a:prstGeom>
          <a:solidFill>
            <a:schemeClr val="bg2"/>
          </a:solidFill>
          <a:ln w="12700">
            <a:solidFill>
              <a:schemeClr val="bg2"/>
            </a:solidFill>
            <a:prstDash val="solid"/>
          </a:ln>
        </p:spPr>
      </p:sp>
      <p:sp>
        <p:nvSpPr>
          <p:cNvPr id="31" name="Text 29"/>
          <p:cNvSpPr txBox="1"/>
          <p:nvPr/>
        </p:nvSpPr>
        <p:spPr>
          <a:xfrm>
            <a:off x="685800" y="4480560"/>
            <a:ext cx="73152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R-07</a:t>
            </a:r>
            <a:endParaRPr lang="en-US" sz="1400" dirty="0"/>
          </a:p>
        </p:txBody>
      </p:sp>
      <p:sp>
        <p:nvSpPr>
          <p:cNvPr id="32" name="Text 30"/>
          <p:cNvSpPr txBox="1"/>
          <p:nvPr/>
        </p:nvSpPr>
        <p:spPr>
          <a:xfrm>
            <a:off x="1463040" y="4398264"/>
            <a:ext cx="5120640" cy="475488"/>
          </a:xfrm>
          <a:prstGeom prst="rect">
            <a:avLst/>
          </a:prstGeom>
          <a:noFill/>
          <a:ln/>
        </p:spPr>
        <p:txBody>
          <a:bodyPr wrap="square" lIns="0" tIns="0" rIns="0" bIns="0" rtlCol="0" anchor="ctr"/>
          <a:lstStyle/>
          <a:p>
            <a:pPr marL="0" indent="0">
              <a:buNone/>
            </a:pPr>
            <a:r>
              <a:rPr lang="en-US" sz="1400" dirty="0">
                <a:solidFill>
                  <a:schemeClr val="tx1"/>
                </a:solidFill>
              </a:rPr>
              <a:t>Una cuenta desactivada sigue activa hasta que vence su token (8 h)</a:t>
            </a:r>
            <a:endParaRPr lang="en-US" sz="1400" dirty="0"/>
          </a:p>
        </p:txBody>
      </p:sp>
      <p:sp>
        <p:nvSpPr>
          <p:cNvPr id="33" name="chip"/>
          <p:cNvSpPr/>
          <p:nvPr/>
        </p:nvSpPr>
        <p:spPr>
          <a:xfrm>
            <a:off x="6720840" y="4489704"/>
            <a:ext cx="1554480" cy="292608"/>
          </a:xfrm>
          <a:prstGeom prst="roundRect">
            <a:avLst>
              <a:gd name="adj" fmla="val 50000"/>
            </a:avLst>
          </a:prstGeom>
          <a:solidFill>
            <a:schemeClr val="accent5">
              <a:alpha val="15000"/>
            </a:schemeClr>
          </a:solidFill>
          <a:ln w="9525">
            <a:solidFill>
              <a:schemeClr val="accent5"/>
            </a:solidFill>
            <a:prstDash val="solid"/>
          </a:ln>
        </p:spPr>
      </p:sp>
      <p:sp>
        <p:nvSpPr>
          <p:cNvPr id="34" name="Text 32"/>
          <p:cNvSpPr txBox="1"/>
          <p:nvPr/>
        </p:nvSpPr>
        <p:spPr>
          <a:xfrm>
            <a:off x="6720840" y="4489704"/>
            <a:ext cx="1554480" cy="292608"/>
          </a:xfrm>
          <a:prstGeom prst="rect">
            <a:avLst/>
          </a:prstGeom>
          <a:noFill/>
          <a:ln/>
        </p:spPr>
        <p:txBody>
          <a:bodyPr wrap="square" lIns="0" tIns="0" rIns="0" bIns="0" rtlCol="0" anchor="ctr"/>
          <a:lstStyle/>
          <a:p>
            <a:pPr marL="0" indent="0" algn="ctr">
              <a:buNone/>
            </a:pPr>
            <a:r>
              <a:rPr lang="en-US" sz="1100" b="1" dirty="0">
                <a:solidFill>
                  <a:schemeClr val="accent5"/>
                </a:solidFill>
              </a:rPr>
              <a:t>Riesgo aceptado</a:t>
            </a:r>
            <a:endParaRPr lang="en-US" sz="1100" dirty="0"/>
          </a:p>
        </p:txBody>
      </p:sp>
      <p:sp>
        <p:nvSpPr>
          <p:cNvPr id="35" name="Text 33"/>
          <p:cNvSpPr txBox="1"/>
          <p:nvPr/>
        </p:nvSpPr>
        <p:spPr>
          <a:xfrm>
            <a:off x="685800" y="4992624"/>
            <a:ext cx="73152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R-08</a:t>
            </a:r>
            <a:endParaRPr lang="en-US" sz="1400" dirty="0"/>
          </a:p>
        </p:txBody>
      </p:sp>
      <p:sp>
        <p:nvSpPr>
          <p:cNvPr id="36" name="Text 34"/>
          <p:cNvSpPr txBox="1"/>
          <p:nvPr/>
        </p:nvSpPr>
        <p:spPr>
          <a:xfrm>
            <a:off x="1463040" y="4910328"/>
            <a:ext cx="5120640" cy="475488"/>
          </a:xfrm>
          <a:prstGeom prst="rect">
            <a:avLst/>
          </a:prstGeom>
          <a:noFill/>
          <a:ln/>
        </p:spPr>
        <p:txBody>
          <a:bodyPr wrap="square" lIns="0" tIns="0" rIns="0" bIns="0" rtlCol="0" anchor="ctr"/>
          <a:lstStyle/>
          <a:p>
            <a:pPr marL="0" indent="0">
              <a:buNone/>
            </a:pPr>
            <a:r>
              <a:rPr lang="en-US" sz="1400" dirty="0">
                <a:solidFill>
                  <a:schemeClr val="tx1"/>
                </a:solidFill>
              </a:rPr>
              <a:t>El autor de un material anónimo no se muestra ni al administrador</a:t>
            </a:r>
            <a:endParaRPr lang="en-US" sz="1400" dirty="0"/>
          </a:p>
        </p:txBody>
      </p:sp>
      <p:sp>
        <p:nvSpPr>
          <p:cNvPr id="37" name="chip"/>
          <p:cNvSpPr/>
          <p:nvPr/>
        </p:nvSpPr>
        <p:spPr>
          <a:xfrm>
            <a:off x="6720840" y="5001768"/>
            <a:ext cx="1554480" cy="292608"/>
          </a:xfrm>
          <a:prstGeom prst="roundRect">
            <a:avLst>
              <a:gd name="adj" fmla="val 50000"/>
            </a:avLst>
          </a:prstGeom>
          <a:solidFill>
            <a:schemeClr val="accent2">
              <a:alpha val="15000"/>
            </a:schemeClr>
          </a:solidFill>
          <a:ln w="9525">
            <a:solidFill>
              <a:schemeClr val="accent2"/>
            </a:solidFill>
            <a:prstDash val="solid"/>
          </a:ln>
        </p:spPr>
      </p:sp>
      <p:sp>
        <p:nvSpPr>
          <p:cNvPr id="38" name="Text 36"/>
          <p:cNvSpPr txBox="1"/>
          <p:nvPr/>
        </p:nvSpPr>
        <p:spPr>
          <a:xfrm>
            <a:off x="6720840" y="5001768"/>
            <a:ext cx="1554480" cy="292608"/>
          </a:xfrm>
          <a:prstGeom prst="rect">
            <a:avLst/>
          </a:prstGeom>
          <a:noFill/>
          <a:ln/>
        </p:spPr>
        <p:txBody>
          <a:bodyPr wrap="square" lIns="0" tIns="0" rIns="0" bIns="0" rtlCol="0" anchor="ctr"/>
          <a:lstStyle/>
          <a:p>
            <a:pPr marL="0" indent="0" algn="ctr">
              <a:buNone/>
            </a:pPr>
            <a:r>
              <a:rPr lang="en-US" sz="1100" b="1" dirty="0">
                <a:solidFill>
                  <a:schemeClr val="accent2"/>
                </a:solidFill>
              </a:rPr>
              <a:t>Propuesta</a:t>
            </a:r>
            <a:endParaRPr lang="en-US" sz="1100" dirty="0"/>
          </a:p>
        </p:txBody>
      </p:sp>
      <p:sp>
        <p:nvSpPr>
          <p:cNvPr id="39" name="fila"/>
          <p:cNvSpPr/>
          <p:nvPr/>
        </p:nvSpPr>
        <p:spPr>
          <a:xfrm>
            <a:off x="548640" y="5422392"/>
            <a:ext cx="7863840" cy="475488"/>
          </a:xfrm>
          <a:prstGeom prst="rect">
            <a:avLst/>
          </a:prstGeom>
          <a:solidFill>
            <a:schemeClr val="bg2"/>
          </a:solidFill>
          <a:ln w="12700">
            <a:solidFill>
              <a:schemeClr val="bg2"/>
            </a:solidFill>
            <a:prstDash val="solid"/>
          </a:ln>
        </p:spPr>
      </p:sp>
      <p:sp>
        <p:nvSpPr>
          <p:cNvPr id="40" name="Text 38"/>
          <p:cNvSpPr txBox="1"/>
          <p:nvPr/>
        </p:nvSpPr>
        <p:spPr>
          <a:xfrm>
            <a:off x="685800" y="5504688"/>
            <a:ext cx="73152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R-09</a:t>
            </a:r>
            <a:endParaRPr lang="en-US" sz="1400" dirty="0"/>
          </a:p>
        </p:txBody>
      </p:sp>
      <p:sp>
        <p:nvSpPr>
          <p:cNvPr id="41" name="Text 39"/>
          <p:cNvSpPr txBox="1"/>
          <p:nvPr/>
        </p:nvSpPr>
        <p:spPr>
          <a:xfrm>
            <a:off x="1463040" y="5422392"/>
            <a:ext cx="5120640" cy="475488"/>
          </a:xfrm>
          <a:prstGeom prst="rect">
            <a:avLst/>
          </a:prstGeom>
          <a:noFill/>
          <a:ln/>
        </p:spPr>
        <p:txBody>
          <a:bodyPr wrap="square" lIns="0" tIns="0" rIns="0" bIns="0" rtlCol="0" anchor="ctr"/>
          <a:lstStyle/>
          <a:p>
            <a:pPr marL="0" indent="0">
              <a:buNone/>
            </a:pPr>
            <a:r>
              <a:rPr lang="en-US" sz="1400" dirty="0">
                <a:solidFill>
                  <a:schemeClr val="tx1"/>
                </a:solidFill>
              </a:rPr>
              <a:t>La búsqueda va por palabras, sin distinguir tildes ni mayúsculas</a:t>
            </a:r>
            <a:endParaRPr lang="en-US" sz="1400" dirty="0"/>
          </a:p>
        </p:txBody>
      </p:sp>
      <p:sp>
        <p:nvSpPr>
          <p:cNvPr id="42" name="chip"/>
          <p:cNvSpPr/>
          <p:nvPr/>
        </p:nvSpPr>
        <p:spPr>
          <a:xfrm>
            <a:off x="6720840" y="5513832"/>
            <a:ext cx="1554480" cy="292608"/>
          </a:xfrm>
          <a:prstGeom prst="roundRect">
            <a:avLst>
              <a:gd name="adj" fmla="val 50000"/>
            </a:avLst>
          </a:prstGeom>
          <a:solidFill>
            <a:schemeClr val="accent2">
              <a:alpha val="15000"/>
            </a:schemeClr>
          </a:solidFill>
          <a:ln w="9525">
            <a:solidFill>
              <a:schemeClr val="accent2"/>
            </a:solidFill>
            <a:prstDash val="solid"/>
          </a:ln>
        </p:spPr>
      </p:sp>
      <p:sp>
        <p:nvSpPr>
          <p:cNvPr id="43" name="Text 41"/>
          <p:cNvSpPr txBox="1"/>
          <p:nvPr/>
        </p:nvSpPr>
        <p:spPr>
          <a:xfrm>
            <a:off x="6720840" y="5513832"/>
            <a:ext cx="1554480" cy="292608"/>
          </a:xfrm>
          <a:prstGeom prst="rect">
            <a:avLst/>
          </a:prstGeom>
          <a:noFill/>
          <a:ln/>
        </p:spPr>
        <p:txBody>
          <a:bodyPr wrap="square" lIns="0" tIns="0" rIns="0" bIns="0" rtlCol="0" anchor="ctr"/>
          <a:lstStyle/>
          <a:p>
            <a:pPr marL="0" indent="0" algn="ctr">
              <a:buNone/>
            </a:pPr>
            <a:r>
              <a:rPr lang="en-US" sz="1100" b="1" dirty="0">
                <a:solidFill>
                  <a:schemeClr val="accent2"/>
                </a:solidFill>
              </a:rPr>
              <a:t>Propuesta</a:t>
            </a:r>
            <a:endParaRPr lang="en-US" sz="1100" dirty="0"/>
          </a:p>
        </p:txBody>
      </p:sp>
      <p:sp>
        <p:nvSpPr>
          <p:cNvPr id="44" name="card"/>
          <p:cNvSpPr/>
          <p:nvPr/>
        </p:nvSpPr>
        <p:spPr>
          <a:xfrm>
            <a:off x="8732520" y="1325880"/>
            <a:ext cx="2907792" cy="4553712"/>
          </a:xfrm>
          <a:prstGeom prst="roundRect">
            <a:avLst>
              <a:gd name="adj" fmla="val 3774"/>
            </a:avLst>
          </a:prstGeom>
          <a:solidFill>
            <a:schemeClr val="bg2"/>
          </a:solidFill>
          <a:ln w="9525">
            <a:solidFill>
              <a:schemeClr val="accent6"/>
            </a:solidFill>
            <a:prstDash val="solid"/>
          </a:ln>
        </p:spPr>
      </p:sp>
      <p:sp>
        <p:nvSpPr>
          <p:cNvPr id="45" name="Text 43"/>
          <p:cNvSpPr txBox="1"/>
          <p:nvPr/>
        </p:nvSpPr>
        <p:spPr>
          <a:xfrm>
            <a:off x="8961120" y="4343400"/>
            <a:ext cx="2468880" cy="13258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7 de 9</a:t>
            </a:r>
            <a:endParaRPr lang="en-US" sz="3600" dirty="0"/>
          </a:p>
          <a:p>
            <a:pPr marL="0" indent="0">
              <a:buNone/>
            </a:pPr>
            <a:r>
              <a:rPr lang="en-US" sz="1300" dirty="0">
                <a:solidFill>
                  <a:schemeClr val="tx2"/>
                </a:solidFill>
              </a:rPr>
              <a:t>aprobadas (una como riesgo aceptado); 2 propuestas</a:t>
            </a:r>
            <a:endParaRPr lang="en-US" sz="3600" dirty="0"/>
          </a:p>
        </p:txBody>
      </p:sp>
      <p:sp>
        <p:nvSpPr>
          <p:cNvPr id="46" name="Text 44"/>
          <p:cNvSpPr txBox="1"/>
          <p:nvPr/>
        </p:nvSpPr>
        <p:spPr>
          <a:xfrm>
            <a:off x="8961120" y="1554480"/>
            <a:ext cx="2468880" cy="2651760"/>
          </a:xfrm>
          <a:prstGeom prst="rect">
            <a:avLst/>
          </a:prstGeom>
          <a:noFill/>
          <a:ln/>
        </p:spPr>
        <p:txBody>
          <a:bodyPr wrap="square" lIns="0" tIns="0" rIns="0" bIns="0" rtlCol="0" anchor="t"/>
          <a:lstStyle/>
          <a:p>
            <a:pPr marL="0" indent="0">
              <a:spcAft>
                <a:spcPts val="1200"/>
              </a:spcAft>
              <a:buNone/>
            </a:pPr>
            <a:r>
              <a:rPr lang="en-US" sz="1800" b="1" dirty="0">
                <a:solidFill>
                  <a:schemeClr val="tx1"/>
                </a:solidFill>
              </a:rPr>
              <a:t>¿Por qué importa?</a:t>
            </a:r>
            <a:endParaRPr lang="en-US" sz="1800" dirty="0"/>
          </a:p>
          <a:p>
            <a:pPr marL="0" indent="0">
              <a:spcAft>
                <a:spcPts val="1200"/>
              </a:spcAft>
              <a:buNone/>
            </a:pPr>
            <a:r>
              <a:rPr lang="en-US" sz="1400" dirty="0">
                <a:solidFill>
                  <a:schemeClr val="tx2"/>
                </a:solidFill>
              </a:rPr>
              <a:t>Estas reglas ya funcionaban en el código, pero no estaban en el documento. Si no se escriben, nadie sabrá revisarlas cuando cambie un requerimiento.</a:t>
            </a:r>
            <a:endParaRPr lang="en-US" sz="1800" dirty="0"/>
          </a:p>
          <a:p>
            <a:pPr marL="0" indent="0">
              <a:spcAft>
                <a:spcPts val="1200"/>
              </a:spcAft>
              <a:buNone/>
            </a:pPr>
            <a:r>
              <a:rPr lang="en-US" sz="1400" b="1" dirty="0">
                <a:solidFill>
                  <a:schemeClr val="accent1"/>
                </a:solidFill>
              </a:rPr>
              <a:t>Ahora están en la sección 6.3 de la versión 2 del documento del proyecto.</a:t>
            </a:r>
            <a:endParaRPr lang="en-US" sz="1800" dirty="0"/>
          </a:p>
        </p:txBody>
      </p:sp>
      <p:sp>
        <p:nvSpPr>
          <p:cNvPr id="47"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Pruebas automáticas</a:t>
            </a:r>
            <a:endParaRPr lang="en-US" sz="3200" dirty="0"/>
          </a:p>
        </p:txBody>
      </p:sp>
      <p:sp>
        <p:nvSpPr>
          <p:cNvPr id="3" name="card"/>
          <p:cNvSpPr/>
          <p:nvPr/>
        </p:nvSpPr>
        <p:spPr>
          <a:xfrm>
            <a:off x="548640" y="1463040"/>
            <a:ext cx="2578608" cy="3108960"/>
          </a:xfrm>
          <a:prstGeom prst="roundRect">
            <a:avLst>
              <a:gd name="adj" fmla="val 4255"/>
            </a:avLst>
          </a:prstGeom>
          <a:solidFill>
            <a:schemeClr val="bg1"/>
          </a:solidFill>
          <a:ln w="9525">
            <a:solidFill>
              <a:schemeClr val="accent6"/>
            </a:solidFill>
            <a:prstDash val="solid"/>
          </a:ln>
        </p:spPr>
      </p:sp>
      <p:sp>
        <p:nvSpPr>
          <p:cNvPr id="4" name="Text 2"/>
          <p:cNvSpPr txBox="1"/>
          <p:nvPr/>
        </p:nvSpPr>
        <p:spPr>
          <a:xfrm>
            <a:off x="777240" y="1691640"/>
            <a:ext cx="2121408" cy="320040"/>
          </a:xfrm>
          <a:prstGeom prst="rect">
            <a:avLst/>
          </a:prstGeom>
          <a:noFill/>
          <a:ln/>
        </p:spPr>
        <p:txBody>
          <a:bodyPr wrap="square" lIns="0" tIns="0" rIns="0" bIns="0" rtlCol="0" anchor="ctr"/>
          <a:lstStyle/>
          <a:p>
            <a:pPr marL="0" indent="0">
              <a:buNone/>
            </a:pPr>
            <a:r>
              <a:rPr lang="en-US" sz="1300" b="1" dirty="0">
                <a:solidFill>
                  <a:schemeClr val="tx2"/>
                </a:solidFill>
                <a:latin typeface="Courier New" pitchFamily="34" charset="0"/>
                <a:ea typeface="Courier New" pitchFamily="34" charset="-122"/>
                <a:cs typeface="Courier New" pitchFamily="34" charset="-120"/>
              </a:rPr>
              <a:t>npm test</a:t>
            </a:r>
            <a:endParaRPr lang="en-US" sz="1300" dirty="0"/>
          </a:p>
        </p:txBody>
      </p:sp>
      <p:sp>
        <p:nvSpPr>
          <p:cNvPr id="5" name="Text 3"/>
          <p:cNvSpPr txBox="1"/>
          <p:nvPr/>
        </p:nvSpPr>
        <p:spPr>
          <a:xfrm>
            <a:off x="777240" y="2148840"/>
            <a:ext cx="2121408" cy="82296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8 / 8</a:t>
            </a:r>
            <a:endParaRPr lang="en-US" sz="4000" dirty="0"/>
          </a:p>
        </p:txBody>
      </p:sp>
      <p:sp>
        <p:nvSpPr>
          <p:cNvPr id="6" name="Text 4"/>
          <p:cNvSpPr txBox="1"/>
          <p:nvPr/>
        </p:nvSpPr>
        <p:spPr>
          <a:xfrm>
            <a:off x="777240" y="3108960"/>
            <a:ext cx="2121408" cy="1280160"/>
          </a:xfrm>
          <a:prstGeom prst="rect">
            <a:avLst/>
          </a:prstGeom>
          <a:noFill/>
          <a:ln/>
        </p:spPr>
        <p:txBody>
          <a:bodyPr wrap="square" lIns="0" tIns="0" rIns="0" bIns="0" rtlCol="0" anchor="t"/>
          <a:lstStyle/>
          <a:p>
            <a:pPr marL="0" indent="0">
              <a:buNone/>
            </a:pPr>
            <a:r>
              <a:rPr lang="en-US" sz="1400" dirty="0">
                <a:solidFill>
                  <a:schemeClr val="tx2"/>
                </a:solidFill>
              </a:rPr>
              <a:t>API sin base de datos: control de acceso por rol y validaciones</a:t>
            </a:r>
            <a:endParaRPr lang="en-US" sz="1400" dirty="0"/>
          </a:p>
        </p:txBody>
      </p:sp>
      <p:sp>
        <p:nvSpPr>
          <p:cNvPr id="7" name="card"/>
          <p:cNvSpPr/>
          <p:nvPr/>
        </p:nvSpPr>
        <p:spPr>
          <a:xfrm>
            <a:off x="3355848" y="1463040"/>
            <a:ext cx="2578608" cy="3108960"/>
          </a:xfrm>
          <a:prstGeom prst="roundRect">
            <a:avLst>
              <a:gd name="adj" fmla="val 4255"/>
            </a:avLst>
          </a:prstGeom>
          <a:solidFill>
            <a:schemeClr val="bg1"/>
          </a:solidFill>
          <a:ln w="9525">
            <a:solidFill>
              <a:schemeClr val="accent6"/>
            </a:solidFill>
            <a:prstDash val="solid"/>
          </a:ln>
        </p:spPr>
      </p:sp>
      <p:sp>
        <p:nvSpPr>
          <p:cNvPr id="8" name="Text 6"/>
          <p:cNvSpPr txBox="1"/>
          <p:nvPr/>
        </p:nvSpPr>
        <p:spPr>
          <a:xfrm>
            <a:off x="3584448" y="1691640"/>
            <a:ext cx="2121408" cy="320040"/>
          </a:xfrm>
          <a:prstGeom prst="rect">
            <a:avLst/>
          </a:prstGeom>
          <a:noFill/>
          <a:ln/>
        </p:spPr>
        <p:txBody>
          <a:bodyPr wrap="square" lIns="0" tIns="0" rIns="0" bIns="0" rtlCol="0" anchor="ctr"/>
          <a:lstStyle/>
          <a:p>
            <a:pPr marL="0" indent="0">
              <a:buNone/>
            </a:pPr>
            <a:r>
              <a:rPr lang="en-US" sz="1300" b="1" dirty="0">
                <a:solidFill>
                  <a:schemeClr val="tx2"/>
                </a:solidFill>
                <a:latin typeface="Courier New" pitchFamily="34" charset="0"/>
                <a:ea typeface="Courier New" pitchFamily="34" charset="-122"/>
                <a:cs typeface="Courier New" pitchFamily="34" charset="-120"/>
              </a:rPr>
              <a:t>npm run test:e2e</a:t>
            </a:r>
            <a:endParaRPr lang="en-US" sz="1300" dirty="0"/>
          </a:p>
        </p:txBody>
      </p:sp>
      <p:sp>
        <p:nvSpPr>
          <p:cNvPr id="9" name="Text 7"/>
          <p:cNvSpPr txBox="1"/>
          <p:nvPr/>
        </p:nvSpPr>
        <p:spPr>
          <a:xfrm>
            <a:off x="3584448" y="2148840"/>
            <a:ext cx="2121408" cy="82296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15 / 15</a:t>
            </a:r>
            <a:endParaRPr lang="en-US" sz="4000" dirty="0"/>
          </a:p>
        </p:txBody>
      </p:sp>
      <p:sp>
        <p:nvSpPr>
          <p:cNvPr id="10" name="Text 8"/>
          <p:cNvSpPr txBox="1"/>
          <p:nvPr/>
        </p:nvSpPr>
        <p:spPr>
          <a:xfrm>
            <a:off x="3584448" y="3108960"/>
            <a:ext cx="2121408" cy="1280160"/>
          </a:xfrm>
          <a:prstGeom prst="rect">
            <a:avLst/>
          </a:prstGeom>
          <a:noFill/>
          <a:ln/>
        </p:spPr>
        <p:txBody>
          <a:bodyPr wrap="square" lIns="0" tIns="0" rIns="0" bIns="0" rtlCol="0" anchor="t"/>
          <a:lstStyle/>
          <a:p>
            <a:pPr marL="0" indent="0">
              <a:buNone/>
            </a:pPr>
            <a:r>
              <a:rPr lang="en-US" sz="1400" dirty="0">
                <a:solidFill>
                  <a:schemeClr val="tx2"/>
                </a:solidFill>
              </a:rPr>
              <a:t>API contra PostgreSQL 16: criterios de aceptación de RF-01 a RF-13</a:t>
            </a:r>
            <a:endParaRPr lang="en-US" sz="1400" dirty="0"/>
          </a:p>
        </p:txBody>
      </p:sp>
      <p:sp>
        <p:nvSpPr>
          <p:cNvPr id="11" name="card"/>
          <p:cNvSpPr/>
          <p:nvPr/>
        </p:nvSpPr>
        <p:spPr>
          <a:xfrm>
            <a:off x="6163056" y="1463040"/>
            <a:ext cx="2578608" cy="3108960"/>
          </a:xfrm>
          <a:prstGeom prst="roundRect">
            <a:avLst>
              <a:gd name="adj" fmla="val 4255"/>
            </a:avLst>
          </a:prstGeom>
          <a:solidFill>
            <a:schemeClr val="bg1"/>
          </a:solidFill>
          <a:ln w="9525">
            <a:solidFill>
              <a:schemeClr val="accent6"/>
            </a:solidFill>
            <a:prstDash val="solid"/>
          </a:ln>
        </p:spPr>
      </p:sp>
      <p:sp>
        <p:nvSpPr>
          <p:cNvPr id="12" name="Text 10"/>
          <p:cNvSpPr txBox="1"/>
          <p:nvPr/>
        </p:nvSpPr>
        <p:spPr>
          <a:xfrm>
            <a:off x="6391656" y="1691640"/>
            <a:ext cx="2121408" cy="320040"/>
          </a:xfrm>
          <a:prstGeom prst="rect">
            <a:avLst/>
          </a:prstGeom>
          <a:noFill/>
          <a:ln/>
        </p:spPr>
        <p:txBody>
          <a:bodyPr wrap="square" lIns="0" tIns="0" rIns="0" bIns="0" rtlCol="0" anchor="ctr"/>
          <a:lstStyle/>
          <a:p>
            <a:pPr marL="0" indent="0">
              <a:buNone/>
            </a:pPr>
            <a:r>
              <a:rPr lang="en-US" sz="1300" b="1" dirty="0">
                <a:solidFill>
                  <a:schemeClr val="tx2"/>
                </a:solidFill>
                <a:latin typeface="Courier New" pitchFamily="34" charset="0"/>
                <a:ea typeface="Courier New" pitchFamily="34" charset="-122"/>
                <a:cs typeface="Courier New" pitchFamily="34" charset="-120"/>
              </a:rPr>
              <a:t>flutter test</a:t>
            </a:r>
            <a:endParaRPr lang="en-US" sz="1300" dirty="0"/>
          </a:p>
        </p:txBody>
      </p:sp>
      <p:sp>
        <p:nvSpPr>
          <p:cNvPr id="13" name="Text 11"/>
          <p:cNvSpPr txBox="1"/>
          <p:nvPr/>
        </p:nvSpPr>
        <p:spPr>
          <a:xfrm>
            <a:off x="6391656" y="2148840"/>
            <a:ext cx="2121408" cy="82296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17 / 17</a:t>
            </a:r>
            <a:endParaRPr lang="en-US" sz="4000" dirty="0"/>
          </a:p>
        </p:txBody>
      </p:sp>
      <p:sp>
        <p:nvSpPr>
          <p:cNvPr id="14" name="Text 12"/>
          <p:cNvSpPr txBox="1"/>
          <p:nvPr/>
        </p:nvSpPr>
        <p:spPr>
          <a:xfrm>
            <a:off x="6391656" y="3108960"/>
            <a:ext cx="2121408" cy="1280160"/>
          </a:xfrm>
          <a:prstGeom prst="rect">
            <a:avLst/>
          </a:prstGeom>
          <a:noFill/>
          <a:ln/>
        </p:spPr>
        <p:txBody>
          <a:bodyPr wrap="square" lIns="0" tIns="0" rIns="0" bIns="0" rtlCol="0" anchor="t"/>
          <a:lstStyle/>
          <a:p>
            <a:pPr marL="0" indent="0">
              <a:buNone/>
            </a:pPr>
            <a:r>
              <a:rPr lang="en-US" sz="1400" dirty="0">
                <a:solidFill>
                  <a:schemeClr val="tx2"/>
                </a:solidFill>
              </a:rPr>
              <a:t>Pruebas de widgets: vista a 360 px y correcciones H-03 a H-07</a:t>
            </a:r>
            <a:endParaRPr lang="en-US" sz="1400" dirty="0"/>
          </a:p>
        </p:txBody>
      </p:sp>
      <p:sp>
        <p:nvSpPr>
          <p:cNvPr id="15" name="card"/>
          <p:cNvSpPr/>
          <p:nvPr/>
        </p:nvSpPr>
        <p:spPr>
          <a:xfrm>
            <a:off x="8970264" y="1463040"/>
            <a:ext cx="2578608" cy="3108960"/>
          </a:xfrm>
          <a:prstGeom prst="roundRect">
            <a:avLst>
              <a:gd name="adj" fmla="val 4255"/>
            </a:avLst>
          </a:prstGeom>
          <a:solidFill>
            <a:schemeClr val="bg1"/>
          </a:solidFill>
          <a:ln w="9525">
            <a:solidFill>
              <a:schemeClr val="accent6"/>
            </a:solidFill>
            <a:prstDash val="solid"/>
          </a:ln>
        </p:spPr>
      </p:sp>
      <p:sp>
        <p:nvSpPr>
          <p:cNvPr id="16" name="Text 14"/>
          <p:cNvSpPr txBox="1"/>
          <p:nvPr/>
        </p:nvSpPr>
        <p:spPr>
          <a:xfrm>
            <a:off x="9198864" y="1691640"/>
            <a:ext cx="2121408" cy="320040"/>
          </a:xfrm>
          <a:prstGeom prst="rect">
            <a:avLst/>
          </a:prstGeom>
          <a:noFill/>
          <a:ln/>
        </p:spPr>
        <p:txBody>
          <a:bodyPr wrap="square" lIns="0" tIns="0" rIns="0" bIns="0" rtlCol="0" anchor="ctr"/>
          <a:lstStyle/>
          <a:p>
            <a:pPr marL="0" indent="0">
              <a:buNone/>
            </a:pPr>
            <a:r>
              <a:rPr lang="en-US" sz="1300" b="1" dirty="0">
                <a:solidFill>
                  <a:schemeClr val="tx2"/>
                </a:solidFill>
                <a:latin typeface="Courier New" pitchFamily="34" charset="0"/>
                <a:ea typeface="Courier New" pitchFamily="34" charset="-122"/>
                <a:cs typeface="Courier New" pitchFamily="34" charset="-120"/>
              </a:rPr>
              <a:t>flutter analyze</a:t>
            </a:r>
            <a:endParaRPr lang="en-US" sz="1300" dirty="0"/>
          </a:p>
        </p:txBody>
      </p:sp>
      <p:sp>
        <p:nvSpPr>
          <p:cNvPr id="17" name="Text 15"/>
          <p:cNvSpPr txBox="1"/>
          <p:nvPr/>
        </p:nvSpPr>
        <p:spPr>
          <a:xfrm>
            <a:off x="9198864" y="2148840"/>
            <a:ext cx="2121408" cy="82296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0 avisos</a:t>
            </a:r>
            <a:endParaRPr lang="en-US" sz="4000" dirty="0"/>
          </a:p>
        </p:txBody>
      </p:sp>
      <p:sp>
        <p:nvSpPr>
          <p:cNvPr id="18" name="Text 16"/>
          <p:cNvSpPr txBox="1"/>
          <p:nvPr/>
        </p:nvSpPr>
        <p:spPr>
          <a:xfrm>
            <a:off x="9198864" y="3108960"/>
            <a:ext cx="2121408" cy="1280160"/>
          </a:xfrm>
          <a:prstGeom prst="rect">
            <a:avLst/>
          </a:prstGeom>
          <a:noFill/>
          <a:ln/>
        </p:spPr>
        <p:txBody>
          <a:bodyPr wrap="square" lIns="0" tIns="0" rIns="0" bIns="0" rtlCol="0" anchor="t"/>
          <a:lstStyle/>
          <a:p>
            <a:pPr marL="0" indent="0">
              <a:buNone/>
            </a:pPr>
            <a:r>
              <a:rPr lang="en-US" sz="1400" dirty="0">
                <a:solidFill>
                  <a:schemeClr val="tx2"/>
                </a:solidFill>
              </a:rPr>
              <a:t>Con Flutter 3.24.1 y 3.47.7; flutter build web compila</a:t>
            </a:r>
            <a:endParaRPr lang="en-US" sz="1400" dirty="0"/>
          </a:p>
        </p:txBody>
      </p:sp>
      <p:sp>
        <p:nvSpPr>
          <p:cNvPr id="19" name="Text 17"/>
          <p:cNvSpPr txBox="1"/>
          <p:nvPr/>
        </p:nvSpPr>
        <p:spPr>
          <a:xfrm>
            <a:off x="548640" y="4892040"/>
            <a:ext cx="11094415" cy="822960"/>
          </a:xfrm>
          <a:prstGeom prst="rect">
            <a:avLst/>
          </a:prstGeom>
          <a:noFill/>
          <a:ln/>
        </p:spPr>
        <p:txBody>
          <a:bodyPr wrap="square" lIns="0" tIns="0" rIns="0" bIns="0" rtlCol="0" anchor="t"/>
          <a:lstStyle/>
          <a:p>
            <a:pPr marL="0" indent="0">
              <a:buNone/>
            </a:pPr>
            <a:r>
              <a:rPr lang="en-US" sz="1500" b="1" dirty="0">
                <a:solidFill>
                  <a:schemeClr val="tx1"/>
                </a:solidFill>
              </a:rPr>
              <a:t>Cobertura: </a:t>
            </a:r>
            <a:r>
              <a:rPr lang="en-US" sz="1500" dirty="0">
                <a:solidFill>
                  <a:schemeClr val="tx1"/>
                </a:solidFill>
              </a:rPr>
              <a:t>los 13 requerimientos funcionales y RNF-03, RNF-04 y RNF-05 tienen prueba automática. RNF-01 y RNF-07 se verifican por observación y RNF-02 con un script de carga.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Validación con estudiantes: pendiente</a:t>
            </a:r>
            <a:endParaRPr lang="en-US" sz="3200" dirty="0"/>
          </a:p>
        </p:txBody>
      </p:sp>
      <p:sp>
        <p:nvSpPr>
          <p:cNvPr id="3" name="card"/>
          <p:cNvSpPr/>
          <p:nvPr/>
        </p:nvSpPr>
        <p:spPr>
          <a:xfrm>
            <a:off x="548640" y="1371600"/>
            <a:ext cx="4206240" cy="4526280"/>
          </a:xfrm>
          <a:prstGeom prst="roundRect">
            <a:avLst>
              <a:gd name="adj" fmla="val 2609"/>
            </a:avLst>
          </a:prstGeom>
          <a:solidFill>
            <a:schemeClr val="bg2"/>
          </a:solidFill>
          <a:ln w="9525">
            <a:solidFill>
              <a:schemeClr val="accent6"/>
            </a:solidFill>
            <a:prstDash val="solid"/>
          </a:ln>
        </p:spPr>
      </p:sp>
      <p:sp>
        <p:nvSpPr>
          <p:cNvPr id="4" name="chip"/>
          <p:cNvSpPr/>
          <p:nvPr/>
        </p:nvSpPr>
        <p:spPr>
          <a:xfrm>
            <a:off x="822960" y="1600200"/>
            <a:ext cx="1463040" cy="310896"/>
          </a:xfrm>
          <a:prstGeom prst="roundRect">
            <a:avLst>
              <a:gd name="adj" fmla="val 50000"/>
            </a:avLst>
          </a:prstGeom>
          <a:solidFill>
            <a:schemeClr val="accent2">
              <a:alpha val="15000"/>
            </a:schemeClr>
          </a:solidFill>
          <a:ln w="9525">
            <a:solidFill>
              <a:schemeClr val="accent2"/>
            </a:solidFill>
            <a:prstDash val="solid"/>
          </a:ln>
        </p:spPr>
      </p:sp>
      <p:sp>
        <p:nvSpPr>
          <p:cNvPr id="5" name="Text 3"/>
          <p:cNvSpPr txBox="1"/>
          <p:nvPr/>
        </p:nvSpPr>
        <p:spPr>
          <a:xfrm>
            <a:off x="822960" y="1600200"/>
            <a:ext cx="1463040" cy="310896"/>
          </a:xfrm>
          <a:prstGeom prst="rect">
            <a:avLst/>
          </a:prstGeom>
          <a:noFill/>
          <a:ln/>
        </p:spPr>
        <p:txBody>
          <a:bodyPr wrap="square" lIns="0" tIns="0" rIns="0" bIns="0" rtlCol="0" anchor="ctr"/>
          <a:lstStyle/>
          <a:p>
            <a:pPr marL="0" indent="0" algn="ctr">
              <a:buNone/>
            </a:pPr>
            <a:r>
              <a:rPr lang="en-US" sz="1200" b="1" dirty="0">
                <a:solidFill>
                  <a:schemeClr val="accent2"/>
                </a:solidFill>
              </a:rPr>
              <a:t>Pendiente</a:t>
            </a:r>
            <a:endParaRPr lang="en-US" sz="1200" dirty="0"/>
          </a:p>
        </p:txBody>
      </p:sp>
      <p:sp>
        <p:nvSpPr>
          <p:cNvPr id="6" name="Text 4"/>
          <p:cNvSpPr txBox="1"/>
          <p:nvPr/>
        </p:nvSpPr>
        <p:spPr>
          <a:xfrm>
            <a:off x="822960" y="2103120"/>
            <a:ext cx="3657600" cy="3657600"/>
          </a:xfrm>
          <a:prstGeom prst="rect">
            <a:avLst/>
          </a:prstGeom>
          <a:noFill/>
          <a:ln/>
        </p:spPr>
        <p:txBody>
          <a:bodyPr wrap="square" lIns="0" tIns="0" rIns="0" bIns="0" rtlCol="0" anchor="t"/>
          <a:lstStyle/>
          <a:p>
            <a:pPr marL="0" indent="0">
              <a:spcAft>
                <a:spcPts val="1200"/>
              </a:spcAft>
              <a:buNone/>
            </a:pPr>
            <a:r>
              <a:rPr lang="en-US" sz="1500" dirty="0">
                <a:solidFill>
                  <a:schemeClr val="tx2"/>
                </a:solidFill>
              </a:rPr>
              <a:t>Un criterio cumplido demuestra que el sistema hace lo que dice el documento, no que resuelva la necesidad de los estudiantes.</a:t>
            </a:r>
            <a:endParaRPr lang="en-US" sz="1500" dirty="0"/>
          </a:p>
          <a:p>
            <a:pPr marL="0" indent="0">
              <a:spcAft>
                <a:spcPts val="1200"/>
              </a:spcAft>
              <a:buNone/>
            </a:pPr>
            <a:r>
              <a:rPr lang="en-US" sz="1500" dirty="0">
                <a:solidFill>
                  <a:schemeClr val="tx2"/>
                </a:solidFill>
              </a:rPr>
              <a:t>Un recorrido simulado con IA anticipó siete problemas de uso. No reemplaza la validación: ningún estudiante usó la aplicación.</a:t>
            </a:r>
            <a:endParaRPr lang="en-US" sz="1500" dirty="0"/>
          </a:p>
          <a:p>
            <a:pPr marL="0" indent="0">
              <a:spcAft>
                <a:spcPts val="1200"/>
              </a:spcAft>
              <a:buNone/>
            </a:pPr>
            <a:r>
              <a:rPr lang="en-US" sz="1500" b="1" dirty="0">
                <a:solidFill>
                  <a:schemeClr val="tx1"/>
                </a:solidFill>
              </a:rPr>
              <a:t>Los siete se confirmaron en el código y se corrigieron el 23/10, cada uno con su prueba automática.</a:t>
            </a:r>
            <a:endParaRPr lang="en-US" sz="1500" dirty="0"/>
          </a:p>
        </p:txBody>
      </p:sp>
      <p:sp>
        <p:nvSpPr>
          <p:cNvPr id="7" name="fila"/>
          <p:cNvSpPr/>
          <p:nvPr/>
        </p:nvSpPr>
        <p:spPr>
          <a:xfrm>
            <a:off x="5074920" y="1371600"/>
            <a:ext cx="6568135" cy="603504"/>
          </a:xfrm>
          <a:prstGeom prst="rect">
            <a:avLst/>
          </a:prstGeom>
          <a:solidFill>
            <a:schemeClr val="bg2"/>
          </a:solidFill>
          <a:ln w="12700">
            <a:solidFill>
              <a:schemeClr val="bg2"/>
            </a:solidFill>
            <a:prstDash val="solid"/>
          </a:ln>
        </p:spPr>
      </p:sp>
      <p:sp>
        <p:nvSpPr>
          <p:cNvPr id="8" name="Text 6"/>
          <p:cNvSpPr txBox="1"/>
          <p:nvPr/>
        </p:nvSpPr>
        <p:spPr>
          <a:xfrm>
            <a:off x="5212080" y="1517904"/>
            <a:ext cx="77724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H-01</a:t>
            </a:r>
            <a:endParaRPr lang="en-US" sz="1400" dirty="0"/>
          </a:p>
        </p:txBody>
      </p:sp>
      <p:sp>
        <p:nvSpPr>
          <p:cNvPr id="9" name="Text 7"/>
          <p:cNvSpPr txBox="1"/>
          <p:nvPr/>
        </p:nvSpPr>
        <p:spPr>
          <a:xfrm>
            <a:off x="6035040" y="1371600"/>
            <a:ext cx="4069080" cy="603504"/>
          </a:xfrm>
          <a:prstGeom prst="rect">
            <a:avLst/>
          </a:prstGeom>
          <a:noFill/>
          <a:ln/>
        </p:spPr>
        <p:txBody>
          <a:bodyPr wrap="square" lIns="0" tIns="0" rIns="0" bIns="0" rtlCol="0" anchor="ctr"/>
          <a:lstStyle/>
          <a:p>
            <a:pPr marL="0" indent="0">
              <a:buNone/>
            </a:pPr>
            <a:r>
              <a:rPr lang="en-US" sz="1400" dirty="0">
                <a:solidFill>
                  <a:schemeClr val="tx1"/>
                </a:solidFill>
              </a:rPr>
              <a:t>La búsqueda no encontraba por nombre o código de asignatura</a:t>
            </a:r>
            <a:endParaRPr lang="en-US" sz="1400" dirty="0"/>
          </a:p>
        </p:txBody>
      </p:sp>
      <p:sp>
        <p:nvSpPr>
          <p:cNvPr id="10" name="chip"/>
          <p:cNvSpPr/>
          <p:nvPr/>
        </p:nvSpPr>
        <p:spPr>
          <a:xfrm>
            <a:off x="10271455" y="1517904"/>
            <a:ext cx="1234440" cy="310896"/>
          </a:xfrm>
          <a:prstGeom prst="roundRect">
            <a:avLst>
              <a:gd name="adj" fmla="val 50000"/>
            </a:avLst>
          </a:prstGeom>
          <a:solidFill>
            <a:schemeClr val="accent1">
              <a:alpha val="15000"/>
            </a:schemeClr>
          </a:solidFill>
          <a:ln w="9525">
            <a:solidFill>
              <a:schemeClr val="accent1"/>
            </a:solidFill>
            <a:prstDash val="solid"/>
          </a:ln>
        </p:spPr>
      </p:sp>
      <p:sp>
        <p:nvSpPr>
          <p:cNvPr id="11" name="Text 9"/>
          <p:cNvSpPr txBox="1"/>
          <p:nvPr/>
        </p:nvSpPr>
        <p:spPr>
          <a:xfrm>
            <a:off x="10271455" y="1517904"/>
            <a:ext cx="1234440" cy="310896"/>
          </a:xfrm>
          <a:prstGeom prst="rect">
            <a:avLst/>
          </a:prstGeom>
          <a:noFill/>
          <a:ln/>
        </p:spPr>
        <p:txBody>
          <a:bodyPr wrap="square" lIns="0" tIns="0" rIns="0" bIns="0" rtlCol="0" anchor="ctr"/>
          <a:lstStyle/>
          <a:p>
            <a:pPr marL="0" indent="0" algn="ctr">
              <a:buNone/>
            </a:pPr>
            <a:r>
              <a:rPr lang="en-US" sz="1100" b="1" dirty="0">
                <a:solidFill>
                  <a:schemeClr val="accent1"/>
                </a:solidFill>
              </a:rPr>
              <a:t>Corregido</a:t>
            </a:r>
            <a:endParaRPr lang="en-US" sz="1100" dirty="0"/>
          </a:p>
        </p:txBody>
      </p:sp>
      <p:sp>
        <p:nvSpPr>
          <p:cNvPr id="12" name="Text 10"/>
          <p:cNvSpPr txBox="1"/>
          <p:nvPr/>
        </p:nvSpPr>
        <p:spPr>
          <a:xfrm>
            <a:off x="5212080" y="2167128"/>
            <a:ext cx="77724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H-02</a:t>
            </a:r>
            <a:endParaRPr lang="en-US" sz="1400" dirty="0"/>
          </a:p>
        </p:txBody>
      </p:sp>
      <p:sp>
        <p:nvSpPr>
          <p:cNvPr id="13" name="Text 11"/>
          <p:cNvSpPr txBox="1"/>
          <p:nvPr/>
        </p:nvSpPr>
        <p:spPr>
          <a:xfrm>
            <a:off x="6035040" y="2020824"/>
            <a:ext cx="4069080" cy="603504"/>
          </a:xfrm>
          <a:prstGeom prst="rect">
            <a:avLst/>
          </a:prstGeom>
          <a:noFill/>
          <a:ln/>
        </p:spPr>
        <p:txBody>
          <a:bodyPr wrap="square" lIns="0" tIns="0" rIns="0" bIns="0" rtlCol="0" anchor="ctr"/>
          <a:lstStyle/>
          <a:p>
            <a:pPr marL="0" indent="0">
              <a:buNone/>
            </a:pPr>
            <a:r>
              <a:rPr lang="en-US" sz="1400" dirty="0">
                <a:solidFill>
                  <a:schemeClr val="tx1"/>
                </a:solidFill>
              </a:rPr>
              <a:t>La búsqueda distinguía tildes: «cinematica» ≠ «cinemática»</a:t>
            </a:r>
            <a:endParaRPr lang="en-US" sz="1400" dirty="0"/>
          </a:p>
        </p:txBody>
      </p:sp>
      <p:sp>
        <p:nvSpPr>
          <p:cNvPr id="14" name="chip"/>
          <p:cNvSpPr/>
          <p:nvPr/>
        </p:nvSpPr>
        <p:spPr>
          <a:xfrm>
            <a:off x="10271455" y="2167128"/>
            <a:ext cx="1234440" cy="310896"/>
          </a:xfrm>
          <a:prstGeom prst="roundRect">
            <a:avLst>
              <a:gd name="adj" fmla="val 50000"/>
            </a:avLst>
          </a:prstGeom>
          <a:solidFill>
            <a:schemeClr val="accent1">
              <a:alpha val="15000"/>
            </a:schemeClr>
          </a:solidFill>
          <a:ln w="9525">
            <a:solidFill>
              <a:schemeClr val="accent1"/>
            </a:solidFill>
            <a:prstDash val="solid"/>
          </a:ln>
        </p:spPr>
      </p:sp>
      <p:sp>
        <p:nvSpPr>
          <p:cNvPr id="15" name="Text 13"/>
          <p:cNvSpPr txBox="1"/>
          <p:nvPr/>
        </p:nvSpPr>
        <p:spPr>
          <a:xfrm>
            <a:off x="10271455" y="2167128"/>
            <a:ext cx="1234440" cy="310896"/>
          </a:xfrm>
          <a:prstGeom prst="rect">
            <a:avLst/>
          </a:prstGeom>
          <a:noFill/>
          <a:ln/>
        </p:spPr>
        <p:txBody>
          <a:bodyPr wrap="square" lIns="0" tIns="0" rIns="0" bIns="0" rtlCol="0" anchor="ctr"/>
          <a:lstStyle/>
          <a:p>
            <a:pPr marL="0" indent="0" algn="ctr">
              <a:buNone/>
            </a:pPr>
            <a:r>
              <a:rPr lang="en-US" sz="1100" b="1" dirty="0">
                <a:solidFill>
                  <a:schemeClr val="accent1"/>
                </a:solidFill>
              </a:rPr>
              <a:t>Corregido</a:t>
            </a:r>
            <a:endParaRPr lang="en-US" sz="1100" dirty="0"/>
          </a:p>
        </p:txBody>
      </p:sp>
      <p:sp>
        <p:nvSpPr>
          <p:cNvPr id="16" name="fila"/>
          <p:cNvSpPr/>
          <p:nvPr/>
        </p:nvSpPr>
        <p:spPr>
          <a:xfrm>
            <a:off x="5074920" y="2670048"/>
            <a:ext cx="6568135" cy="603504"/>
          </a:xfrm>
          <a:prstGeom prst="rect">
            <a:avLst/>
          </a:prstGeom>
          <a:solidFill>
            <a:schemeClr val="bg2"/>
          </a:solidFill>
          <a:ln w="12700">
            <a:solidFill>
              <a:schemeClr val="bg2"/>
            </a:solidFill>
            <a:prstDash val="solid"/>
          </a:ln>
        </p:spPr>
      </p:sp>
      <p:sp>
        <p:nvSpPr>
          <p:cNvPr id="17" name="Text 15"/>
          <p:cNvSpPr txBox="1"/>
          <p:nvPr/>
        </p:nvSpPr>
        <p:spPr>
          <a:xfrm>
            <a:off x="5212080" y="2816352"/>
            <a:ext cx="77724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H-03</a:t>
            </a:r>
            <a:endParaRPr lang="en-US" sz="1400" dirty="0"/>
          </a:p>
        </p:txBody>
      </p:sp>
      <p:sp>
        <p:nvSpPr>
          <p:cNvPr id="18" name="Text 16"/>
          <p:cNvSpPr txBox="1"/>
          <p:nvPr/>
        </p:nvSpPr>
        <p:spPr>
          <a:xfrm>
            <a:off x="6035040" y="2670048"/>
            <a:ext cx="4069080" cy="603504"/>
          </a:xfrm>
          <a:prstGeom prst="rect">
            <a:avLst/>
          </a:prstGeom>
          <a:noFill/>
          <a:ln/>
        </p:spPr>
        <p:txBody>
          <a:bodyPr wrap="square" lIns="0" tIns="0" rIns="0" bIns="0" rtlCol="0" anchor="ctr"/>
          <a:lstStyle/>
          <a:p>
            <a:pPr marL="0" indent="0">
              <a:buNone/>
            </a:pPr>
            <a:r>
              <a:rPr lang="en-US" sz="1400" dirty="0">
                <a:solidFill>
                  <a:schemeClr val="tx1"/>
                </a:solidFill>
              </a:rPr>
              <a:t>«Reportar» con el motivo vacío cerraba sin avisar</a:t>
            </a:r>
            <a:endParaRPr lang="en-US" sz="1400" dirty="0"/>
          </a:p>
        </p:txBody>
      </p:sp>
      <p:sp>
        <p:nvSpPr>
          <p:cNvPr id="19" name="chip"/>
          <p:cNvSpPr/>
          <p:nvPr/>
        </p:nvSpPr>
        <p:spPr>
          <a:xfrm>
            <a:off x="10271455" y="2816352"/>
            <a:ext cx="1234440" cy="310896"/>
          </a:xfrm>
          <a:prstGeom prst="roundRect">
            <a:avLst>
              <a:gd name="adj" fmla="val 50000"/>
            </a:avLst>
          </a:prstGeom>
          <a:solidFill>
            <a:schemeClr val="accent1">
              <a:alpha val="15000"/>
            </a:schemeClr>
          </a:solidFill>
          <a:ln w="9525">
            <a:solidFill>
              <a:schemeClr val="accent1"/>
            </a:solidFill>
            <a:prstDash val="solid"/>
          </a:ln>
        </p:spPr>
      </p:sp>
      <p:sp>
        <p:nvSpPr>
          <p:cNvPr id="20" name="Text 18"/>
          <p:cNvSpPr txBox="1"/>
          <p:nvPr/>
        </p:nvSpPr>
        <p:spPr>
          <a:xfrm>
            <a:off x="10271455" y="2816352"/>
            <a:ext cx="1234440" cy="310896"/>
          </a:xfrm>
          <a:prstGeom prst="rect">
            <a:avLst/>
          </a:prstGeom>
          <a:noFill/>
          <a:ln/>
        </p:spPr>
        <p:txBody>
          <a:bodyPr wrap="square" lIns="0" tIns="0" rIns="0" bIns="0" rtlCol="0" anchor="ctr"/>
          <a:lstStyle/>
          <a:p>
            <a:pPr marL="0" indent="0" algn="ctr">
              <a:buNone/>
            </a:pPr>
            <a:r>
              <a:rPr lang="en-US" sz="1100" b="1" dirty="0">
                <a:solidFill>
                  <a:schemeClr val="accent1"/>
                </a:solidFill>
              </a:rPr>
              <a:t>Corregido</a:t>
            </a:r>
            <a:endParaRPr lang="en-US" sz="1100" dirty="0"/>
          </a:p>
        </p:txBody>
      </p:sp>
      <p:sp>
        <p:nvSpPr>
          <p:cNvPr id="21" name="Text 19"/>
          <p:cNvSpPr txBox="1"/>
          <p:nvPr/>
        </p:nvSpPr>
        <p:spPr>
          <a:xfrm>
            <a:off x="5212080" y="3465576"/>
            <a:ext cx="77724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H-04</a:t>
            </a:r>
            <a:endParaRPr lang="en-US" sz="1400" dirty="0"/>
          </a:p>
        </p:txBody>
      </p:sp>
      <p:sp>
        <p:nvSpPr>
          <p:cNvPr id="22" name="Text 20"/>
          <p:cNvSpPr txBox="1"/>
          <p:nvPr/>
        </p:nvSpPr>
        <p:spPr>
          <a:xfrm>
            <a:off x="6035040" y="3319272"/>
            <a:ext cx="4069080" cy="603504"/>
          </a:xfrm>
          <a:prstGeom prst="rect">
            <a:avLst/>
          </a:prstGeom>
          <a:noFill/>
          <a:ln/>
        </p:spPr>
        <p:txBody>
          <a:bodyPr wrap="square" lIns="0" tIns="0" rIns="0" bIns="0" rtlCol="0" anchor="ctr"/>
          <a:lstStyle/>
          <a:p>
            <a:pPr marL="0" indent="0">
              <a:buNone/>
            </a:pPr>
            <a:r>
              <a:rPr lang="en-US" sz="1400" dirty="0">
                <a:solidFill>
                  <a:schemeClr val="tx1"/>
                </a:solidFill>
              </a:rPr>
              <a:t>Al subir material no había mensaje de confirmación</a:t>
            </a:r>
            <a:endParaRPr lang="en-US" sz="1400" dirty="0"/>
          </a:p>
        </p:txBody>
      </p:sp>
      <p:sp>
        <p:nvSpPr>
          <p:cNvPr id="23" name="chip"/>
          <p:cNvSpPr/>
          <p:nvPr/>
        </p:nvSpPr>
        <p:spPr>
          <a:xfrm>
            <a:off x="10271455" y="3465576"/>
            <a:ext cx="1234440" cy="310896"/>
          </a:xfrm>
          <a:prstGeom prst="roundRect">
            <a:avLst>
              <a:gd name="adj" fmla="val 50000"/>
            </a:avLst>
          </a:prstGeom>
          <a:solidFill>
            <a:schemeClr val="accent1">
              <a:alpha val="15000"/>
            </a:schemeClr>
          </a:solidFill>
          <a:ln w="9525">
            <a:solidFill>
              <a:schemeClr val="accent1"/>
            </a:solidFill>
            <a:prstDash val="solid"/>
          </a:ln>
        </p:spPr>
      </p:sp>
      <p:sp>
        <p:nvSpPr>
          <p:cNvPr id="24" name="Text 22"/>
          <p:cNvSpPr txBox="1"/>
          <p:nvPr/>
        </p:nvSpPr>
        <p:spPr>
          <a:xfrm>
            <a:off x="10271455" y="3465576"/>
            <a:ext cx="1234440" cy="310896"/>
          </a:xfrm>
          <a:prstGeom prst="rect">
            <a:avLst/>
          </a:prstGeom>
          <a:noFill/>
          <a:ln/>
        </p:spPr>
        <p:txBody>
          <a:bodyPr wrap="square" lIns="0" tIns="0" rIns="0" bIns="0" rtlCol="0" anchor="ctr"/>
          <a:lstStyle/>
          <a:p>
            <a:pPr marL="0" indent="0" algn="ctr">
              <a:buNone/>
            </a:pPr>
            <a:r>
              <a:rPr lang="en-US" sz="1100" b="1" dirty="0">
                <a:solidFill>
                  <a:schemeClr val="accent1"/>
                </a:solidFill>
              </a:rPr>
              <a:t>Corregido</a:t>
            </a:r>
            <a:endParaRPr lang="en-US" sz="1100" dirty="0"/>
          </a:p>
        </p:txBody>
      </p:sp>
      <p:sp>
        <p:nvSpPr>
          <p:cNvPr id="25" name="fila"/>
          <p:cNvSpPr/>
          <p:nvPr/>
        </p:nvSpPr>
        <p:spPr>
          <a:xfrm>
            <a:off x="5074920" y="3968496"/>
            <a:ext cx="6568135" cy="603504"/>
          </a:xfrm>
          <a:prstGeom prst="rect">
            <a:avLst/>
          </a:prstGeom>
          <a:solidFill>
            <a:schemeClr val="bg2"/>
          </a:solidFill>
          <a:ln w="12700">
            <a:solidFill>
              <a:schemeClr val="bg2"/>
            </a:solidFill>
            <a:prstDash val="solid"/>
          </a:ln>
        </p:spPr>
      </p:sp>
      <p:sp>
        <p:nvSpPr>
          <p:cNvPr id="26" name="Text 24"/>
          <p:cNvSpPr txBox="1"/>
          <p:nvPr/>
        </p:nvSpPr>
        <p:spPr>
          <a:xfrm>
            <a:off x="5212080" y="4114800"/>
            <a:ext cx="77724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H-05</a:t>
            </a:r>
            <a:endParaRPr lang="en-US" sz="1400" dirty="0"/>
          </a:p>
        </p:txBody>
      </p:sp>
      <p:sp>
        <p:nvSpPr>
          <p:cNvPr id="27" name="Text 25"/>
          <p:cNvSpPr txBox="1"/>
          <p:nvPr/>
        </p:nvSpPr>
        <p:spPr>
          <a:xfrm>
            <a:off x="6035040" y="3968496"/>
            <a:ext cx="4069080" cy="603504"/>
          </a:xfrm>
          <a:prstGeom prst="rect">
            <a:avLst/>
          </a:prstGeom>
          <a:noFill/>
          <a:ln/>
        </p:spPr>
        <p:txBody>
          <a:bodyPr wrap="square" lIns="0" tIns="0" rIns="0" bIns="0" rtlCol="0" anchor="ctr"/>
          <a:lstStyle/>
          <a:p>
            <a:pPr marL="0" indent="0">
              <a:buNone/>
            </a:pPr>
            <a:r>
              <a:rPr lang="en-US" sz="1400" dirty="0">
                <a:solidFill>
                  <a:schemeClr val="tx1"/>
                </a:solidFill>
              </a:rPr>
              <a:t>En el celular, el teclado tapaba «Subir de forma anónima»</a:t>
            </a:r>
            <a:endParaRPr lang="en-US" sz="1400" dirty="0"/>
          </a:p>
        </p:txBody>
      </p:sp>
      <p:sp>
        <p:nvSpPr>
          <p:cNvPr id="28" name="chip"/>
          <p:cNvSpPr/>
          <p:nvPr/>
        </p:nvSpPr>
        <p:spPr>
          <a:xfrm>
            <a:off x="10271455" y="4114800"/>
            <a:ext cx="1234440" cy="310896"/>
          </a:xfrm>
          <a:prstGeom prst="roundRect">
            <a:avLst>
              <a:gd name="adj" fmla="val 50000"/>
            </a:avLst>
          </a:prstGeom>
          <a:solidFill>
            <a:schemeClr val="accent1">
              <a:alpha val="15000"/>
            </a:schemeClr>
          </a:solidFill>
          <a:ln w="9525">
            <a:solidFill>
              <a:schemeClr val="accent1"/>
            </a:solidFill>
            <a:prstDash val="solid"/>
          </a:ln>
        </p:spPr>
      </p:sp>
      <p:sp>
        <p:nvSpPr>
          <p:cNvPr id="29" name="Text 27"/>
          <p:cNvSpPr txBox="1"/>
          <p:nvPr/>
        </p:nvSpPr>
        <p:spPr>
          <a:xfrm>
            <a:off x="10271455" y="4114800"/>
            <a:ext cx="1234440" cy="310896"/>
          </a:xfrm>
          <a:prstGeom prst="rect">
            <a:avLst/>
          </a:prstGeom>
          <a:noFill/>
          <a:ln/>
        </p:spPr>
        <p:txBody>
          <a:bodyPr wrap="square" lIns="0" tIns="0" rIns="0" bIns="0" rtlCol="0" anchor="ctr"/>
          <a:lstStyle/>
          <a:p>
            <a:pPr marL="0" indent="0" algn="ctr">
              <a:buNone/>
            </a:pPr>
            <a:r>
              <a:rPr lang="en-US" sz="1100" b="1" dirty="0">
                <a:solidFill>
                  <a:schemeClr val="accent1"/>
                </a:solidFill>
              </a:rPr>
              <a:t>Corregido</a:t>
            </a:r>
            <a:endParaRPr lang="en-US" sz="1100" dirty="0"/>
          </a:p>
        </p:txBody>
      </p:sp>
      <p:sp>
        <p:nvSpPr>
          <p:cNvPr id="30" name="Text 28"/>
          <p:cNvSpPr txBox="1"/>
          <p:nvPr/>
        </p:nvSpPr>
        <p:spPr>
          <a:xfrm>
            <a:off x="5212080" y="4764024"/>
            <a:ext cx="77724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H-06</a:t>
            </a:r>
            <a:endParaRPr lang="en-US" sz="1400" dirty="0"/>
          </a:p>
        </p:txBody>
      </p:sp>
      <p:sp>
        <p:nvSpPr>
          <p:cNvPr id="31" name="Text 29"/>
          <p:cNvSpPr txBox="1"/>
          <p:nvPr/>
        </p:nvSpPr>
        <p:spPr>
          <a:xfrm>
            <a:off x="6035040" y="4617720"/>
            <a:ext cx="4069080" cy="603504"/>
          </a:xfrm>
          <a:prstGeom prst="rect">
            <a:avLst/>
          </a:prstGeom>
          <a:noFill/>
          <a:ln/>
        </p:spPr>
        <p:txBody>
          <a:bodyPr wrap="square" lIns="0" tIns="0" rIns="0" bIns="0" rtlCol="0" anchor="ctr"/>
          <a:lstStyle/>
          <a:p>
            <a:pPr marL="0" indent="0">
              <a:buNone/>
            </a:pPr>
            <a:r>
              <a:rPr lang="en-US" sz="1400" dirty="0">
                <a:solidFill>
                  <a:schemeClr val="tx1"/>
                </a:solidFill>
              </a:rPr>
              <a:t>El formulario no indicaba tipos ni tamaño máximo</a:t>
            </a:r>
            <a:endParaRPr lang="en-US" sz="1400" dirty="0"/>
          </a:p>
        </p:txBody>
      </p:sp>
      <p:sp>
        <p:nvSpPr>
          <p:cNvPr id="32" name="chip"/>
          <p:cNvSpPr/>
          <p:nvPr/>
        </p:nvSpPr>
        <p:spPr>
          <a:xfrm>
            <a:off x="10271455" y="4764024"/>
            <a:ext cx="1234440" cy="310896"/>
          </a:xfrm>
          <a:prstGeom prst="roundRect">
            <a:avLst>
              <a:gd name="adj" fmla="val 50000"/>
            </a:avLst>
          </a:prstGeom>
          <a:solidFill>
            <a:schemeClr val="accent1">
              <a:alpha val="15000"/>
            </a:schemeClr>
          </a:solidFill>
          <a:ln w="9525">
            <a:solidFill>
              <a:schemeClr val="accent1"/>
            </a:solidFill>
            <a:prstDash val="solid"/>
          </a:ln>
        </p:spPr>
      </p:sp>
      <p:sp>
        <p:nvSpPr>
          <p:cNvPr id="33" name="Text 31"/>
          <p:cNvSpPr txBox="1"/>
          <p:nvPr/>
        </p:nvSpPr>
        <p:spPr>
          <a:xfrm>
            <a:off x="10271455" y="4764024"/>
            <a:ext cx="1234440" cy="310896"/>
          </a:xfrm>
          <a:prstGeom prst="rect">
            <a:avLst/>
          </a:prstGeom>
          <a:noFill/>
          <a:ln/>
        </p:spPr>
        <p:txBody>
          <a:bodyPr wrap="square" lIns="0" tIns="0" rIns="0" bIns="0" rtlCol="0" anchor="ctr"/>
          <a:lstStyle/>
          <a:p>
            <a:pPr marL="0" indent="0" algn="ctr">
              <a:buNone/>
            </a:pPr>
            <a:r>
              <a:rPr lang="en-US" sz="1100" b="1" dirty="0">
                <a:solidFill>
                  <a:schemeClr val="accent1"/>
                </a:solidFill>
              </a:rPr>
              <a:t>Corregido</a:t>
            </a:r>
            <a:endParaRPr lang="en-US" sz="1100" dirty="0"/>
          </a:p>
        </p:txBody>
      </p:sp>
      <p:sp>
        <p:nvSpPr>
          <p:cNvPr id="34" name="fila"/>
          <p:cNvSpPr/>
          <p:nvPr/>
        </p:nvSpPr>
        <p:spPr>
          <a:xfrm>
            <a:off x="5074920" y="5266944"/>
            <a:ext cx="6568135" cy="603504"/>
          </a:xfrm>
          <a:prstGeom prst="rect">
            <a:avLst/>
          </a:prstGeom>
          <a:solidFill>
            <a:schemeClr val="bg2"/>
          </a:solidFill>
          <a:ln w="12700">
            <a:solidFill>
              <a:schemeClr val="bg2"/>
            </a:solidFill>
            <a:prstDash val="solid"/>
          </a:ln>
        </p:spPr>
      </p:sp>
      <p:sp>
        <p:nvSpPr>
          <p:cNvPr id="35" name="Text 33"/>
          <p:cNvSpPr txBox="1"/>
          <p:nvPr/>
        </p:nvSpPr>
        <p:spPr>
          <a:xfrm>
            <a:off x="5212080" y="5413248"/>
            <a:ext cx="777240" cy="310896"/>
          </a:xfrm>
          <a:prstGeom prst="rect">
            <a:avLst/>
          </a:prstGeom>
          <a:noFill/>
          <a:ln/>
        </p:spPr>
        <p:txBody>
          <a:bodyPr wrap="square" lIns="0" tIns="0" rIns="0" bIns="0" rtlCol="0" anchor="ctr"/>
          <a:lstStyle/>
          <a:p>
            <a:pPr marL="0" indent="0">
              <a:buNone/>
            </a:pPr>
            <a:r>
              <a:rPr lang="en-US" sz="1400" b="1" dirty="0">
                <a:solidFill>
                  <a:schemeClr val="accent4"/>
                </a:solidFill>
                <a:latin typeface="Courier New" pitchFamily="34" charset="0"/>
                <a:ea typeface="Courier New" pitchFamily="34" charset="-122"/>
                <a:cs typeface="Courier New" pitchFamily="34" charset="-120"/>
              </a:rPr>
              <a:t>H-07</a:t>
            </a:r>
            <a:endParaRPr lang="en-US" sz="1400" dirty="0"/>
          </a:p>
        </p:txBody>
      </p:sp>
      <p:sp>
        <p:nvSpPr>
          <p:cNvPr id="36" name="Text 34"/>
          <p:cNvSpPr txBox="1"/>
          <p:nvPr/>
        </p:nvSpPr>
        <p:spPr>
          <a:xfrm>
            <a:off x="6035040" y="5266944"/>
            <a:ext cx="4069080" cy="603504"/>
          </a:xfrm>
          <a:prstGeom prst="rect">
            <a:avLst/>
          </a:prstGeom>
          <a:noFill/>
          <a:ln/>
        </p:spPr>
        <p:txBody>
          <a:bodyPr wrap="square" lIns="0" tIns="0" rIns="0" bIns="0" rtlCol="0" anchor="ctr"/>
          <a:lstStyle/>
          <a:p>
            <a:pPr marL="0" indent="0">
              <a:buNone/>
            </a:pPr>
            <a:r>
              <a:rPr lang="en-US" sz="1400" dirty="0">
                <a:solidFill>
                  <a:schemeClr val="tx1"/>
                </a:solidFill>
              </a:rPr>
              <a:t>El mismo estado se llamaba «reportado» y «En revisión»</a:t>
            </a:r>
            <a:endParaRPr lang="en-US" sz="1400" dirty="0"/>
          </a:p>
        </p:txBody>
      </p:sp>
      <p:sp>
        <p:nvSpPr>
          <p:cNvPr id="37" name="chip"/>
          <p:cNvSpPr/>
          <p:nvPr/>
        </p:nvSpPr>
        <p:spPr>
          <a:xfrm>
            <a:off x="10271455" y="5413248"/>
            <a:ext cx="1234440" cy="310896"/>
          </a:xfrm>
          <a:prstGeom prst="roundRect">
            <a:avLst>
              <a:gd name="adj" fmla="val 50000"/>
            </a:avLst>
          </a:prstGeom>
          <a:solidFill>
            <a:schemeClr val="accent1">
              <a:alpha val="15000"/>
            </a:schemeClr>
          </a:solidFill>
          <a:ln w="9525">
            <a:solidFill>
              <a:schemeClr val="accent1"/>
            </a:solidFill>
            <a:prstDash val="solid"/>
          </a:ln>
        </p:spPr>
      </p:sp>
      <p:sp>
        <p:nvSpPr>
          <p:cNvPr id="38" name="Text 36"/>
          <p:cNvSpPr txBox="1"/>
          <p:nvPr/>
        </p:nvSpPr>
        <p:spPr>
          <a:xfrm>
            <a:off x="10271455" y="5413248"/>
            <a:ext cx="1234440" cy="310896"/>
          </a:xfrm>
          <a:prstGeom prst="rect">
            <a:avLst/>
          </a:prstGeom>
          <a:noFill/>
          <a:ln/>
        </p:spPr>
        <p:txBody>
          <a:bodyPr wrap="square" lIns="0" tIns="0" rIns="0" bIns="0" rtlCol="0" anchor="ctr"/>
          <a:lstStyle/>
          <a:p>
            <a:pPr marL="0" indent="0" algn="ctr">
              <a:buNone/>
            </a:pPr>
            <a:r>
              <a:rPr lang="en-US" sz="1100" b="1" dirty="0">
                <a:solidFill>
                  <a:schemeClr val="accent1"/>
                </a:solidFill>
              </a:rPr>
              <a:t>Corregido</a:t>
            </a:r>
            <a:endParaRPr lang="en-US" sz="1100" dirty="0"/>
          </a:p>
        </p:txBody>
      </p:sp>
      <p:sp>
        <p:nvSpPr>
          <p:cNvPr id="39"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Plan de la sesión con estudiantes</a:t>
            </a:r>
            <a:endParaRPr lang="en-US" sz="3200" dirty="0"/>
          </a:p>
        </p:txBody>
      </p:sp>
      <p:sp>
        <p:nvSpPr>
          <p:cNvPr id="3" name="card"/>
          <p:cNvSpPr/>
          <p:nvPr/>
        </p:nvSpPr>
        <p:spPr>
          <a:xfrm>
            <a:off x="548640" y="1371600"/>
            <a:ext cx="2578608" cy="3017520"/>
          </a:xfrm>
          <a:prstGeom prst="roundRect">
            <a:avLst>
              <a:gd name="adj" fmla="val 4255"/>
            </a:avLst>
          </a:prstGeom>
          <a:solidFill>
            <a:schemeClr val="bg1"/>
          </a:solidFill>
          <a:ln w="9525">
            <a:solidFill>
              <a:schemeClr val="accent6"/>
            </a:solidFill>
            <a:prstDash val="solid"/>
          </a:ln>
        </p:spPr>
      </p:sp>
      <p:sp>
        <p:nvSpPr>
          <p:cNvPr id="4" name="tarea"/>
          <p:cNvSpPr/>
          <p:nvPr/>
        </p:nvSpPr>
        <p:spPr>
          <a:xfrm>
            <a:off x="777240" y="1600200"/>
            <a:ext cx="594360" cy="594360"/>
          </a:xfrm>
          <a:prstGeom prst="ellipse">
            <a:avLst/>
          </a:prstGeom>
          <a:solidFill>
            <a:schemeClr val="tx1"/>
          </a:solidFill>
          <a:ln w="12700">
            <a:solidFill>
              <a:schemeClr val="tx1"/>
            </a:solidFill>
            <a:prstDash val="solid"/>
          </a:ln>
        </p:spPr>
      </p:sp>
      <p:sp>
        <p:nvSpPr>
          <p:cNvPr id="5" name="Text 3"/>
          <p:cNvSpPr txBox="1"/>
          <p:nvPr/>
        </p:nvSpPr>
        <p:spPr>
          <a:xfrm>
            <a:off x="777240" y="1600200"/>
            <a:ext cx="594360" cy="594360"/>
          </a:xfrm>
          <a:prstGeom prst="rect">
            <a:avLst/>
          </a:prstGeom>
          <a:no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T1</a:t>
            </a:r>
            <a:endParaRPr lang="en-US" sz="1400" dirty="0"/>
          </a:p>
        </p:txBody>
      </p:sp>
      <p:sp>
        <p:nvSpPr>
          <p:cNvPr id="6" name="Text 4"/>
          <p:cNvSpPr txBox="1"/>
          <p:nvPr/>
        </p:nvSpPr>
        <p:spPr>
          <a:xfrm>
            <a:off x="777240" y="2331720"/>
            <a:ext cx="2121408" cy="365760"/>
          </a:xfrm>
          <a:prstGeom prst="rect">
            <a:avLst/>
          </a:prstGeom>
          <a:noFill/>
          <a:ln/>
        </p:spPr>
        <p:txBody>
          <a:bodyPr wrap="square" lIns="0" tIns="0" rIns="0" bIns="0" rtlCol="0" anchor="ctr"/>
          <a:lstStyle/>
          <a:p>
            <a:pPr marL="0" indent="0">
              <a:buNone/>
            </a:pPr>
            <a:r>
              <a:rPr lang="en-US" sz="1600" b="1" dirty="0">
                <a:solidFill>
                  <a:schemeClr val="tx1"/>
                </a:solidFill>
              </a:rPr>
              <a:t>Registrarse</a:t>
            </a:r>
            <a:endParaRPr lang="en-US" sz="1600" dirty="0"/>
          </a:p>
        </p:txBody>
      </p:sp>
      <p:sp>
        <p:nvSpPr>
          <p:cNvPr id="7" name="Text 5"/>
          <p:cNvSpPr txBox="1"/>
          <p:nvPr/>
        </p:nvSpPr>
        <p:spPr>
          <a:xfrm>
            <a:off x="777240" y="2743200"/>
            <a:ext cx="2121408" cy="1097280"/>
          </a:xfrm>
          <a:prstGeom prst="rect">
            <a:avLst/>
          </a:prstGeom>
          <a:noFill/>
          <a:ln/>
        </p:spPr>
        <p:txBody>
          <a:bodyPr wrap="square" lIns="0" tIns="0" rIns="0" bIns="0" rtlCol="0" anchor="t"/>
          <a:lstStyle/>
          <a:p>
            <a:pPr marL="0" indent="0">
              <a:buNone/>
            </a:pPr>
            <a:r>
              <a:rPr lang="en-US" sz="1300" i="1" dirty="0">
                <a:solidFill>
                  <a:schemeClr val="tx2"/>
                </a:solidFill>
              </a:rPr>
              <a:t>«Cree una cuenta y entre a la pantalla principal.»</a:t>
            </a:r>
            <a:endParaRPr lang="en-US" sz="1300" dirty="0"/>
          </a:p>
        </p:txBody>
      </p:sp>
      <p:sp>
        <p:nvSpPr>
          <p:cNvPr id="8" name="Text 6"/>
          <p:cNvSpPr txBox="1"/>
          <p:nvPr/>
        </p:nvSpPr>
        <p:spPr>
          <a:xfrm>
            <a:off x="777240" y="3931920"/>
            <a:ext cx="2121408" cy="274320"/>
          </a:xfrm>
          <a:prstGeom prst="rect">
            <a:avLst/>
          </a:prstGeom>
          <a:noFill/>
          <a:ln/>
        </p:spPr>
        <p:txBody>
          <a:bodyPr wrap="square" lIns="0" tIns="0" rIns="0" bIns="0" rtlCol="0" anchor="ctr"/>
          <a:lstStyle/>
          <a:p>
            <a:pPr marL="0" indent="0">
              <a:buNone/>
            </a:pPr>
            <a:r>
              <a:rPr lang="en-US" sz="1200" b="1" dirty="0">
                <a:solidFill>
                  <a:schemeClr val="accent4"/>
                </a:solidFill>
                <a:latin typeface="Courier New" pitchFamily="34" charset="0"/>
                <a:ea typeface="Courier New" pitchFamily="34" charset="-122"/>
                <a:cs typeface="Courier New" pitchFamily="34" charset="-120"/>
              </a:rPr>
              <a:t>RF-01, RF-02</a:t>
            </a:r>
            <a:endParaRPr lang="en-US" sz="1200" dirty="0"/>
          </a:p>
        </p:txBody>
      </p:sp>
      <p:sp>
        <p:nvSpPr>
          <p:cNvPr id="9" name="card"/>
          <p:cNvSpPr/>
          <p:nvPr/>
        </p:nvSpPr>
        <p:spPr>
          <a:xfrm>
            <a:off x="3355848" y="1371600"/>
            <a:ext cx="2578608" cy="3017520"/>
          </a:xfrm>
          <a:prstGeom prst="roundRect">
            <a:avLst>
              <a:gd name="adj" fmla="val 4255"/>
            </a:avLst>
          </a:prstGeom>
          <a:solidFill>
            <a:schemeClr val="bg1"/>
          </a:solidFill>
          <a:ln w="9525">
            <a:solidFill>
              <a:schemeClr val="accent6"/>
            </a:solidFill>
            <a:prstDash val="solid"/>
          </a:ln>
        </p:spPr>
      </p:sp>
      <p:sp>
        <p:nvSpPr>
          <p:cNvPr id="10" name="tarea"/>
          <p:cNvSpPr/>
          <p:nvPr/>
        </p:nvSpPr>
        <p:spPr>
          <a:xfrm>
            <a:off x="3584448" y="1600200"/>
            <a:ext cx="594360" cy="594360"/>
          </a:xfrm>
          <a:prstGeom prst="ellipse">
            <a:avLst/>
          </a:prstGeom>
          <a:solidFill>
            <a:schemeClr val="tx1"/>
          </a:solidFill>
          <a:ln w="12700">
            <a:solidFill>
              <a:schemeClr val="tx1"/>
            </a:solidFill>
            <a:prstDash val="solid"/>
          </a:ln>
        </p:spPr>
      </p:sp>
      <p:sp>
        <p:nvSpPr>
          <p:cNvPr id="11" name="Text 9"/>
          <p:cNvSpPr txBox="1"/>
          <p:nvPr/>
        </p:nvSpPr>
        <p:spPr>
          <a:xfrm>
            <a:off x="3584448" y="1600200"/>
            <a:ext cx="594360" cy="594360"/>
          </a:xfrm>
          <a:prstGeom prst="rect">
            <a:avLst/>
          </a:prstGeom>
          <a:no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T2</a:t>
            </a:r>
            <a:endParaRPr lang="en-US" sz="1400" dirty="0"/>
          </a:p>
        </p:txBody>
      </p:sp>
      <p:sp>
        <p:nvSpPr>
          <p:cNvPr id="12" name="Text 10"/>
          <p:cNvSpPr txBox="1"/>
          <p:nvPr/>
        </p:nvSpPr>
        <p:spPr>
          <a:xfrm>
            <a:off x="3584448" y="2331720"/>
            <a:ext cx="2121408" cy="365760"/>
          </a:xfrm>
          <a:prstGeom prst="rect">
            <a:avLst/>
          </a:prstGeom>
          <a:noFill/>
          <a:ln/>
        </p:spPr>
        <p:txBody>
          <a:bodyPr wrap="square" lIns="0" tIns="0" rIns="0" bIns="0" rtlCol="0" anchor="ctr"/>
          <a:lstStyle/>
          <a:p>
            <a:pPr marL="0" indent="0">
              <a:buNone/>
            </a:pPr>
            <a:r>
              <a:rPr lang="en-US" sz="1600" b="1" dirty="0">
                <a:solidFill>
                  <a:schemeClr val="tx1"/>
                </a:solidFill>
              </a:rPr>
              <a:t>Encontrar un parcial</a:t>
            </a:r>
            <a:endParaRPr lang="en-US" sz="1600" dirty="0"/>
          </a:p>
        </p:txBody>
      </p:sp>
      <p:sp>
        <p:nvSpPr>
          <p:cNvPr id="13" name="Text 11"/>
          <p:cNvSpPr txBox="1"/>
          <p:nvPr/>
        </p:nvSpPr>
        <p:spPr>
          <a:xfrm>
            <a:off x="3584448" y="2743200"/>
            <a:ext cx="2121408" cy="1097280"/>
          </a:xfrm>
          <a:prstGeom prst="rect">
            <a:avLst/>
          </a:prstGeom>
          <a:noFill/>
          <a:ln/>
        </p:spPr>
        <p:txBody>
          <a:bodyPr wrap="square" lIns="0" tIns="0" rIns="0" bIns="0" rtlCol="0" anchor="t"/>
          <a:lstStyle/>
          <a:p>
            <a:pPr marL="0" indent="0">
              <a:buNone/>
            </a:pPr>
            <a:r>
              <a:rPr lang="en-US" sz="1300" i="1" dirty="0">
                <a:solidFill>
                  <a:schemeClr val="tx2"/>
                </a:solidFill>
              </a:rPr>
              <a:t>«Busque un parcial de Cálculo Diferencial y ábralo.»</a:t>
            </a:r>
            <a:endParaRPr lang="en-US" sz="1300" dirty="0"/>
          </a:p>
        </p:txBody>
      </p:sp>
      <p:sp>
        <p:nvSpPr>
          <p:cNvPr id="14" name="Text 12"/>
          <p:cNvSpPr txBox="1"/>
          <p:nvPr/>
        </p:nvSpPr>
        <p:spPr>
          <a:xfrm>
            <a:off x="3584448" y="3931920"/>
            <a:ext cx="2121408" cy="274320"/>
          </a:xfrm>
          <a:prstGeom prst="rect">
            <a:avLst/>
          </a:prstGeom>
          <a:noFill/>
          <a:ln/>
        </p:spPr>
        <p:txBody>
          <a:bodyPr wrap="square" lIns="0" tIns="0" rIns="0" bIns="0" rtlCol="0" anchor="ctr"/>
          <a:lstStyle/>
          <a:p>
            <a:pPr marL="0" indent="0">
              <a:buNone/>
            </a:pPr>
            <a:r>
              <a:rPr lang="en-US" sz="1200" b="1" dirty="0">
                <a:solidFill>
                  <a:schemeClr val="accent4"/>
                </a:solidFill>
                <a:latin typeface="Courier New" pitchFamily="34" charset="0"/>
                <a:ea typeface="Courier New" pitchFamily="34" charset="-122"/>
                <a:cs typeface="Courier New" pitchFamily="34" charset="-120"/>
              </a:rPr>
              <a:t>RF-03, RF-04, RF-05</a:t>
            </a:r>
            <a:endParaRPr lang="en-US" sz="1200" dirty="0"/>
          </a:p>
        </p:txBody>
      </p:sp>
      <p:sp>
        <p:nvSpPr>
          <p:cNvPr id="15" name="card"/>
          <p:cNvSpPr/>
          <p:nvPr/>
        </p:nvSpPr>
        <p:spPr>
          <a:xfrm>
            <a:off x="6163056" y="1371600"/>
            <a:ext cx="2578608" cy="3017520"/>
          </a:xfrm>
          <a:prstGeom prst="roundRect">
            <a:avLst>
              <a:gd name="adj" fmla="val 4255"/>
            </a:avLst>
          </a:prstGeom>
          <a:solidFill>
            <a:schemeClr val="bg1"/>
          </a:solidFill>
          <a:ln w="9525">
            <a:solidFill>
              <a:schemeClr val="accent6"/>
            </a:solidFill>
            <a:prstDash val="solid"/>
          </a:ln>
        </p:spPr>
      </p:sp>
      <p:sp>
        <p:nvSpPr>
          <p:cNvPr id="16" name="tarea"/>
          <p:cNvSpPr/>
          <p:nvPr/>
        </p:nvSpPr>
        <p:spPr>
          <a:xfrm>
            <a:off x="6391656" y="1600200"/>
            <a:ext cx="594360" cy="594360"/>
          </a:xfrm>
          <a:prstGeom prst="ellipse">
            <a:avLst/>
          </a:prstGeom>
          <a:solidFill>
            <a:schemeClr val="tx1"/>
          </a:solidFill>
          <a:ln w="12700">
            <a:solidFill>
              <a:schemeClr val="tx1"/>
            </a:solidFill>
            <a:prstDash val="solid"/>
          </a:ln>
        </p:spPr>
      </p:sp>
      <p:sp>
        <p:nvSpPr>
          <p:cNvPr id="17" name="Text 15"/>
          <p:cNvSpPr txBox="1"/>
          <p:nvPr/>
        </p:nvSpPr>
        <p:spPr>
          <a:xfrm>
            <a:off x="6391656" y="1600200"/>
            <a:ext cx="594360" cy="594360"/>
          </a:xfrm>
          <a:prstGeom prst="rect">
            <a:avLst/>
          </a:prstGeom>
          <a:no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T3</a:t>
            </a:r>
            <a:endParaRPr lang="en-US" sz="1400" dirty="0"/>
          </a:p>
        </p:txBody>
      </p:sp>
      <p:sp>
        <p:nvSpPr>
          <p:cNvPr id="18" name="Text 16"/>
          <p:cNvSpPr txBox="1"/>
          <p:nvPr/>
        </p:nvSpPr>
        <p:spPr>
          <a:xfrm>
            <a:off x="6391656" y="2331720"/>
            <a:ext cx="2121408" cy="365760"/>
          </a:xfrm>
          <a:prstGeom prst="rect">
            <a:avLst/>
          </a:prstGeom>
          <a:noFill/>
          <a:ln/>
        </p:spPr>
        <p:txBody>
          <a:bodyPr wrap="square" lIns="0" tIns="0" rIns="0" bIns="0" rtlCol="0" anchor="ctr"/>
          <a:lstStyle/>
          <a:p>
            <a:pPr marL="0" indent="0">
              <a:buNone/>
            </a:pPr>
            <a:r>
              <a:rPr lang="en-US" sz="1600" b="1" dirty="0">
                <a:solidFill>
                  <a:schemeClr val="tx1"/>
                </a:solidFill>
              </a:rPr>
              <a:t>Subir de forma anónima</a:t>
            </a:r>
            <a:endParaRPr lang="en-US" sz="1600" dirty="0"/>
          </a:p>
        </p:txBody>
      </p:sp>
      <p:sp>
        <p:nvSpPr>
          <p:cNvPr id="19" name="Text 17"/>
          <p:cNvSpPr txBox="1"/>
          <p:nvPr/>
        </p:nvSpPr>
        <p:spPr>
          <a:xfrm>
            <a:off x="6391656" y="2743200"/>
            <a:ext cx="2121408" cy="1097280"/>
          </a:xfrm>
          <a:prstGeom prst="rect">
            <a:avLst/>
          </a:prstGeom>
          <a:noFill/>
          <a:ln/>
        </p:spPr>
        <p:txBody>
          <a:bodyPr wrap="square" lIns="0" tIns="0" rIns="0" bIns="0" rtlCol="0" anchor="t"/>
          <a:lstStyle/>
          <a:p>
            <a:pPr marL="0" indent="0">
              <a:buNone/>
            </a:pPr>
            <a:r>
              <a:rPr lang="en-US" sz="1300" i="1" dirty="0">
                <a:solidFill>
                  <a:schemeClr val="tx2"/>
                </a:solidFill>
              </a:rPr>
              <a:t>«Suba este PDF a Programación I sin que aparezca su nombre.»</a:t>
            </a:r>
            <a:endParaRPr lang="en-US" sz="1300" dirty="0"/>
          </a:p>
        </p:txBody>
      </p:sp>
      <p:sp>
        <p:nvSpPr>
          <p:cNvPr id="20" name="Text 18"/>
          <p:cNvSpPr txBox="1"/>
          <p:nvPr/>
        </p:nvSpPr>
        <p:spPr>
          <a:xfrm>
            <a:off x="6391656" y="3931920"/>
            <a:ext cx="2121408" cy="274320"/>
          </a:xfrm>
          <a:prstGeom prst="rect">
            <a:avLst/>
          </a:prstGeom>
          <a:noFill/>
          <a:ln/>
        </p:spPr>
        <p:txBody>
          <a:bodyPr wrap="square" lIns="0" tIns="0" rIns="0" bIns="0" rtlCol="0" anchor="ctr"/>
          <a:lstStyle/>
          <a:p>
            <a:pPr marL="0" indent="0">
              <a:buNone/>
            </a:pPr>
            <a:r>
              <a:rPr lang="en-US" sz="1200" b="1" dirty="0">
                <a:solidFill>
                  <a:schemeClr val="accent4"/>
                </a:solidFill>
                <a:latin typeface="Courier New" pitchFamily="34" charset="0"/>
                <a:ea typeface="Courier New" pitchFamily="34" charset="-122"/>
                <a:cs typeface="Courier New" pitchFamily="34" charset="-120"/>
              </a:rPr>
              <a:t>RF-06, RF-07, RNF-01</a:t>
            </a:r>
            <a:endParaRPr lang="en-US" sz="1200" dirty="0"/>
          </a:p>
        </p:txBody>
      </p:sp>
      <p:sp>
        <p:nvSpPr>
          <p:cNvPr id="21" name="card"/>
          <p:cNvSpPr/>
          <p:nvPr/>
        </p:nvSpPr>
        <p:spPr>
          <a:xfrm>
            <a:off x="8970264" y="1371600"/>
            <a:ext cx="2578608" cy="3017520"/>
          </a:xfrm>
          <a:prstGeom prst="roundRect">
            <a:avLst>
              <a:gd name="adj" fmla="val 4255"/>
            </a:avLst>
          </a:prstGeom>
          <a:solidFill>
            <a:schemeClr val="bg1"/>
          </a:solidFill>
          <a:ln w="9525">
            <a:solidFill>
              <a:schemeClr val="accent6"/>
            </a:solidFill>
            <a:prstDash val="solid"/>
          </a:ln>
        </p:spPr>
      </p:sp>
      <p:sp>
        <p:nvSpPr>
          <p:cNvPr id="22" name="tarea"/>
          <p:cNvSpPr/>
          <p:nvPr/>
        </p:nvSpPr>
        <p:spPr>
          <a:xfrm>
            <a:off x="9198864" y="1600200"/>
            <a:ext cx="594360" cy="594360"/>
          </a:xfrm>
          <a:prstGeom prst="ellipse">
            <a:avLst/>
          </a:prstGeom>
          <a:solidFill>
            <a:schemeClr val="tx1"/>
          </a:solidFill>
          <a:ln w="12700">
            <a:solidFill>
              <a:schemeClr val="tx1"/>
            </a:solidFill>
            <a:prstDash val="solid"/>
          </a:ln>
        </p:spPr>
      </p:sp>
      <p:sp>
        <p:nvSpPr>
          <p:cNvPr id="23" name="Text 21"/>
          <p:cNvSpPr txBox="1"/>
          <p:nvPr/>
        </p:nvSpPr>
        <p:spPr>
          <a:xfrm>
            <a:off x="9198864" y="1600200"/>
            <a:ext cx="594360" cy="594360"/>
          </a:xfrm>
          <a:prstGeom prst="rect">
            <a:avLst/>
          </a:prstGeom>
          <a:no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T4</a:t>
            </a:r>
            <a:endParaRPr lang="en-US" sz="1400" dirty="0"/>
          </a:p>
        </p:txBody>
      </p:sp>
      <p:sp>
        <p:nvSpPr>
          <p:cNvPr id="24" name="Text 22"/>
          <p:cNvSpPr txBox="1"/>
          <p:nvPr/>
        </p:nvSpPr>
        <p:spPr>
          <a:xfrm>
            <a:off x="9198864" y="2331720"/>
            <a:ext cx="2121408" cy="365760"/>
          </a:xfrm>
          <a:prstGeom prst="rect">
            <a:avLst/>
          </a:prstGeom>
          <a:noFill/>
          <a:ln/>
        </p:spPr>
        <p:txBody>
          <a:bodyPr wrap="square" lIns="0" tIns="0" rIns="0" bIns="0" rtlCol="0" anchor="ctr"/>
          <a:lstStyle/>
          <a:p>
            <a:pPr marL="0" indent="0">
              <a:buNone/>
            </a:pPr>
            <a:r>
              <a:rPr lang="en-US" sz="1600" b="1" dirty="0">
                <a:solidFill>
                  <a:schemeClr val="tx1"/>
                </a:solidFill>
              </a:rPr>
              <a:t>Reportar un material</a:t>
            </a:r>
            <a:endParaRPr lang="en-US" sz="1600" dirty="0"/>
          </a:p>
        </p:txBody>
      </p:sp>
      <p:sp>
        <p:nvSpPr>
          <p:cNvPr id="25" name="Text 23"/>
          <p:cNvSpPr txBox="1"/>
          <p:nvPr/>
        </p:nvSpPr>
        <p:spPr>
          <a:xfrm>
            <a:off x="9198864" y="2743200"/>
            <a:ext cx="2121408" cy="1097280"/>
          </a:xfrm>
          <a:prstGeom prst="rect">
            <a:avLst/>
          </a:prstGeom>
          <a:noFill/>
          <a:ln/>
        </p:spPr>
        <p:txBody>
          <a:bodyPr wrap="square" lIns="0" tIns="0" rIns="0" bIns="0" rtlCol="0" anchor="t"/>
          <a:lstStyle/>
          <a:p>
            <a:pPr marL="0" indent="0">
              <a:buNone/>
            </a:pPr>
            <a:r>
              <a:rPr lang="en-US" sz="1300" i="1" dirty="0">
                <a:solidFill>
                  <a:schemeClr val="tx2"/>
                </a:solidFill>
              </a:rPr>
              <a:t>«Usted cree que el “Quiz de cinemática” tiene un error. Avísele a la plataforma.»</a:t>
            </a:r>
            <a:endParaRPr lang="en-US" sz="1300" dirty="0"/>
          </a:p>
        </p:txBody>
      </p:sp>
      <p:sp>
        <p:nvSpPr>
          <p:cNvPr id="26" name="Text 24"/>
          <p:cNvSpPr txBox="1"/>
          <p:nvPr/>
        </p:nvSpPr>
        <p:spPr>
          <a:xfrm>
            <a:off x="9198864" y="3931920"/>
            <a:ext cx="2121408" cy="274320"/>
          </a:xfrm>
          <a:prstGeom prst="rect">
            <a:avLst/>
          </a:prstGeom>
          <a:noFill/>
          <a:ln/>
        </p:spPr>
        <p:txBody>
          <a:bodyPr wrap="square" lIns="0" tIns="0" rIns="0" bIns="0" rtlCol="0" anchor="ctr"/>
          <a:lstStyle/>
          <a:p>
            <a:pPr marL="0" indent="0">
              <a:buNone/>
            </a:pPr>
            <a:r>
              <a:rPr lang="en-US" sz="1200" b="1" dirty="0">
                <a:solidFill>
                  <a:schemeClr val="accent4"/>
                </a:solidFill>
                <a:latin typeface="Courier New" pitchFamily="34" charset="0"/>
                <a:ea typeface="Courier New" pitchFamily="34" charset="-122"/>
                <a:cs typeface="Courier New" pitchFamily="34" charset="-120"/>
              </a:rPr>
              <a:t>RF-09</a:t>
            </a:r>
            <a:endParaRPr lang="en-US" sz="1200" dirty="0"/>
          </a:p>
        </p:txBody>
      </p:sp>
      <p:sp>
        <p:nvSpPr>
          <p:cNvPr id="27" name="card"/>
          <p:cNvSpPr/>
          <p:nvPr/>
        </p:nvSpPr>
        <p:spPr>
          <a:xfrm>
            <a:off x="548640" y="4617720"/>
            <a:ext cx="11094415" cy="1325880"/>
          </a:xfrm>
          <a:prstGeom prst="roundRect">
            <a:avLst>
              <a:gd name="adj" fmla="val 8276"/>
            </a:avLst>
          </a:prstGeom>
          <a:solidFill>
            <a:schemeClr val="bg2"/>
          </a:solidFill>
          <a:ln w="9525">
            <a:solidFill>
              <a:schemeClr val="accent6"/>
            </a:solidFill>
            <a:prstDash val="solid"/>
          </a:ln>
        </p:spPr>
      </p:sp>
      <p:sp>
        <p:nvSpPr>
          <p:cNvPr id="28" name="Text 26"/>
          <p:cNvSpPr txBox="1"/>
          <p:nvPr/>
        </p:nvSpPr>
        <p:spPr>
          <a:xfrm>
            <a:off x="822960" y="4754880"/>
            <a:ext cx="10545775" cy="1051560"/>
          </a:xfrm>
          <a:prstGeom prst="rect">
            <a:avLst/>
          </a:prstGeom>
          <a:noFill/>
          <a:ln/>
        </p:spPr>
        <p:txBody>
          <a:bodyPr wrap="square" lIns="0" tIns="0" rIns="0" bIns="0" rtlCol="0" anchor="ctr"/>
          <a:lstStyle/>
          <a:p>
            <a:pPr marL="0" indent="0">
              <a:spcAft>
                <a:spcPts val="600"/>
              </a:spcAft>
              <a:buNone/>
            </a:pPr>
            <a:r>
              <a:rPr lang="en-US" sz="1500" b="1" dirty="0">
                <a:solidFill>
                  <a:schemeClr val="tx1"/>
                </a:solidFill>
              </a:rPr>
              <a:t>Participantes: </a:t>
            </a:r>
            <a:r>
              <a:rPr lang="en-US" sz="1500" dirty="0">
                <a:solidFill>
                  <a:schemeClr val="tx2"/>
                </a:solidFill>
              </a:rPr>
              <a:t>tres estudiantes que no conozcan la aplicación, al menos uno en celular.</a:t>
            </a:r>
            <a:endParaRPr lang="en-US" sz="1500" dirty="0"/>
          </a:p>
          <a:p>
            <a:pPr marL="0" indent="0">
              <a:spcAft>
                <a:spcPts val="600"/>
              </a:spcAft>
              <a:buNone/>
            </a:pPr>
            <a:r>
              <a:rPr lang="en-US" sz="1500" b="1" dirty="0">
                <a:solidFill>
                  <a:schemeClr val="tx1"/>
                </a:solidFill>
              </a:rPr>
              <a:t>Criterio, fijado antes de la sesión: </a:t>
            </a:r>
            <a:r>
              <a:rPr lang="en-US" sz="1500" dirty="0">
                <a:solidFill>
                  <a:schemeClr val="tx2"/>
                </a:solidFill>
              </a:rPr>
              <a:t>una tarea queda validada si al menos 2 de 3 la completan sin ayuda. RNF-01 se valida si T3 se hace en 3 pasos o menos.</a:t>
            </a:r>
            <a:endParaRPr lang="en-US" sz="1500" dirty="0"/>
          </a:p>
        </p:txBody>
      </p:sp>
      <p:sp>
        <p:nvSpPr>
          <p:cNvPr id="29"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Pendientes y próximos pasos</a:t>
            </a:r>
            <a:endParaRPr lang="en-US" sz="3200" dirty="0"/>
          </a:p>
        </p:txBody>
      </p:sp>
      <p:sp>
        <p:nvSpPr>
          <p:cNvPr id="3" name="paso"/>
          <p:cNvSpPr/>
          <p:nvPr/>
        </p:nvSpPr>
        <p:spPr>
          <a:xfrm>
            <a:off x="548640" y="1508760"/>
            <a:ext cx="685800" cy="685800"/>
          </a:xfrm>
          <a:prstGeom prst="ellipse">
            <a:avLst/>
          </a:prstGeom>
          <a:solidFill>
            <a:schemeClr val="accent2"/>
          </a:solidFill>
          <a:ln w="12700">
            <a:solidFill>
              <a:schemeClr val="accent2"/>
            </a:solidFill>
            <a:prstDash val="solid"/>
          </a:ln>
        </p:spPr>
      </p:sp>
      <p:sp>
        <p:nvSpPr>
          <p:cNvPr id="4" name="Text 2"/>
          <p:cNvSpPr txBox="1"/>
          <p:nvPr/>
        </p:nvSpPr>
        <p:spPr>
          <a:xfrm>
            <a:off x="548640" y="150876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5" name="Text 3"/>
          <p:cNvSpPr txBox="1"/>
          <p:nvPr/>
        </p:nvSpPr>
        <p:spPr>
          <a:xfrm>
            <a:off x="1508760" y="1417320"/>
            <a:ext cx="9601200" cy="411480"/>
          </a:xfrm>
          <a:prstGeom prst="rect">
            <a:avLst/>
          </a:prstGeom>
          <a:noFill/>
          <a:ln/>
        </p:spPr>
        <p:txBody>
          <a:bodyPr wrap="square" lIns="0" tIns="0" rIns="0" bIns="0" rtlCol="0" anchor="ctr"/>
          <a:lstStyle/>
          <a:p>
            <a:pPr marL="0" indent="0">
              <a:buNone/>
            </a:pPr>
            <a:r>
              <a:rPr lang="en-US" sz="1900" b="1" dirty="0">
                <a:solidFill>
                  <a:schemeClr val="tx1"/>
                </a:solidFill>
              </a:rPr>
              <a:t>Validación con estudiantes</a:t>
            </a:r>
            <a:endParaRPr lang="en-US" sz="1900" dirty="0"/>
          </a:p>
        </p:txBody>
      </p:sp>
      <p:sp>
        <p:nvSpPr>
          <p:cNvPr id="6" name="Text 4"/>
          <p:cNvSpPr txBox="1"/>
          <p:nvPr/>
        </p:nvSpPr>
        <p:spPr>
          <a:xfrm>
            <a:off x="1508760" y="1847088"/>
            <a:ext cx="9601200" cy="457200"/>
          </a:xfrm>
          <a:prstGeom prst="rect">
            <a:avLst/>
          </a:prstGeom>
          <a:noFill/>
          <a:ln/>
        </p:spPr>
        <p:txBody>
          <a:bodyPr wrap="square" lIns="0" tIns="0" rIns="0" bIns="0" rtlCol="0" anchor="ctr"/>
          <a:lstStyle/>
          <a:p>
            <a:pPr marL="0" indent="0">
              <a:buNone/>
            </a:pPr>
            <a:r>
              <a:rPr lang="en-US" sz="1500" dirty="0">
                <a:solidFill>
                  <a:schemeClr val="tx2"/>
                </a:solidFill>
              </a:rPr>
              <a:t>Hacer la sesión con tres estudiantes y registrar sus resultados reales en el informe.</a:t>
            </a:r>
            <a:endParaRPr lang="en-US" sz="1500" dirty="0"/>
          </a:p>
        </p:txBody>
      </p:sp>
      <p:sp>
        <p:nvSpPr>
          <p:cNvPr id="7" name="paso"/>
          <p:cNvSpPr/>
          <p:nvPr/>
        </p:nvSpPr>
        <p:spPr>
          <a:xfrm>
            <a:off x="548640" y="2651760"/>
            <a:ext cx="685800" cy="685800"/>
          </a:xfrm>
          <a:prstGeom prst="ellipse">
            <a:avLst/>
          </a:prstGeom>
          <a:solidFill>
            <a:schemeClr val="tx1"/>
          </a:solidFill>
          <a:ln w="12700">
            <a:solidFill>
              <a:schemeClr val="tx1"/>
            </a:solidFill>
            <a:prstDash val="solid"/>
          </a:ln>
        </p:spPr>
      </p:sp>
      <p:sp>
        <p:nvSpPr>
          <p:cNvPr id="8" name="Text 6"/>
          <p:cNvSpPr txBox="1"/>
          <p:nvPr/>
        </p:nvSpPr>
        <p:spPr>
          <a:xfrm>
            <a:off x="548640" y="265176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9" name="Text 7"/>
          <p:cNvSpPr txBox="1"/>
          <p:nvPr/>
        </p:nvSpPr>
        <p:spPr>
          <a:xfrm>
            <a:off x="1508760" y="2560320"/>
            <a:ext cx="9601200" cy="411480"/>
          </a:xfrm>
          <a:prstGeom prst="rect">
            <a:avLst/>
          </a:prstGeom>
          <a:noFill/>
          <a:ln/>
        </p:spPr>
        <p:txBody>
          <a:bodyPr wrap="square" lIns="0" tIns="0" rIns="0" bIns="0" rtlCol="0" anchor="ctr"/>
          <a:lstStyle/>
          <a:p>
            <a:pPr marL="0" indent="0">
              <a:buNone/>
            </a:pPr>
            <a:r>
              <a:rPr lang="en-US" sz="1900" b="1" dirty="0">
                <a:solidFill>
                  <a:schemeClr val="tx1"/>
                </a:solidFill>
              </a:rPr>
              <a:t>Reglas R-08 y R-09</a:t>
            </a:r>
            <a:endParaRPr lang="en-US" sz="1900" dirty="0"/>
          </a:p>
        </p:txBody>
      </p:sp>
      <p:sp>
        <p:nvSpPr>
          <p:cNvPr id="10" name="Text 8"/>
          <p:cNvSpPr txBox="1"/>
          <p:nvPr/>
        </p:nvSpPr>
        <p:spPr>
          <a:xfrm>
            <a:off x="1508760" y="2990088"/>
            <a:ext cx="9601200" cy="457200"/>
          </a:xfrm>
          <a:prstGeom prst="rect">
            <a:avLst/>
          </a:prstGeom>
          <a:noFill/>
          <a:ln/>
        </p:spPr>
        <p:txBody>
          <a:bodyPr wrap="square" lIns="0" tIns="0" rIns="0" bIns="0" rtlCol="0" anchor="ctr"/>
          <a:lstStyle/>
          <a:p>
            <a:pPr marL="0" indent="0">
              <a:buNone/>
            </a:pPr>
            <a:r>
              <a:rPr lang="en-US" sz="1500" dirty="0">
                <a:solidFill>
                  <a:schemeClr val="tx2"/>
                </a:solidFill>
              </a:rPr>
              <a:t>Que el equipo las revise y las apruebe; ya están en la sección 6.3 del documento.</a:t>
            </a:r>
            <a:endParaRPr lang="en-US" sz="1500" dirty="0"/>
          </a:p>
        </p:txBody>
      </p:sp>
      <p:sp>
        <p:nvSpPr>
          <p:cNvPr id="11" name="paso"/>
          <p:cNvSpPr/>
          <p:nvPr/>
        </p:nvSpPr>
        <p:spPr>
          <a:xfrm>
            <a:off x="548640" y="3794760"/>
            <a:ext cx="685800" cy="685800"/>
          </a:xfrm>
          <a:prstGeom prst="ellipse">
            <a:avLst/>
          </a:prstGeom>
          <a:solidFill>
            <a:schemeClr val="tx1"/>
          </a:solidFill>
          <a:ln w="12700">
            <a:solidFill>
              <a:schemeClr val="tx1"/>
            </a:solidFill>
            <a:prstDash val="solid"/>
          </a:ln>
        </p:spPr>
      </p:sp>
      <p:sp>
        <p:nvSpPr>
          <p:cNvPr id="12" name="Text 10"/>
          <p:cNvSpPr txBox="1"/>
          <p:nvPr/>
        </p:nvSpPr>
        <p:spPr>
          <a:xfrm>
            <a:off x="548640" y="379476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3" name="Text 11"/>
          <p:cNvSpPr txBox="1"/>
          <p:nvPr/>
        </p:nvSpPr>
        <p:spPr>
          <a:xfrm>
            <a:off x="1508760" y="3703320"/>
            <a:ext cx="9601200" cy="411480"/>
          </a:xfrm>
          <a:prstGeom prst="rect">
            <a:avLst/>
          </a:prstGeom>
          <a:noFill/>
          <a:ln/>
        </p:spPr>
        <p:txBody>
          <a:bodyPr wrap="square" lIns="0" tIns="0" rIns="0" bIns="0" rtlCol="0" anchor="ctr"/>
          <a:lstStyle/>
          <a:p>
            <a:pPr marL="0" indent="0">
              <a:buNone/>
            </a:pPr>
            <a:r>
              <a:rPr lang="en-US" sz="1900" b="1" dirty="0">
                <a:solidFill>
                  <a:schemeClr val="tx1"/>
                </a:solidFill>
              </a:rPr>
              <a:t>Evidencia de un sprint</a:t>
            </a:r>
            <a:endParaRPr lang="en-US" sz="1900" dirty="0"/>
          </a:p>
        </p:txBody>
      </p:sp>
      <p:sp>
        <p:nvSpPr>
          <p:cNvPr id="14" name="Text 12"/>
          <p:cNvSpPr txBox="1"/>
          <p:nvPr/>
        </p:nvSpPr>
        <p:spPr>
          <a:xfrm>
            <a:off x="1508760" y="4133088"/>
            <a:ext cx="9601200" cy="457200"/>
          </a:xfrm>
          <a:prstGeom prst="rect">
            <a:avLst/>
          </a:prstGeom>
          <a:noFill/>
          <a:ln/>
        </p:spPr>
        <p:txBody>
          <a:bodyPr wrap="square" lIns="0" tIns="0" rIns="0" bIns="0" rtlCol="0" anchor="ctr"/>
          <a:lstStyle/>
          <a:p>
            <a:pPr marL="0" indent="0">
              <a:buNone/>
            </a:pPr>
            <a:r>
              <a:rPr lang="en-US" sz="1500" dirty="0">
                <a:solidFill>
                  <a:schemeClr val="tx2"/>
                </a:solidFill>
              </a:rPr>
              <a:t>Agregarla en la sección 9.3 del documento del proyecto.</a:t>
            </a:r>
            <a:endParaRPr lang="en-US" sz="1500" dirty="0"/>
          </a:p>
        </p:txBody>
      </p:sp>
      <p:sp>
        <p:nvSpPr>
          <p:cNvPr id="15" name="paso"/>
          <p:cNvSpPr/>
          <p:nvPr/>
        </p:nvSpPr>
        <p:spPr>
          <a:xfrm>
            <a:off x="548640" y="4937760"/>
            <a:ext cx="685800" cy="685800"/>
          </a:xfrm>
          <a:prstGeom prst="ellipse">
            <a:avLst/>
          </a:prstGeom>
          <a:solidFill>
            <a:schemeClr val="tx1"/>
          </a:solidFill>
          <a:ln w="12700">
            <a:solidFill>
              <a:schemeClr val="tx1"/>
            </a:solidFill>
            <a:prstDash val="solid"/>
          </a:ln>
        </p:spPr>
      </p:sp>
      <p:sp>
        <p:nvSpPr>
          <p:cNvPr id="16" name="Text 14"/>
          <p:cNvSpPr txBox="1"/>
          <p:nvPr/>
        </p:nvSpPr>
        <p:spPr>
          <a:xfrm>
            <a:off x="548640" y="493776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17" name="Text 15"/>
          <p:cNvSpPr txBox="1"/>
          <p:nvPr/>
        </p:nvSpPr>
        <p:spPr>
          <a:xfrm>
            <a:off x="1508760" y="4846320"/>
            <a:ext cx="9601200" cy="411480"/>
          </a:xfrm>
          <a:prstGeom prst="rect">
            <a:avLst/>
          </a:prstGeom>
          <a:noFill/>
          <a:ln/>
        </p:spPr>
        <p:txBody>
          <a:bodyPr wrap="square" lIns="0" tIns="0" rIns="0" bIns="0" rtlCol="0" anchor="ctr"/>
          <a:lstStyle/>
          <a:p>
            <a:pPr marL="0" indent="0">
              <a:buNone/>
            </a:pPr>
            <a:r>
              <a:rPr lang="en-US" sz="1900" b="1" dirty="0">
                <a:solidFill>
                  <a:schemeClr val="tx1"/>
                </a:solidFill>
              </a:rPr>
              <a:t>RNF-06, después del MVP</a:t>
            </a:r>
            <a:endParaRPr lang="en-US" sz="1900" dirty="0"/>
          </a:p>
        </p:txBody>
      </p:sp>
      <p:sp>
        <p:nvSpPr>
          <p:cNvPr id="18" name="Text 16"/>
          <p:cNvSpPr txBox="1"/>
          <p:nvPr/>
        </p:nvSpPr>
        <p:spPr>
          <a:xfrm>
            <a:off x="1508760" y="5276088"/>
            <a:ext cx="9601200" cy="457200"/>
          </a:xfrm>
          <a:prstGeom prst="rect">
            <a:avLst/>
          </a:prstGeom>
          <a:noFill/>
          <a:ln/>
        </p:spPr>
        <p:txBody>
          <a:bodyPr wrap="square" lIns="0" tIns="0" rIns="0" bIns="0" rtlCol="0" anchor="ctr"/>
          <a:lstStyle/>
          <a:p>
            <a:pPr marL="0" indent="0">
              <a:buNone/>
            </a:pPr>
            <a:r>
              <a:rPr lang="en-US" sz="1500" dirty="0">
                <a:solidFill>
                  <a:schemeClr val="tx2"/>
                </a:solidFill>
              </a:rPr>
              <a:t>Elegir servidor, desplegar y medir la disponibilidad durante un mes.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22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1371600"/>
            <a:ext cx="9144000" cy="365760"/>
          </a:xfrm>
          <a:prstGeom prst="rect">
            <a:avLst/>
          </a:prstGeom>
          <a:noFill/>
          <a:ln/>
        </p:spPr>
        <p:txBody>
          <a:bodyPr wrap="square" lIns="0" tIns="0" rIns="0" bIns="0" rtlCol="0" anchor="ctr"/>
          <a:lstStyle/>
          <a:p>
            <a:pPr marL="0" indent="0">
              <a:buNone/>
            </a:pPr>
            <a:r>
              <a:rPr lang="en-US" sz="1400" b="1" kern="0" spc="200" dirty="0">
                <a:solidFill>
                  <a:schemeClr val="accent6"/>
                </a:solidFill>
                <a:latin typeface="Courier New" pitchFamily="34" charset="0"/>
                <a:ea typeface="Courier New" pitchFamily="34" charset="-122"/>
                <a:cs typeface="Courier New" pitchFamily="34" charset="-120"/>
              </a:rPr>
              <a:t>CONCLUSIÓN</a:t>
            </a:r>
            <a:endParaRPr lang="en-US" sz="1400" dirty="0"/>
          </a:p>
        </p:txBody>
      </p:sp>
      <p:sp>
        <p:nvSpPr>
          <p:cNvPr id="3" name="Text 0"/>
          <p:cNvSpPr>
            <a:spLocks noGrp="1"/>
          </p:cNvSpPr>
          <p:nvPr>
            <p:ph type="title" idx="100" hasCustomPrompt="1"/>
          </p:nvPr>
        </p:nvSpPr>
        <p:spPr>
          <a:xfrm rot="10800000" flipV="1">
            <a:off x="548640" y="3749040"/>
            <a:ext cx="10515600" cy="1267507"/>
          </a:xfrm>
          <a:prstGeom prst="rect">
            <a:avLst/>
          </a:prstGeom>
          <a:noFill/>
          <a:ln/>
        </p:spPr>
        <p:txBody>
          <a:bodyPr wrap="square" lIns="0" tIns="0" rIns="0" bIns="0" rtlCol="0" anchor="t"/>
          <a:lstStyle/>
          <a:p>
            <a:r>
              <a:rPr lang="en-US"/>
              <a:t>Gracias </a:t>
            </a:r>
            <a:endParaRPr lang="en-US" sz="4800"/>
          </a:p>
        </p:txBody>
      </p:sp>
      <p:sp>
        <p:nvSpPr>
          <p:cNvPr id="4" name="Text 2"/>
          <p:cNvSpPr txBox="1"/>
          <p:nvPr/>
        </p:nvSpPr>
        <p:spPr>
          <a:xfrm>
            <a:off x="548640" y="2337758"/>
            <a:ext cx="10058400" cy="1097280"/>
          </a:xfrm>
          <a:prstGeom prst="rect">
            <a:avLst/>
          </a:prstGeom>
          <a:noFill/>
          <a:ln/>
        </p:spPr>
        <p:txBody>
          <a:bodyPr wrap="square" lIns="0" tIns="0" rIns="0" bIns="0" rtlCol="0" anchor="t"/>
          <a:lstStyle/>
          <a:p>
            <a:pPr marL="0" indent="0">
              <a:buNone/>
            </a:pPr>
            <a:r>
              <a:rPr lang="en-US" sz="2200" dirty="0">
                <a:solidFill>
                  <a:schemeClr val="accent6"/>
                </a:solidFill>
              </a:rPr>
              <a:t>El MVP cumple sus 10 requerimientos obligatorios y ahora incluye un Tutor IA. Falta comprobar con estudiantes que resuelve la necesidad que lo originó.</a:t>
            </a:r>
            <a:endParaRPr lang="en-US" sz="2200" dirty="0"/>
          </a:p>
        </p:txBody>
      </p:sp>
      <p:pic>
        <p:nvPicPr>
          <p:cNvPr id="90" name="Logo UTB" descr="Logosímbolo de la Universidad Tecnológica de Bolívar"/>
          <p:cNvPicPr>
            <a:picLocks noChangeAspect="1"/>
          </p:cNvPicPr>
          <p:nvPr/>
        </p:nvPicPr>
        <p:blipFill>
          <a:blip r:embed="rId90"/>
          <a:stretch>
            <a:fillRect/>
          </a:stretch>
        </p:blipFill>
        <p:spPr>
          <a:xfrm>
            <a:off x="9545883" y="457200"/>
            <a:ext cx="2097477" cy="8686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1371600"/>
            <a:ext cx="9144000" cy="365760"/>
          </a:xfrm>
          <a:prstGeom prst="rect">
            <a:avLst/>
          </a:prstGeom>
          <a:noFill/>
          <a:ln/>
        </p:spPr>
        <p:txBody>
          <a:bodyPr wrap="square" lIns="0" tIns="0" rIns="0" bIns="0" rtlCol="0" anchor="ctr"/>
          <a:lstStyle/>
          <a:p>
            <a:pPr marL="0" indent="0">
              <a:buNone/>
            </a:pPr>
            <a:r>
              <a:rPr lang="en-US" sz="1400" b="1" kern="0" spc="200" dirty="0">
                <a:solidFill>
                  <a:schemeClr val="accent6"/>
                </a:solidFill>
                <a:latin typeface="Courier New" pitchFamily="34" charset="0"/>
                <a:ea typeface="Courier New" pitchFamily="34" charset="-122"/>
                <a:cs typeface="Courier New" pitchFamily="34" charset="-120"/>
              </a:rPr>
              <a:t>NUEVA FUNCIONALIDAD</a:t>
            </a:r>
            <a:endParaRPr lang="en-US" sz="1400" dirty="0"/>
          </a:p>
        </p:txBody>
      </p:sp>
      <p:sp>
        <p:nvSpPr>
          <p:cNvPr id="3" name="Text 0"/>
          <p:cNvSpPr>
            <a:spLocks noGrp="1"/>
          </p:cNvSpPr>
          <p:nvPr>
            <p:ph type="title" idx="100" hasCustomPrompt="1"/>
          </p:nvPr>
        </p:nvSpPr>
        <p:spPr>
          <a:xfrm rot="10800000" flipV="1">
            <a:off x="548640" y="1828800"/>
            <a:ext cx="10515600" cy="914400"/>
          </a:xfrm>
          <a:prstGeom prst="rect">
            <a:avLst/>
          </a:prstGeom>
          <a:noFill/>
          <a:ln/>
        </p:spPr>
        <p:txBody>
          <a:bodyPr wrap="square" lIns="0" tIns="0" rIns="0" bIns="0" rtlCol="0" anchor="t"/>
          <a:lstStyle/>
          <a:p>
            <a:r>
              <a:rPr lang="en-US"/>
              <a:t>IA gratuita</a:t>
            </a:r>
            <a:endParaRPr lang="en-US" sz="4800"/>
          </a:p>
        </p:txBody>
      </p:sp>
      <p:sp>
        <p:nvSpPr>
          <p:cNvPr id="4" name="Text 2"/>
          <p:cNvSpPr txBox="1"/>
          <p:nvPr/>
        </p:nvSpPr>
        <p:spPr>
          <a:xfrm>
            <a:off x="548640" y="2926080"/>
            <a:ext cx="10058400" cy="1097280"/>
          </a:xfrm>
          <a:prstGeom prst="rect">
            <a:avLst/>
          </a:prstGeom>
          <a:noFill/>
          <a:ln/>
        </p:spPr>
        <p:txBody>
          <a:bodyPr wrap="square" lIns="0" tIns="0" rIns="0" bIns="0" rtlCol="0" anchor="t"/>
          <a:lstStyle/>
          <a:p>
            <a:pPr marL="0" indent="0">
              <a:buNone/>
            </a:pPr>
            <a:r>
              <a:rPr lang="en-US" sz="2200" dirty="0">
                <a:solidFill>
                  <a:schemeClr val="accent6"/>
                </a:solidFill>
              </a:rPr>
              <a:t>IA gratuita (Google Gemini) que revisa cada archivo antes de publicarlo, explica el material, genera quices y arma simulacros de parcial. Se agregó después de estas pruebas, a pedido del docente.</a:t>
            </a:r>
            <a:endParaRPr lang="en-US" sz="2200" dirty="0"/>
          </a:p>
        </p:txBody>
      </p:sp>
      <p:pic>
        <p:nvPicPr>
          <p:cNvPr id="90" name="Logo UTB" descr="Logosímbolo de la Universidad Tecnológica de Bolívar"/>
          <p:cNvPicPr>
            <a:picLocks noChangeAspect="1"/>
          </p:cNvPicPr>
          <p:nvPr/>
        </p:nvPicPr>
        <p:blipFill>
          <a:blip r:embed="rId90"/>
          <a:stretch>
            <a:fillRect/>
          </a:stretch>
        </p:blipFill>
        <p:spPr>
          <a:xfrm>
            <a:off x="9545883" y="457200"/>
            <a:ext cx="2097477" cy="8686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La IA en la plataforma</a:t>
            </a:r>
            <a:endParaRPr lang="en-US" sz="3200" dirty="0"/>
          </a:p>
        </p:txBody>
      </p:sp>
      <p:sp>
        <p:nvSpPr>
          <p:cNvPr id="3" name="card"/>
          <p:cNvSpPr/>
          <p:nvPr/>
        </p:nvSpPr>
        <p:spPr>
          <a:xfrm>
            <a:off x="548640" y="1463040"/>
            <a:ext cx="5394960" cy="1371600"/>
          </a:xfrm>
          <a:prstGeom prst="roundRect">
            <a:avLst>
              <a:gd name="adj" fmla="val 8000"/>
            </a:avLst>
          </a:prstGeom>
          <a:solidFill>
            <a:schemeClr val="bg2"/>
          </a:solidFill>
          <a:ln w="9525">
            <a:solidFill>
              <a:schemeClr val="accent6"/>
            </a:solidFill>
            <a:prstDash val="solid"/>
          </a:ln>
        </p:spPr>
      </p:sp>
      <p:sp>
        <p:nvSpPr>
          <p:cNvPr id="4" name="icono"/>
          <p:cNvSpPr/>
          <p:nvPr/>
        </p:nvSpPr>
        <p:spPr>
          <a:xfrm>
            <a:off x="822960" y="1783080"/>
            <a:ext cx="731520" cy="731520"/>
          </a:xfrm>
          <a:prstGeom prst="ellipse">
            <a:avLst/>
          </a:prstGeom>
          <a:solidFill>
            <a:schemeClr val="tx1"/>
          </a:solidFill>
          <a:ln w="12700">
            <a:solidFill>
              <a:schemeClr val="tx1"/>
            </a:solidFill>
            <a:prstDash val="solid"/>
          </a:ln>
        </p:spPr>
      </p:sp>
      <p:sp>
        <p:nvSpPr>
          <p:cNvPr id="5" name="Text 3"/>
          <p:cNvSpPr txBox="1"/>
          <p:nvPr/>
        </p:nvSpPr>
        <p:spPr>
          <a:xfrm>
            <a:off x="822960" y="1783080"/>
            <a:ext cx="731520" cy="731520"/>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REV</a:t>
            </a:r>
            <a:endParaRPr lang="en-US" sz="1300" dirty="0"/>
          </a:p>
        </p:txBody>
      </p:sp>
      <p:sp>
        <p:nvSpPr>
          <p:cNvPr id="6" name="Text 4"/>
          <p:cNvSpPr txBox="1"/>
          <p:nvPr/>
        </p:nvSpPr>
        <p:spPr>
          <a:xfrm>
            <a:off x="1783080" y="1645920"/>
            <a:ext cx="3931920" cy="365760"/>
          </a:xfrm>
          <a:prstGeom prst="rect">
            <a:avLst/>
          </a:prstGeom>
          <a:noFill/>
          <a:ln/>
        </p:spPr>
        <p:txBody>
          <a:bodyPr wrap="square" lIns="0" tIns="0" rIns="0" bIns="0" rtlCol="0" anchor="ctr"/>
          <a:lstStyle/>
          <a:p>
            <a:pPr marL="0" indent="0">
              <a:buNone/>
            </a:pPr>
            <a:r>
              <a:rPr lang="en-US" sz="1800" b="1" dirty="0">
                <a:solidFill>
                  <a:schemeClr val="tx1"/>
                </a:solidFill>
              </a:rPr>
              <a:t>Revisión al subir (RF-17)</a:t>
            </a:r>
            <a:endParaRPr lang="en-US" sz="1800" dirty="0"/>
          </a:p>
        </p:txBody>
      </p:sp>
      <p:sp>
        <p:nvSpPr>
          <p:cNvPr id="7" name="Text 5"/>
          <p:cNvSpPr txBox="1"/>
          <p:nvPr/>
        </p:nvSpPr>
        <p:spPr>
          <a:xfrm>
            <a:off x="1783080" y="2029968"/>
            <a:ext cx="3931920" cy="685800"/>
          </a:xfrm>
          <a:prstGeom prst="rect">
            <a:avLst/>
          </a:prstGeom>
          <a:noFill/>
          <a:ln/>
        </p:spPr>
        <p:txBody>
          <a:bodyPr wrap="square" lIns="0" tIns="0" rIns="0" bIns="0" rtlCol="0" anchor="t"/>
          <a:lstStyle/>
          <a:p>
            <a:pPr marL="0" indent="0">
              <a:buNone/>
            </a:pPr>
            <a:r>
              <a:rPr lang="en-US" sz="1400" dirty="0">
                <a:solidFill>
                  <a:schemeClr val="tx2"/>
                </a:solidFill>
              </a:rPr>
              <a:t>Solo publica material académico de la asignatura; rechaza lo demás con el motivo</a:t>
            </a:r>
            <a:endParaRPr lang="en-US" sz="1400" dirty="0"/>
          </a:p>
        </p:txBody>
      </p:sp>
      <p:sp>
        <p:nvSpPr>
          <p:cNvPr id="8" name="card"/>
          <p:cNvSpPr/>
          <p:nvPr/>
        </p:nvSpPr>
        <p:spPr>
          <a:xfrm>
            <a:off x="6172200" y="1463040"/>
            <a:ext cx="5394960" cy="1371600"/>
          </a:xfrm>
          <a:prstGeom prst="roundRect">
            <a:avLst>
              <a:gd name="adj" fmla="val 8000"/>
            </a:avLst>
          </a:prstGeom>
          <a:solidFill>
            <a:schemeClr val="bg2"/>
          </a:solidFill>
          <a:ln w="9525">
            <a:solidFill>
              <a:schemeClr val="accent6"/>
            </a:solidFill>
            <a:prstDash val="solid"/>
          </a:ln>
        </p:spPr>
      </p:sp>
      <p:sp>
        <p:nvSpPr>
          <p:cNvPr id="9" name="icono"/>
          <p:cNvSpPr/>
          <p:nvPr/>
        </p:nvSpPr>
        <p:spPr>
          <a:xfrm>
            <a:off x="6446520" y="1783080"/>
            <a:ext cx="731520" cy="731520"/>
          </a:xfrm>
          <a:prstGeom prst="ellipse">
            <a:avLst/>
          </a:prstGeom>
          <a:solidFill>
            <a:schemeClr val="tx1"/>
          </a:solidFill>
          <a:ln w="12700">
            <a:solidFill>
              <a:schemeClr val="tx1"/>
            </a:solidFill>
            <a:prstDash val="solid"/>
          </a:ln>
        </p:spPr>
      </p:sp>
      <p:sp>
        <p:nvSpPr>
          <p:cNvPr id="10" name="Text 8"/>
          <p:cNvSpPr txBox="1"/>
          <p:nvPr/>
        </p:nvSpPr>
        <p:spPr>
          <a:xfrm>
            <a:off x="6446520" y="1783080"/>
            <a:ext cx="731520" cy="731520"/>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IA</a:t>
            </a:r>
            <a:endParaRPr lang="en-US" sz="1300" dirty="0"/>
          </a:p>
        </p:txBody>
      </p:sp>
      <p:sp>
        <p:nvSpPr>
          <p:cNvPr id="11" name="Text 9"/>
          <p:cNvSpPr txBox="1"/>
          <p:nvPr/>
        </p:nvSpPr>
        <p:spPr>
          <a:xfrm>
            <a:off x="7406640" y="1645920"/>
            <a:ext cx="3931920" cy="365760"/>
          </a:xfrm>
          <a:prstGeom prst="rect">
            <a:avLst/>
          </a:prstGeom>
          <a:noFill/>
          <a:ln/>
        </p:spPr>
        <p:txBody>
          <a:bodyPr wrap="square" lIns="0" tIns="0" rIns="0" bIns="0" rtlCol="0" anchor="ctr"/>
          <a:lstStyle/>
          <a:p>
            <a:pPr marL="0" indent="0">
              <a:buNone/>
            </a:pPr>
            <a:r>
              <a:rPr lang="en-US" sz="1800" b="1" dirty="0">
                <a:solidFill>
                  <a:schemeClr val="tx1"/>
                </a:solidFill>
              </a:rPr>
              <a:t>Tutor IA (RF-14 a RF-16)</a:t>
            </a:r>
            <a:endParaRPr lang="en-US" sz="1800" dirty="0"/>
          </a:p>
        </p:txBody>
      </p:sp>
      <p:sp>
        <p:nvSpPr>
          <p:cNvPr id="12" name="Text 10"/>
          <p:cNvSpPr txBox="1"/>
          <p:nvPr/>
        </p:nvSpPr>
        <p:spPr>
          <a:xfrm>
            <a:off x="7406640" y="2029968"/>
            <a:ext cx="3931920" cy="685800"/>
          </a:xfrm>
          <a:prstGeom prst="rect">
            <a:avLst/>
          </a:prstGeom>
          <a:noFill/>
          <a:ln/>
        </p:spPr>
        <p:txBody>
          <a:bodyPr wrap="square" lIns="0" tIns="0" rIns="0" bIns="0" rtlCol="0" anchor="t"/>
          <a:lstStyle/>
          <a:p>
            <a:pPr marL="0" indent="0">
              <a:buNone/>
            </a:pPr>
            <a:r>
              <a:rPr lang="en-US" sz="1400" dirty="0">
                <a:solidFill>
                  <a:schemeClr val="tx2"/>
                </a:solidFill>
              </a:rPr>
              <a:t>Explica el material, genera un quiz y resuelve dudas en un chat</a:t>
            </a:r>
            <a:endParaRPr lang="en-US" sz="1400" dirty="0"/>
          </a:p>
        </p:txBody>
      </p:sp>
      <p:sp>
        <p:nvSpPr>
          <p:cNvPr id="13" name="card"/>
          <p:cNvSpPr/>
          <p:nvPr/>
        </p:nvSpPr>
        <p:spPr>
          <a:xfrm>
            <a:off x="548640" y="3063240"/>
            <a:ext cx="5394960" cy="1371600"/>
          </a:xfrm>
          <a:prstGeom prst="roundRect">
            <a:avLst>
              <a:gd name="adj" fmla="val 8000"/>
            </a:avLst>
          </a:prstGeom>
          <a:solidFill>
            <a:schemeClr val="bg2"/>
          </a:solidFill>
          <a:ln w="9525">
            <a:solidFill>
              <a:schemeClr val="accent6"/>
            </a:solidFill>
            <a:prstDash val="solid"/>
          </a:ln>
        </p:spPr>
      </p:sp>
      <p:sp>
        <p:nvSpPr>
          <p:cNvPr id="14" name="icono"/>
          <p:cNvSpPr/>
          <p:nvPr/>
        </p:nvSpPr>
        <p:spPr>
          <a:xfrm>
            <a:off x="822960" y="3383280"/>
            <a:ext cx="731520" cy="731520"/>
          </a:xfrm>
          <a:prstGeom prst="ellipse">
            <a:avLst/>
          </a:prstGeom>
          <a:solidFill>
            <a:schemeClr val="tx1"/>
          </a:solidFill>
          <a:ln w="12700">
            <a:solidFill>
              <a:schemeClr val="tx1"/>
            </a:solidFill>
            <a:prstDash val="solid"/>
          </a:ln>
        </p:spPr>
      </p:sp>
      <p:sp>
        <p:nvSpPr>
          <p:cNvPr id="15" name="Text 13"/>
          <p:cNvSpPr txBox="1"/>
          <p:nvPr/>
        </p:nvSpPr>
        <p:spPr>
          <a:xfrm>
            <a:off x="822960" y="3383280"/>
            <a:ext cx="731520" cy="731520"/>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SIM</a:t>
            </a:r>
            <a:endParaRPr lang="en-US" sz="1300" dirty="0"/>
          </a:p>
        </p:txBody>
      </p:sp>
      <p:sp>
        <p:nvSpPr>
          <p:cNvPr id="16" name="Text 14"/>
          <p:cNvSpPr txBox="1"/>
          <p:nvPr/>
        </p:nvSpPr>
        <p:spPr>
          <a:xfrm>
            <a:off x="1783080" y="3246120"/>
            <a:ext cx="3931920" cy="365760"/>
          </a:xfrm>
          <a:prstGeom prst="rect">
            <a:avLst/>
          </a:prstGeom>
          <a:noFill/>
          <a:ln/>
        </p:spPr>
        <p:txBody>
          <a:bodyPr wrap="square" lIns="0" tIns="0" rIns="0" bIns="0" rtlCol="0" anchor="ctr"/>
          <a:lstStyle/>
          <a:p>
            <a:pPr marL="0" indent="0">
              <a:buNone/>
            </a:pPr>
            <a:r>
              <a:rPr lang="en-US" sz="1800" b="1" dirty="0">
                <a:solidFill>
                  <a:schemeClr val="tx1"/>
                </a:solidFill>
              </a:rPr>
              <a:t>Simulacro de parcial (RF-18)</a:t>
            </a:r>
            <a:endParaRPr lang="en-US" sz="1800" dirty="0"/>
          </a:p>
        </p:txBody>
      </p:sp>
      <p:sp>
        <p:nvSpPr>
          <p:cNvPr id="17" name="Text 15"/>
          <p:cNvSpPr txBox="1"/>
          <p:nvPr/>
        </p:nvSpPr>
        <p:spPr>
          <a:xfrm>
            <a:off x="1783080" y="3630168"/>
            <a:ext cx="3931920" cy="685800"/>
          </a:xfrm>
          <a:prstGeom prst="rect">
            <a:avLst/>
          </a:prstGeom>
          <a:noFill/>
          <a:ln/>
        </p:spPr>
        <p:txBody>
          <a:bodyPr wrap="square" lIns="0" tIns="0" rIns="0" bIns="0" rtlCol="0" anchor="t"/>
          <a:lstStyle/>
          <a:p>
            <a:pPr marL="0" indent="0">
              <a:buNone/>
            </a:pPr>
            <a:r>
              <a:rPr lang="en-US" sz="1400" dirty="0">
                <a:solidFill>
                  <a:schemeClr val="tx2"/>
                </a:solidFill>
              </a:rPr>
              <a:t>Examen de práctica por asignatura, con nota y temas para repasar</a:t>
            </a:r>
            <a:endParaRPr lang="en-US" sz="1400" dirty="0"/>
          </a:p>
        </p:txBody>
      </p:sp>
      <p:sp>
        <p:nvSpPr>
          <p:cNvPr id="18" name="card"/>
          <p:cNvSpPr/>
          <p:nvPr/>
        </p:nvSpPr>
        <p:spPr>
          <a:xfrm>
            <a:off x="6172200" y="3063240"/>
            <a:ext cx="5394960" cy="1371600"/>
          </a:xfrm>
          <a:prstGeom prst="roundRect">
            <a:avLst>
              <a:gd name="adj" fmla="val 8000"/>
            </a:avLst>
          </a:prstGeom>
          <a:solidFill>
            <a:schemeClr val="bg2"/>
          </a:solidFill>
          <a:ln w="9525">
            <a:solidFill>
              <a:schemeClr val="accent6"/>
            </a:solidFill>
            <a:prstDash val="solid"/>
          </a:ln>
        </p:spPr>
      </p:sp>
      <p:sp>
        <p:nvSpPr>
          <p:cNvPr id="19" name="icono"/>
          <p:cNvSpPr/>
          <p:nvPr/>
        </p:nvSpPr>
        <p:spPr>
          <a:xfrm>
            <a:off x="6446520" y="3383280"/>
            <a:ext cx="731520" cy="731520"/>
          </a:xfrm>
          <a:prstGeom prst="ellipse">
            <a:avLst/>
          </a:prstGeom>
          <a:solidFill>
            <a:schemeClr val="tx1"/>
          </a:solidFill>
          <a:ln w="12700">
            <a:solidFill>
              <a:schemeClr val="tx1"/>
            </a:solidFill>
            <a:prstDash val="solid"/>
          </a:ln>
        </p:spPr>
      </p:sp>
      <p:sp>
        <p:nvSpPr>
          <p:cNvPr id="20" name="Text 18"/>
          <p:cNvSpPr txBox="1"/>
          <p:nvPr/>
        </p:nvSpPr>
        <p:spPr>
          <a:xfrm>
            <a:off x="6446520" y="3383280"/>
            <a:ext cx="731520" cy="731520"/>
          </a:xfrm>
          <a:prstGeom prst="rect">
            <a:avLst/>
          </a:prstGeom>
          <a:noFill/>
          <a:ln/>
        </p:spPr>
        <p:txBody>
          <a:bodyPr wrap="square" lIns="0" tIns="0" rIns="0" bIns="0" rtlCol="0" anchor="ctr"/>
          <a:lstStyle/>
          <a:p>
            <a:pPr marL="0" indent="0" algn="ctr">
              <a:buNone/>
            </a:pPr>
            <a:r>
              <a:rPr lang="en-US" sz="1300" b="1" dirty="0">
                <a:solidFill>
                  <a:schemeClr val="bg1"/>
                </a:solidFill>
                <a:latin typeface="Courier New" pitchFamily="34" charset="0"/>
                <a:ea typeface="Courier New" pitchFamily="34" charset="-122"/>
                <a:cs typeface="Courier New" pitchFamily="34" charset="-120"/>
              </a:rPr>
              <a:t>VER</a:t>
            </a:r>
            <a:endParaRPr lang="en-US" sz="1300" dirty="0"/>
          </a:p>
        </p:txBody>
      </p:sp>
      <p:sp>
        <p:nvSpPr>
          <p:cNvPr id="21" name="Text 19"/>
          <p:cNvSpPr txBox="1"/>
          <p:nvPr/>
        </p:nvSpPr>
        <p:spPr>
          <a:xfrm>
            <a:off x="7406640" y="3246120"/>
            <a:ext cx="3931920" cy="365760"/>
          </a:xfrm>
          <a:prstGeom prst="rect">
            <a:avLst/>
          </a:prstGeom>
          <a:noFill/>
          <a:ln/>
        </p:spPr>
        <p:txBody>
          <a:bodyPr wrap="square" lIns="0" tIns="0" rIns="0" bIns="0" rtlCol="0" anchor="ctr"/>
          <a:lstStyle/>
          <a:p>
            <a:pPr marL="0" indent="0">
              <a:buNone/>
            </a:pPr>
            <a:r>
              <a:rPr lang="en-US" sz="1800" b="1" dirty="0">
                <a:solidFill>
                  <a:schemeClr val="tx1"/>
                </a:solidFill>
              </a:rPr>
              <a:t>Vista previa (RF-19)</a:t>
            </a:r>
            <a:endParaRPr lang="en-US" sz="1800" dirty="0"/>
          </a:p>
        </p:txBody>
      </p:sp>
      <p:sp>
        <p:nvSpPr>
          <p:cNvPr id="22" name="Text 20"/>
          <p:cNvSpPr txBox="1"/>
          <p:nvPr/>
        </p:nvSpPr>
        <p:spPr>
          <a:xfrm>
            <a:off x="7406640" y="3630168"/>
            <a:ext cx="3931920" cy="685800"/>
          </a:xfrm>
          <a:prstGeom prst="rect">
            <a:avLst/>
          </a:prstGeom>
          <a:noFill/>
          <a:ln/>
        </p:spPr>
        <p:txBody>
          <a:bodyPr wrap="square" lIns="0" tIns="0" rIns="0" bIns="0" rtlCol="0" anchor="t"/>
          <a:lstStyle/>
          <a:p>
            <a:pPr marL="0" indent="0">
              <a:buNone/>
            </a:pPr>
            <a:r>
              <a:rPr lang="en-US" sz="1400" dirty="0">
                <a:solidFill>
                  <a:schemeClr val="tx2"/>
                </a:solidFill>
              </a:rPr>
              <a:t>Primera página del PDF o la imagen en cada tarjeta y en la ficha</a:t>
            </a:r>
            <a:endParaRPr lang="en-US" sz="1400" dirty="0"/>
          </a:p>
        </p:txBody>
      </p:sp>
      <p:sp>
        <p:nvSpPr>
          <p:cNvPr id="23" name="Text 21"/>
          <p:cNvSpPr txBox="1"/>
          <p:nvPr/>
        </p:nvSpPr>
        <p:spPr>
          <a:xfrm>
            <a:off x="548640" y="4846320"/>
            <a:ext cx="11094415" cy="822960"/>
          </a:xfrm>
          <a:prstGeom prst="rect">
            <a:avLst/>
          </a:prstGeom>
          <a:noFill/>
          <a:ln/>
        </p:spPr>
        <p:txBody>
          <a:bodyPr wrap="square" lIns="0" tIns="0" rIns="0" bIns="0" rtlCol="0" anchor="t"/>
          <a:lstStyle/>
          <a:p>
            <a:pPr marL="0" indent="0">
              <a:buNone/>
            </a:pPr>
            <a:r>
              <a:rPr lang="en-US" sz="1500" b="1" dirty="0">
                <a:solidFill>
                  <a:schemeClr val="tx1"/>
                </a:solidFill>
              </a:rPr>
              <a:t>Cómo: </a:t>
            </a:r>
            <a:r>
              <a:rPr lang="en-US" sz="1500" dirty="0">
                <a:solidFill>
                  <a:schemeClr val="tx1"/>
                </a:solidFill>
              </a:rPr>
              <a:t>el backend envía el PDF o la imagen a Google Gemini (nivel gratuito, gemini-3.8-flash), que lo lee y responde en español. </a:t>
            </a:r>
            <a:r>
              <a:rPr lang="en-US" sz="1500" b="1" dirty="0">
                <a:solidFill>
                  <a:schemeClr val="tx1"/>
                </a:solidFill>
              </a:rPr>
              <a:t>Dónde: </a:t>
            </a:r>
            <a:r>
              <a:rPr lang="en-US" sz="1500" dirty="0">
                <a:solidFill>
                  <a:schemeClr val="tx1"/>
                </a:solidFill>
              </a:rPr>
              <a:t>al subir material, en la ficha de cada material y en «Simulacro IA».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Evidencia: la nueva interfaz con IA</a:t>
            </a:r>
            <a:endParaRPr lang="en-US" sz="3200" dirty="0"/>
          </a:p>
        </p:txBody>
      </p:sp>
      <p:pic>
        <p:nvPicPr>
          <p:cNvPr id="3" name="Image 0" descr="fig1"/>
          <p:cNvPicPr>
            <a:picLocks noChangeAspect="1"/>
          </p:cNvPicPr>
          <p:nvPr/>
        </p:nvPicPr>
        <p:blipFill>
          <a:blip r:embed="rId3"/>
          <a:stretch>
            <a:fillRect/>
          </a:stretch>
        </p:blipFill>
        <p:spPr>
          <a:xfrm>
            <a:off x="548640" y="1371600"/>
            <a:ext cx="6400800" cy="3005593"/>
          </a:xfrm>
          <a:prstGeom prst="rect">
            <a:avLst/>
          </a:prstGeom>
        </p:spPr>
      </p:pic>
      <p:sp>
        <p:nvSpPr>
          <p:cNvPr id="4" name="marco"/>
          <p:cNvSpPr/>
          <p:nvPr/>
        </p:nvSpPr>
        <p:spPr>
          <a:xfrm>
            <a:off x="548640" y="1371600"/>
            <a:ext cx="6400800" cy="3005593"/>
          </a:xfrm>
          <a:prstGeom prst="rect">
            <a:avLst/>
          </a:prstGeom>
          <a:solidFill>
            <a:schemeClr val="bg1">
              <a:alpha val="0"/>
            </a:schemeClr>
          </a:solidFill>
          <a:ln w="12700">
            <a:solidFill>
              <a:schemeClr val="accent6"/>
            </a:solidFill>
            <a:prstDash val="solid"/>
          </a:ln>
        </p:spPr>
      </p:sp>
      <p:sp>
        <p:nvSpPr>
          <p:cNvPr id="5" name="Text 2"/>
          <p:cNvSpPr txBox="1"/>
          <p:nvPr/>
        </p:nvSpPr>
        <p:spPr>
          <a:xfrm>
            <a:off x="548640" y="4486921"/>
            <a:ext cx="6400800" cy="502920"/>
          </a:xfrm>
          <a:prstGeom prst="rect">
            <a:avLst/>
          </a:prstGeom>
          <a:noFill/>
          <a:ln/>
        </p:spPr>
        <p:txBody>
          <a:bodyPr wrap="square" lIns="0" tIns="0" rIns="0" bIns="0" rtlCol="0" anchor="t"/>
          <a:lstStyle/>
          <a:p>
            <a:pPr marL="0" indent="0">
              <a:buNone/>
            </a:pPr>
            <a:r>
              <a:rPr lang="en-US" sz="1100" dirty="0">
                <a:solidFill>
                  <a:schemeClr val="tx2"/>
                </a:solidFill>
              </a:rPr>
              <a:t>Fig. 28 · Explorar: cada material con su vista previa. RF-03, RF-04, RF-19</a:t>
            </a:r>
            <a:endParaRPr lang="en-US" sz="1100" dirty="0"/>
          </a:p>
        </p:txBody>
      </p:sp>
      <p:pic>
        <p:nvPicPr>
          <p:cNvPr id="6" name="Image 1" descr="fig2"/>
          <p:cNvPicPr>
            <a:picLocks noChangeAspect="1"/>
          </p:cNvPicPr>
          <p:nvPr/>
        </p:nvPicPr>
        <p:blipFill>
          <a:blip r:embed="rId4"/>
          <a:stretch>
            <a:fillRect/>
          </a:stretch>
        </p:blipFill>
        <p:spPr>
          <a:xfrm>
            <a:off x="7208215" y="1371600"/>
            <a:ext cx="4434840" cy="1886332"/>
          </a:xfrm>
          <a:prstGeom prst="rect">
            <a:avLst/>
          </a:prstGeom>
        </p:spPr>
      </p:pic>
      <p:sp>
        <p:nvSpPr>
          <p:cNvPr id="7" name="marco"/>
          <p:cNvSpPr/>
          <p:nvPr/>
        </p:nvSpPr>
        <p:spPr>
          <a:xfrm>
            <a:off x="7208215" y="1371600"/>
            <a:ext cx="4434840" cy="1886332"/>
          </a:xfrm>
          <a:prstGeom prst="rect">
            <a:avLst/>
          </a:prstGeom>
          <a:solidFill>
            <a:schemeClr val="bg1">
              <a:alpha val="0"/>
            </a:schemeClr>
          </a:solidFill>
          <a:ln w="12700">
            <a:solidFill>
              <a:schemeClr val="accent6"/>
            </a:solidFill>
            <a:prstDash val="solid"/>
          </a:ln>
        </p:spPr>
      </p:sp>
      <p:sp>
        <p:nvSpPr>
          <p:cNvPr id="8" name="Text 4"/>
          <p:cNvSpPr txBox="1"/>
          <p:nvPr/>
        </p:nvSpPr>
        <p:spPr>
          <a:xfrm>
            <a:off x="7208215" y="3349372"/>
            <a:ext cx="4434840" cy="320040"/>
          </a:xfrm>
          <a:prstGeom prst="rect">
            <a:avLst/>
          </a:prstGeom>
          <a:noFill/>
          <a:ln/>
        </p:spPr>
        <p:txBody>
          <a:bodyPr wrap="square" lIns="0" tIns="0" rIns="0" bIns="0" rtlCol="0" anchor="t"/>
          <a:lstStyle/>
          <a:p>
            <a:pPr marL="0" indent="0">
              <a:buNone/>
            </a:pPr>
            <a:r>
              <a:rPr lang="en-US" sz="1100" dirty="0">
                <a:solidFill>
                  <a:schemeClr val="tx2"/>
                </a:solidFill>
              </a:rPr>
              <a:t>Fig. 29 · Inicio con barra lateral y las funciones de IA. RF-18</a:t>
            </a:r>
            <a:endParaRPr lang="en-US" sz="1100" dirty="0"/>
          </a:p>
        </p:txBody>
      </p:sp>
      <p:pic>
        <p:nvPicPr>
          <p:cNvPr id="9" name="Image 2" descr="fig4"/>
          <p:cNvPicPr>
            <a:picLocks noChangeAspect="1"/>
          </p:cNvPicPr>
          <p:nvPr/>
        </p:nvPicPr>
        <p:blipFill>
          <a:blip r:embed="rId5"/>
          <a:stretch>
            <a:fillRect/>
          </a:stretch>
        </p:blipFill>
        <p:spPr>
          <a:xfrm>
            <a:off x="7208215" y="3806572"/>
            <a:ext cx="4434840" cy="1886332"/>
          </a:xfrm>
          <a:prstGeom prst="rect">
            <a:avLst/>
          </a:prstGeom>
        </p:spPr>
      </p:pic>
      <p:sp>
        <p:nvSpPr>
          <p:cNvPr id="10" name="marco"/>
          <p:cNvSpPr/>
          <p:nvPr/>
        </p:nvSpPr>
        <p:spPr>
          <a:xfrm>
            <a:off x="7208215" y="3806572"/>
            <a:ext cx="4434840" cy="1886332"/>
          </a:xfrm>
          <a:prstGeom prst="rect">
            <a:avLst/>
          </a:prstGeom>
          <a:solidFill>
            <a:schemeClr val="bg1">
              <a:alpha val="0"/>
            </a:schemeClr>
          </a:solidFill>
          <a:ln w="12700">
            <a:solidFill>
              <a:schemeClr val="accent6"/>
            </a:solidFill>
            <a:prstDash val="solid"/>
          </a:ln>
        </p:spPr>
      </p:sp>
      <p:sp>
        <p:nvSpPr>
          <p:cNvPr id="11" name="Text 6"/>
          <p:cNvSpPr txBox="1"/>
          <p:nvPr/>
        </p:nvSpPr>
        <p:spPr>
          <a:xfrm>
            <a:off x="7208215" y="5784343"/>
            <a:ext cx="4434840" cy="502920"/>
          </a:xfrm>
          <a:prstGeom prst="rect">
            <a:avLst/>
          </a:prstGeom>
          <a:noFill/>
          <a:ln/>
        </p:spPr>
        <p:txBody>
          <a:bodyPr wrap="square" lIns="0" tIns="0" rIns="0" bIns="0" rtlCol="0" anchor="t"/>
          <a:lstStyle/>
          <a:p>
            <a:pPr marL="0" indent="0">
              <a:buNone/>
            </a:pPr>
            <a:r>
              <a:rPr lang="en-US" sz="1100" dirty="0">
                <a:solidFill>
                  <a:schemeClr val="tx2"/>
                </a:solidFill>
              </a:rPr>
              <a:t>Fig. 30 · Subir material: la IA lo revisa antes de publicarlo. RF-17</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Cómo funciona el Tutor IA</a:t>
            </a:r>
            <a:endParaRPr lang="en-US" sz="3200" dirty="0"/>
          </a:p>
        </p:txBody>
      </p:sp>
      <p:sp>
        <p:nvSpPr>
          <p:cNvPr id="3" name="paso"/>
          <p:cNvSpPr/>
          <p:nvPr/>
        </p:nvSpPr>
        <p:spPr>
          <a:xfrm>
            <a:off x="548640" y="1508760"/>
            <a:ext cx="685800" cy="685800"/>
          </a:xfrm>
          <a:prstGeom prst="ellipse">
            <a:avLst/>
          </a:prstGeom>
          <a:solidFill>
            <a:schemeClr val="tx1"/>
          </a:solidFill>
          <a:ln w="12700">
            <a:solidFill>
              <a:schemeClr val="tx1"/>
            </a:solidFill>
            <a:prstDash val="solid"/>
          </a:ln>
        </p:spPr>
      </p:sp>
      <p:sp>
        <p:nvSpPr>
          <p:cNvPr id="4" name="Text 2"/>
          <p:cNvSpPr txBox="1"/>
          <p:nvPr/>
        </p:nvSpPr>
        <p:spPr>
          <a:xfrm>
            <a:off x="548640" y="150876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5" name="Text 3"/>
          <p:cNvSpPr txBox="1"/>
          <p:nvPr/>
        </p:nvSpPr>
        <p:spPr>
          <a:xfrm>
            <a:off x="1508760" y="1417320"/>
            <a:ext cx="9601200" cy="411480"/>
          </a:xfrm>
          <a:prstGeom prst="rect">
            <a:avLst/>
          </a:prstGeom>
          <a:noFill/>
          <a:ln/>
        </p:spPr>
        <p:txBody>
          <a:bodyPr wrap="square" lIns="0" tIns="0" rIns="0" bIns="0" rtlCol="0" anchor="ctr"/>
          <a:lstStyle/>
          <a:p>
            <a:pPr marL="0" indent="0">
              <a:buNone/>
            </a:pPr>
            <a:r>
              <a:rPr lang="en-US" sz="1900" b="1" dirty="0">
                <a:solidFill>
                  <a:schemeClr val="tx1"/>
                </a:solidFill>
              </a:rPr>
              <a:t>El estudiante pide ayuda</a:t>
            </a:r>
            <a:endParaRPr lang="en-US" sz="1900" dirty="0"/>
          </a:p>
        </p:txBody>
      </p:sp>
      <p:sp>
        <p:nvSpPr>
          <p:cNvPr id="6" name="Text 4"/>
          <p:cNvSpPr txBox="1"/>
          <p:nvPr/>
        </p:nvSpPr>
        <p:spPr>
          <a:xfrm>
            <a:off x="1508760" y="1847088"/>
            <a:ext cx="9601200" cy="457200"/>
          </a:xfrm>
          <a:prstGeom prst="rect">
            <a:avLst/>
          </a:prstGeom>
          <a:noFill/>
          <a:ln/>
        </p:spPr>
        <p:txBody>
          <a:bodyPr wrap="square" lIns="0" tIns="0" rIns="0" bIns="0" rtlCol="0" anchor="ctr"/>
          <a:lstStyle/>
          <a:p>
            <a:pPr marL="0" indent="0">
              <a:buNone/>
            </a:pPr>
            <a:r>
              <a:rPr lang="en-US" sz="1500" dirty="0">
                <a:solidFill>
                  <a:schemeClr val="tx2"/>
                </a:solidFill>
              </a:rPr>
              <a:t>Sube un archivo, pide una explicación o un quiz, pregunta o genera un simulacro.</a:t>
            </a:r>
            <a:endParaRPr lang="en-US" sz="1500" dirty="0"/>
          </a:p>
        </p:txBody>
      </p:sp>
      <p:sp>
        <p:nvSpPr>
          <p:cNvPr id="7" name="paso"/>
          <p:cNvSpPr/>
          <p:nvPr/>
        </p:nvSpPr>
        <p:spPr>
          <a:xfrm>
            <a:off x="548640" y="2651760"/>
            <a:ext cx="685800" cy="685800"/>
          </a:xfrm>
          <a:prstGeom prst="ellipse">
            <a:avLst/>
          </a:prstGeom>
          <a:solidFill>
            <a:schemeClr val="tx1"/>
          </a:solidFill>
          <a:ln w="12700">
            <a:solidFill>
              <a:schemeClr val="tx1"/>
            </a:solidFill>
            <a:prstDash val="solid"/>
          </a:ln>
        </p:spPr>
      </p:sp>
      <p:sp>
        <p:nvSpPr>
          <p:cNvPr id="8" name="Text 6"/>
          <p:cNvSpPr txBox="1"/>
          <p:nvPr/>
        </p:nvSpPr>
        <p:spPr>
          <a:xfrm>
            <a:off x="548640" y="265176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9" name="Text 7"/>
          <p:cNvSpPr txBox="1"/>
          <p:nvPr/>
        </p:nvSpPr>
        <p:spPr>
          <a:xfrm>
            <a:off x="1508760" y="2560320"/>
            <a:ext cx="9601200" cy="411480"/>
          </a:xfrm>
          <a:prstGeom prst="rect">
            <a:avLst/>
          </a:prstGeom>
          <a:noFill/>
          <a:ln/>
        </p:spPr>
        <p:txBody>
          <a:bodyPr wrap="square" lIns="0" tIns="0" rIns="0" bIns="0" rtlCol="0" anchor="ctr"/>
          <a:lstStyle/>
          <a:p>
            <a:pPr marL="0" indent="0">
              <a:buNone/>
            </a:pPr>
            <a:r>
              <a:rPr lang="en-US" sz="1900" b="1" dirty="0">
                <a:solidFill>
                  <a:schemeClr val="tx1"/>
                </a:solidFill>
              </a:rPr>
              <a:t>El backend revisa lo guardado</a:t>
            </a:r>
            <a:endParaRPr lang="en-US" sz="1900" dirty="0"/>
          </a:p>
        </p:txBody>
      </p:sp>
      <p:sp>
        <p:nvSpPr>
          <p:cNvPr id="10" name="Text 8"/>
          <p:cNvSpPr txBox="1"/>
          <p:nvPr/>
        </p:nvSpPr>
        <p:spPr>
          <a:xfrm>
            <a:off x="1508760" y="2990088"/>
            <a:ext cx="9601200" cy="457200"/>
          </a:xfrm>
          <a:prstGeom prst="rect">
            <a:avLst/>
          </a:prstGeom>
          <a:noFill/>
          <a:ln/>
        </p:spPr>
        <p:txBody>
          <a:bodyPr wrap="square" lIns="0" tIns="0" rIns="0" bIns="0" rtlCol="0" anchor="ctr"/>
          <a:lstStyle/>
          <a:p>
            <a:pPr marL="0" indent="0">
              <a:buNone/>
            </a:pPr>
            <a:r>
              <a:rPr lang="en-US" sz="1500" dirty="0">
                <a:solidFill>
                  <a:schemeClr val="tx2"/>
                </a:solidFill>
              </a:rPr>
              <a:t>Si ya hay una explicación o un quiz guardado, lo devuelve sin gastar cuota (R-10).</a:t>
            </a:r>
            <a:endParaRPr lang="en-US" sz="1500" dirty="0"/>
          </a:p>
        </p:txBody>
      </p:sp>
      <p:sp>
        <p:nvSpPr>
          <p:cNvPr id="11" name="paso"/>
          <p:cNvSpPr/>
          <p:nvPr/>
        </p:nvSpPr>
        <p:spPr>
          <a:xfrm>
            <a:off x="548640" y="3794760"/>
            <a:ext cx="685800" cy="685800"/>
          </a:xfrm>
          <a:prstGeom prst="ellipse">
            <a:avLst/>
          </a:prstGeom>
          <a:solidFill>
            <a:schemeClr val="tx1"/>
          </a:solidFill>
          <a:ln w="12700">
            <a:solidFill>
              <a:schemeClr val="tx1"/>
            </a:solidFill>
            <a:prstDash val="solid"/>
          </a:ln>
        </p:spPr>
      </p:sp>
      <p:sp>
        <p:nvSpPr>
          <p:cNvPr id="12" name="Text 10"/>
          <p:cNvSpPr txBox="1"/>
          <p:nvPr/>
        </p:nvSpPr>
        <p:spPr>
          <a:xfrm>
            <a:off x="548640" y="379476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3" name="Text 11"/>
          <p:cNvSpPr txBox="1"/>
          <p:nvPr/>
        </p:nvSpPr>
        <p:spPr>
          <a:xfrm>
            <a:off x="1508760" y="3703320"/>
            <a:ext cx="9601200" cy="411480"/>
          </a:xfrm>
          <a:prstGeom prst="rect">
            <a:avLst/>
          </a:prstGeom>
          <a:noFill/>
          <a:ln/>
        </p:spPr>
        <p:txBody>
          <a:bodyPr wrap="square" lIns="0" tIns="0" rIns="0" bIns="0" rtlCol="0" anchor="ctr"/>
          <a:lstStyle/>
          <a:p>
            <a:pPr marL="0" indent="0">
              <a:buNone/>
            </a:pPr>
            <a:r>
              <a:rPr lang="en-US" sz="1900" b="1" dirty="0">
                <a:solidFill>
                  <a:schemeClr val="tx1"/>
                </a:solidFill>
              </a:rPr>
              <a:t>Gemini lee el material</a:t>
            </a:r>
            <a:endParaRPr lang="en-US" sz="1900" dirty="0"/>
          </a:p>
        </p:txBody>
      </p:sp>
      <p:sp>
        <p:nvSpPr>
          <p:cNvPr id="14" name="Text 12"/>
          <p:cNvSpPr txBox="1"/>
          <p:nvPr/>
        </p:nvSpPr>
        <p:spPr>
          <a:xfrm>
            <a:off x="1508760" y="4133088"/>
            <a:ext cx="9601200" cy="457200"/>
          </a:xfrm>
          <a:prstGeom prst="rect">
            <a:avLst/>
          </a:prstGeom>
          <a:noFill/>
          <a:ln/>
        </p:spPr>
        <p:txBody>
          <a:bodyPr wrap="square" lIns="0" tIns="0" rIns="0" bIns="0" rtlCol="0" anchor="ctr"/>
          <a:lstStyle/>
          <a:p>
            <a:pPr marL="0" indent="0">
              <a:buNone/>
            </a:pPr>
            <a:r>
              <a:rPr lang="en-US" sz="1500" dirty="0">
                <a:solidFill>
                  <a:schemeClr val="tx2"/>
                </a:solidFill>
              </a:rPr>
              <a:t>Recibe el PDF o la imagen con instrucciones de tutor o de revisor (R-12, R-13).</a:t>
            </a:r>
            <a:endParaRPr lang="en-US" sz="1500" dirty="0"/>
          </a:p>
        </p:txBody>
      </p:sp>
      <p:sp>
        <p:nvSpPr>
          <p:cNvPr id="15" name="paso"/>
          <p:cNvSpPr/>
          <p:nvPr/>
        </p:nvSpPr>
        <p:spPr>
          <a:xfrm>
            <a:off x="548640" y="4937760"/>
            <a:ext cx="685800" cy="685800"/>
          </a:xfrm>
          <a:prstGeom prst="ellipse">
            <a:avLst/>
          </a:prstGeom>
          <a:solidFill>
            <a:schemeClr val="tx1"/>
          </a:solidFill>
          <a:ln w="12700">
            <a:solidFill>
              <a:schemeClr val="tx1"/>
            </a:solidFill>
            <a:prstDash val="solid"/>
          </a:ln>
        </p:spPr>
      </p:sp>
      <p:sp>
        <p:nvSpPr>
          <p:cNvPr id="16" name="Text 14"/>
          <p:cNvSpPr txBox="1"/>
          <p:nvPr/>
        </p:nvSpPr>
        <p:spPr>
          <a:xfrm>
            <a:off x="548640" y="4937760"/>
            <a:ext cx="685800" cy="68580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17" name="Text 15"/>
          <p:cNvSpPr txBox="1"/>
          <p:nvPr/>
        </p:nvSpPr>
        <p:spPr>
          <a:xfrm>
            <a:off x="1508760" y="4846320"/>
            <a:ext cx="9601200" cy="411480"/>
          </a:xfrm>
          <a:prstGeom prst="rect">
            <a:avLst/>
          </a:prstGeom>
          <a:noFill/>
          <a:ln/>
        </p:spPr>
        <p:txBody>
          <a:bodyPr wrap="square" lIns="0" tIns="0" rIns="0" bIns="0" rtlCol="0" anchor="ctr"/>
          <a:lstStyle/>
          <a:p>
            <a:pPr marL="0" indent="0">
              <a:buNone/>
            </a:pPr>
            <a:r>
              <a:rPr lang="en-US" sz="1900" b="1" dirty="0">
                <a:solidFill>
                  <a:schemeClr val="tx1"/>
                </a:solidFill>
              </a:rPr>
              <a:t>Respuesta con forma fija</a:t>
            </a:r>
            <a:endParaRPr lang="en-US" sz="1900" dirty="0"/>
          </a:p>
        </p:txBody>
      </p:sp>
      <p:sp>
        <p:nvSpPr>
          <p:cNvPr id="18" name="Text 16"/>
          <p:cNvSpPr txBox="1"/>
          <p:nvPr/>
        </p:nvSpPr>
        <p:spPr>
          <a:xfrm>
            <a:off x="1508760" y="5276088"/>
            <a:ext cx="9601200" cy="457200"/>
          </a:xfrm>
          <a:prstGeom prst="rect">
            <a:avLst/>
          </a:prstGeom>
          <a:noFill/>
          <a:ln/>
        </p:spPr>
        <p:txBody>
          <a:bodyPr wrap="square" lIns="0" tIns="0" rIns="0" bIns="0" rtlCol="0" anchor="ctr"/>
          <a:lstStyle/>
          <a:p>
            <a:pPr marL="0" indent="0">
              <a:buNone/>
            </a:pPr>
            <a:r>
              <a:rPr lang="en-US" sz="1500" dirty="0">
                <a:solidFill>
                  <a:schemeClr val="tx2"/>
                </a:solidFill>
              </a:rPr>
              <a:t>Un esquema JSON fijo; en la revisión, el servidor decide el veredicto (R-14).</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19</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Reglas de negocio del Tutor IA</a:t>
            </a:r>
            <a:endParaRPr lang="en-US" sz="3200" dirty="0"/>
          </a:p>
        </p:txBody>
      </p:sp>
      <p:sp>
        <p:nvSpPr>
          <p:cNvPr id="3" name="card"/>
          <p:cNvSpPr/>
          <p:nvPr/>
        </p:nvSpPr>
        <p:spPr>
          <a:xfrm>
            <a:off x="548640" y="1371600"/>
            <a:ext cx="5394960" cy="2011680"/>
          </a:xfrm>
          <a:prstGeom prst="roundRect">
            <a:avLst>
              <a:gd name="adj" fmla="val 5455"/>
            </a:avLst>
          </a:prstGeom>
          <a:solidFill>
            <a:schemeClr val="bg1"/>
          </a:solidFill>
          <a:ln w="9525">
            <a:solidFill>
              <a:schemeClr val="accent6"/>
            </a:solidFill>
            <a:prstDash val="solid"/>
          </a:ln>
        </p:spPr>
      </p:sp>
      <p:sp>
        <p:nvSpPr>
          <p:cNvPr id="4" name="Text 2"/>
          <p:cNvSpPr txBox="1"/>
          <p:nvPr/>
        </p:nvSpPr>
        <p:spPr>
          <a:xfrm>
            <a:off x="777240" y="1554480"/>
            <a:ext cx="914400" cy="310896"/>
          </a:xfrm>
          <a:prstGeom prst="rect">
            <a:avLst/>
          </a:prstGeom>
          <a:noFill/>
          <a:ln/>
        </p:spPr>
        <p:txBody>
          <a:bodyPr wrap="square" lIns="0" tIns="0" rIns="0" bIns="0" rtlCol="0" anchor="ctr"/>
          <a:lstStyle/>
          <a:p>
            <a:pPr marL="0" indent="0">
              <a:buNone/>
            </a:pPr>
            <a:r>
              <a:rPr lang="en-US" sz="1400" b="1" dirty="0">
                <a:solidFill>
                  <a:schemeClr val="tx1"/>
                </a:solidFill>
                <a:latin typeface="Courier New" pitchFamily="34" charset="0"/>
                <a:ea typeface="Courier New" pitchFamily="34" charset="-122"/>
                <a:cs typeface="Courier New" pitchFamily="34" charset="-120"/>
              </a:rPr>
              <a:t>R-10</a:t>
            </a:r>
            <a:endParaRPr lang="en-US" sz="1400" dirty="0"/>
          </a:p>
        </p:txBody>
      </p:sp>
      <p:sp>
        <p:nvSpPr>
          <p:cNvPr id="5" name="severidad"/>
          <p:cNvSpPr/>
          <p:nvPr/>
        </p:nvSpPr>
        <p:spPr>
          <a:xfrm>
            <a:off x="1645920" y="1554480"/>
            <a:ext cx="914400" cy="310896"/>
          </a:xfrm>
          <a:prstGeom prst="roundRect">
            <a:avLst>
              <a:gd name="adj" fmla="val 50000"/>
            </a:avLst>
          </a:prstGeom>
          <a:solidFill>
            <a:schemeClr val="accent5">
              <a:alpha val="15000"/>
            </a:schemeClr>
          </a:solidFill>
          <a:ln w="9525">
            <a:solidFill>
              <a:schemeClr val="accent5"/>
            </a:solidFill>
            <a:prstDash val="solid"/>
          </a:ln>
        </p:spPr>
      </p:sp>
      <p:sp>
        <p:nvSpPr>
          <p:cNvPr id="6" name="Text 4"/>
          <p:cNvSpPr txBox="1"/>
          <p:nvPr/>
        </p:nvSpPr>
        <p:spPr>
          <a:xfrm>
            <a:off x="1645920" y="1554480"/>
            <a:ext cx="914400" cy="310896"/>
          </a:xfrm>
          <a:prstGeom prst="rect">
            <a:avLst/>
          </a:prstGeom>
          <a:noFill/>
          <a:ln/>
        </p:spPr>
        <p:txBody>
          <a:bodyPr wrap="square" lIns="0" tIns="0" rIns="0" bIns="0" rtlCol="0" anchor="ctr"/>
          <a:lstStyle/>
          <a:p>
            <a:pPr marL="0" indent="0" algn="ctr">
              <a:buNone/>
            </a:pPr>
            <a:r>
              <a:rPr lang="en-US" sz="1200" b="1" dirty="0">
                <a:solidFill>
                  <a:schemeClr val="accent5"/>
                </a:solidFill>
              </a:rPr>
              <a:t>Costo</a:t>
            </a:r>
            <a:endParaRPr lang="en-US" sz="1200" dirty="0"/>
          </a:p>
        </p:txBody>
      </p:sp>
      <p:sp>
        <p:nvSpPr>
          <p:cNvPr id="7" name="chip"/>
          <p:cNvSpPr/>
          <p:nvPr/>
        </p:nvSpPr>
        <p:spPr>
          <a:xfrm>
            <a:off x="4434840" y="1554480"/>
            <a:ext cx="1280160" cy="310896"/>
          </a:xfrm>
          <a:prstGeom prst="roundRect">
            <a:avLst>
              <a:gd name="adj" fmla="val 50000"/>
            </a:avLst>
          </a:prstGeom>
          <a:solidFill>
            <a:schemeClr val="accent1">
              <a:alpha val="15000"/>
            </a:schemeClr>
          </a:solidFill>
          <a:ln w="9525">
            <a:solidFill>
              <a:schemeClr val="accent1"/>
            </a:solidFill>
            <a:prstDash val="solid"/>
          </a:ln>
        </p:spPr>
      </p:sp>
      <p:sp>
        <p:nvSpPr>
          <p:cNvPr id="8" name="Text 6"/>
          <p:cNvSpPr txBox="1"/>
          <p:nvPr/>
        </p:nvSpPr>
        <p:spPr>
          <a:xfrm>
            <a:off x="4434840" y="1554480"/>
            <a:ext cx="1280160" cy="310896"/>
          </a:xfrm>
          <a:prstGeom prst="rect">
            <a:avLst/>
          </a:prstGeom>
          <a:noFill/>
          <a:ln/>
        </p:spPr>
        <p:txBody>
          <a:bodyPr wrap="square" lIns="0" tIns="0" rIns="0" bIns="0" rtlCol="0" anchor="ctr"/>
          <a:lstStyle/>
          <a:p>
            <a:pPr marL="0" indent="0" algn="ctr">
              <a:buNone/>
            </a:pPr>
            <a:r>
              <a:rPr lang="en-US" sz="1200" b="1" dirty="0">
                <a:solidFill>
                  <a:schemeClr val="accent1"/>
                </a:solidFill>
              </a:rPr>
              <a:t>Implementada</a:t>
            </a:r>
            <a:endParaRPr lang="en-US" sz="1200" dirty="0"/>
          </a:p>
        </p:txBody>
      </p:sp>
      <p:sp>
        <p:nvSpPr>
          <p:cNvPr id="9" name="Text 7"/>
          <p:cNvSpPr txBox="1"/>
          <p:nvPr/>
        </p:nvSpPr>
        <p:spPr>
          <a:xfrm>
            <a:off x="777240" y="1965960"/>
            <a:ext cx="4937760" cy="548640"/>
          </a:xfrm>
          <a:prstGeom prst="rect">
            <a:avLst/>
          </a:prstGeom>
          <a:noFill/>
          <a:ln/>
        </p:spPr>
        <p:txBody>
          <a:bodyPr wrap="square" lIns="0" tIns="0" rIns="0" bIns="0" rtlCol="0" anchor="t"/>
          <a:lstStyle/>
          <a:p>
            <a:pPr marL="0" indent="0">
              <a:buNone/>
            </a:pPr>
            <a:r>
              <a:rPr lang="en-US" sz="1400" b="1" dirty="0">
                <a:solidFill>
                  <a:schemeClr val="tx1"/>
                </a:solidFill>
              </a:rPr>
              <a:t>La primera explicación y el primer quiz de cada material se guardan y se reutilizan.</a:t>
            </a:r>
            <a:endParaRPr lang="en-US" sz="1400" dirty="0"/>
          </a:p>
        </p:txBody>
      </p:sp>
      <p:sp>
        <p:nvSpPr>
          <p:cNvPr id="10" name="Text 8"/>
          <p:cNvSpPr txBox="1"/>
          <p:nvPr/>
        </p:nvSpPr>
        <p:spPr>
          <a:xfrm>
            <a:off x="777240" y="2468880"/>
            <a:ext cx="4937760" cy="731520"/>
          </a:xfrm>
          <a:prstGeom prst="rect">
            <a:avLst/>
          </a:prstGeom>
          <a:noFill/>
          <a:ln/>
        </p:spPr>
        <p:txBody>
          <a:bodyPr wrap="square" lIns="0" tIns="0" rIns="0" bIns="0" rtlCol="0" anchor="t"/>
          <a:lstStyle/>
          <a:p>
            <a:pPr marL="0" indent="0">
              <a:spcAft>
                <a:spcPts val="200"/>
              </a:spcAft>
              <a:buNone/>
            </a:pPr>
            <a:r>
              <a:rPr lang="en-US" sz="1300" b="1" dirty="0">
                <a:solidFill>
                  <a:schemeClr val="tx1"/>
                </a:solidFill>
              </a:rPr>
              <a:t>Por qué: </a:t>
            </a:r>
            <a:r>
              <a:rPr lang="en-US" sz="1300" dirty="0">
                <a:solidFill>
                  <a:schemeClr val="tx2"/>
                </a:solidFill>
              </a:rPr>
              <a:t>La segunda consulta es inmediata y sin costo</a:t>
            </a:r>
            <a:endParaRPr lang="en-US" sz="1300" dirty="0"/>
          </a:p>
          <a:p>
            <a:pPr marL="0" indent="0">
              <a:spcAft>
                <a:spcPts val="200"/>
              </a:spcAft>
              <a:buNone/>
            </a:pPr>
            <a:r>
              <a:rPr lang="en-US" sz="1300" b="1" dirty="0">
                <a:solidFill>
                  <a:schemeClr val="tx1"/>
                </a:solidFill>
              </a:rPr>
              <a:t>Prueba: </a:t>
            </a:r>
            <a:r>
              <a:rPr lang="en-US" sz="1300" dirty="0">
                <a:solidFill>
                  <a:schemeClr val="tx2"/>
                </a:solidFill>
              </a:rPr>
              <a:t>e2e «RF-14: … la explicación se reutiliza»</a:t>
            </a:r>
            <a:endParaRPr lang="en-US" sz="1300" dirty="0"/>
          </a:p>
        </p:txBody>
      </p:sp>
      <p:sp>
        <p:nvSpPr>
          <p:cNvPr id="11" name="card"/>
          <p:cNvSpPr/>
          <p:nvPr/>
        </p:nvSpPr>
        <p:spPr>
          <a:xfrm>
            <a:off x="6172200" y="1371600"/>
            <a:ext cx="5394960" cy="2011680"/>
          </a:xfrm>
          <a:prstGeom prst="roundRect">
            <a:avLst>
              <a:gd name="adj" fmla="val 5455"/>
            </a:avLst>
          </a:prstGeom>
          <a:solidFill>
            <a:schemeClr val="bg1"/>
          </a:solidFill>
          <a:ln w="9525">
            <a:solidFill>
              <a:schemeClr val="accent6"/>
            </a:solidFill>
            <a:prstDash val="solid"/>
          </a:ln>
        </p:spPr>
      </p:sp>
      <p:sp>
        <p:nvSpPr>
          <p:cNvPr id="12" name="Text 10"/>
          <p:cNvSpPr txBox="1"/>
          <p:nvPr/>
        </p:nvSpPr>
        <p:spPr>
          <a:xfrm>
            <a:off x="6400800" y="1554480"/>
            <a:ext cx="914400" cy="310896"/>
          </a:xfrm>
          <a:prstGeom prst="rect">
            <a:avLst/>
          </a:prstGeom>
          <a:noFill/>
          <a:ln/>
        </p:spPr>
        <p:txBody>
          <a:bodyPr wrap="square" lIns="0" tIns="0" rIns="0" bIns="0" rtlCol="0" anchor="ctr"/>
          <a:lstStyle/>
          <a:p>
            <a:pPr marL="0" indent="0">
              <a:buNone/>
            </a:pPr>
            <a:r>
              <a:rPr lang="en-US" sz="1400" b="1" dirty="0">
                <a:solidFill>
                  <a:schemeClr val="tx1"/>
                </a:solidFill>
                <a:latin typeface="Courier New" pitchFamily="34" charset="0"/>
                <a:ea typeface="Courier New" pitchFamily="34" charset="-122"/>
                <a:cs typeface="Courier New" pitchFamily="34" charset="-120"/>
              </a:rPr>
              <a:t>R-11</a:t>
            </a:r>
            <a:endParaRPr lang="en-US" sz="1400" dirty="0"/>
          </a:p>
        </p:txBody>
      </p:sp>
      <p:sp>
        <p:nvSpPr>
          <p:cNvPr id="13" name="severidad"/>
          <p:cNvSpPr/>
          <p:nvPr/>
        </p:nvSpPr>
        <p:spPr>
          <a:xfrm>
            <a:off x="7269480" y="1554480"/>
            <a:ext cx="914400" cy="310896"/>
          </a:xfrm>
          <a:prstGeom prst="roundRect">
            <a:avLst>
              <a:gd name="adj" fmla="val 50000"/>
            </a:avLst>
          </a:prstGeom>
          <a:solidFill>
            <a:schemeClr val="tx2">
              <a:alpha val="15000"/>
            </a:schemeClr>
          </a:solidFill>
          <a:ln w="9525">
            <a:solidFill>
              <a:schemeClr val="tx2"/>
            </a:solidFill>
            <a:prstDash val="solid"/>
          </a:ln>
        </p:spPr>
      </p:sp>
      <p:sp>
        <p:nvSpPr>
          <p:cNvPr id="14" name="Text 12"/>
          <p:cNvSpPr txBox="1"/>
          <p:nvPr/>
        </p:nvSpPr>
        <p:spPr>
          <a:xfrm>
            <a:off x="7269480" y="1554480"/>
            <a:ext cx="914400" cy="310896"/>
          </a:xfrm>
          <a:prstGeom prst="rect">
            <a:avLst/>
          </a:prstGeom>
          <a:noFill/>
          <a:ln/>
        </p:spPr>
        <p:txBody>
          <a:bodyPr wrap="square" lIns="0" tIns="0" rIns="0" bIns="0" rtlCol="0" anchor="ctr"/>
          <a:lstStyle/>
          <a:p>
            <a:pPr marL="0" indent="0" algn="ctr">
              <a:buNone/>
            </a:pPr>
            <a:r>
              <a:rPr lang="en-US" sz="1200" b="1" dirty="0">
                <a:solidFill>
                  <a:schemeClr val="tx2"/>
                </a:solidFill>
              </a:rPr>
              <a:t>Privacidad</a:t>
            </a:r>
            <a:endParaRPr lang="en-US" sz="1200" dirty="0"/>
          </a:p>
        </p:txBody>
      </p:sp>
      <p:sp>
        <p:nvSpPr>
          <p:cNvPr id="15" name="chip"/>
          <p:cNvSpPr/>
          <p:nvPr/>
        </p:nvSpPr>
        <p:spPr>
          <a:xfrm>
            <a:off x="10058400" y="1554480"/>
            <a:ext cx="1280160" cy="310896"/>
          </a:xfrm>
          <a:prstGeom prst="roundRect">
            <a:avLst>
              <a:gd name="adj" fmla="val 50000"/>
            </a:avLst>
          </a:prstGeom>
          <a:solidFill>
            <a:schemeClr val="accent1">
              <a:alpha val="15000"/>
            </a:schemeClr>
          </a:solidFill>
          <a:ln w="9525">
            <a:solidFill>
              <a:schemeClr val="accent1"/>
            </a:solidFill>
            <a:prstDash val="solid"/>
          </a:ln>
        </p:spPr>
      </p:sp>
      <p:sp>
        <p:nvSpPr>
          <p:cNvPr id="16" name="Text 14"/>
          <p:cNvSpPr txBox="1"/>
          <p:nvPr/>
        </p:nvSpPr>
        <p:spPr>
          <a:xfrm>
            <a:off x="10058400" y="1554480"/>
            <a:ext cx="1280160" cy="310896"/>
          </a:xfrm>
          <a:prstGeom prst="rect">
            <a:avLst/>
          </a:prstGeom>
          <a:noFill/>
          <a:ln/>
        </p:spPr>
        <p:txBody>
          <a:bodyPr wrap="square" lIns="0" tIns="0" rIns="0" bIns="0" rtlCol="0" anchor="ctr"/>
          <a:lstStyle/>
          <a:p>
            <a:pPr marL="0" indent="0" algn="ctr">
              <a:buNone/>
            </a:pPr>
            <a:r>
              <a:rPr lang="en-US" sz="1200" b="1" dirty="0">
                <a:solidFill>
                  <a:schemeClr val="accent1"/>
                </a:solidFill>
              </a:rPr>
              <a:t>Implementada</a:t>
            </a:r>
            <a:endParaRPr lang="en-US" sz="1200" dirty="0"/>
          </a:p>
        </p:txBody>
      </p:sp>
      <p:sp>
        <p:nvSpPr>
          <p:cNvPr id="17" name="Text 15"/>
          <p:cNvSpPr txBox="1"/>
          <p:nvPr/>
        </p:nvSpPr>
        <p:spPr>
          <a:xfrm>
            <a:off x="6400800" y="1965960"/>
            <a:ext cx="4937760" cy="548640"/>
          </a:xfrm>
          <a:prstGeom prst="rect">
            <a:avLst/>
          </a:prstGeom>
          <a:noFill/>
          <a:ln/>
        </p:spPr>
        <p:txBody>
          <a:bodyPr wrap="square" lIns="0" tIns="0" rIns="0" bIns="0" rtlCol="0" anchor="t"/>
          <a:lstStyle/>
          <a:p>
            <a:pPr marL="0" indent="0">
              <a:buNone/>
            </a:pPr>
            <a:r>
              <a:rPr lang="en-US" sz="1400" b="1" dirty="0">
                <a:solidFill>
                  <a:schemeClr val="tx1"/>
                </a:solidFill>
              </a:rPr>
              <a:t>Las conversaciones del chat no se guardan en el servidor.</a:t>
            </a:r>
            <a:endParaRPr lang="en-US" sz="1400" dirty="0"/>
          </a:p>
        </p:txBody>
      </p:sp>
      <p:sp>
        <p:nvSpPr>
          <p:cNvPr id="18" name="Text 16"/>
          <p:cNvSpPr txBox="1"/>
          <p:nvPr/>
        </p:nvSpPr>
        <p:spPr>
          <a:xfrm>
            <a:off x="6400800" y="2468880"/>
            <a:ext cx="4937760" cy="731520"/>
          </a:xfrm>
          <a:prstGeom prst="rect">
            <a:avLst/>
          </a:prstGeom>
          <a:noFill/>
          <a:ln/>
        </p:spPr>
        <p:txBody>
          <a:bodyPr wrap="square" lIns="0" tIns="0" rIns="0" bIns="0" rtlCol="0" anchor="t"/>
          <a:lstStyle/>
          <a:p>
            <a:pPr marL="0" indent="0">
              <a:spcAft>
                <a:spcPts val="200"/>
              </a:spcAft>
              <a:buNone/>
            </a:pPr>
            <a:r>
              <a:rPr lang="en-US" sz="1300" b="1" dirty="0">
                <a:solidFill>
                  <a:schemeClr val="tx1"/>
                </a:solidFill>
              </a:rPr>
              <a:t>Por qué: </a:t>
            </a:r>
            <a:r>
              <a:rPr lang="en-US" sz="1300" dirty="0">
                <a:solidFill>
                  <a:schemeClr val="tx2"/>
                </a:solidFill>
              </a:rPr>
              <a:t>Las dudas de cada estudiante no quedan registradas</a:t>
            </a:r>
            <a:endParaRPr lang="en-US" sz="1300" dirty="0"/>
          </a:p>
          <a:p>
            <a:pPr marL="0" indent="0">
              <a:spcAft>
                <a:spcPts val="200"/>
              </a:spcAft>
              <a:buNone/>
            </a:pPr>
            <a:r>
              <a:rPr lang="en-US" sz="1300" b="1" dirty="0">
                <a:solidFill>
                  <a:schemeClr val="tx1"/>
                </a:solidFill>
              </a:rPr>
              <a:t>Prueba: </a:t>
            </a:r>
            <a:r>
              <a:rPr lang="en-US" sz="1300" dirty="0">
                <a:solidFill>
                  <a:schemeClr val="tx2"/>
                </a:solidFill>
              </a:rPr>
              <a:t>e2e «RF-16: el estudiante conversa con el Tutor IA»</a:t>
            </a:r>
            <a:endParaRPr lang="en-US" sz="1300" dirty="0"/>
          </a:p>
        </p:txBody>
      </p:sp>
      <p:sp>
        <p:nvSpPr>
          <p:cNvPr id="19" name="card"/>
          <p:cNvSpPr/>
          <p:nvPr/>
        </p:nvSpPr>
        <p:spPr>
          <a:xfrm>
            <a:off x="548640" y="3611880"/>
            <a:ext cx="5394960" cy="2011680"/>
          </a:xfrm>
          <a:prstGeom prst="roundRect">
            <a:avLst>
              <a:gd name="adj" fmla="val 5455"/>
            </a:avLst>
          </a:prstGeom>
          <a:solidFill>
            <a:schemeClr val="bg1"/>
          </a:solidFill>
          <a:ln w="9525">
            <a:solidFill>
              <a:schemeClr val="accent6"/>
            </a:solidFill>
            <a:prstDash val="solid"/>
          </a:ln>
        </p:spPr>
      </p:sp>
      <p:sp>
        <p:nvSpPr>
          <p:cNvPr id="20" name="Text 18"/>
          <p:cNvSpPr txBox="1"/>
          <p:nvPr/>
        </p:nvSpPr>
        <p:spPr>
          <a:xfrm>
            <a:off x="777240" y="3794760"/>
            <a:ext cx="914400" cy="310896"/>
          </a:xfrm>
          <a:prstGeom prst="rect">
            <a:avLst/>
          </a:prstGeom>
          <a:noFill/>
          <a:ln/>
        </p:spPr>
        <p:txBody>
          <a:bodyPr wrap="square" lIns="0" tIns="0" rIns="0" bIns="0" rtlCol="0" anchor="ctr"/>
          <a:lstStyle/>
          <a:p>
            <a:pPr marL="0" indent="0">
              <a:buNone/>
            </a:pPr>
            <a:r>
              <a:rPr lang="en-US" sz="1400" b="1" dirty="0">
                <a:solidFill>
                  <a:schemeClr val="tx1"/>
                </a:solidFill>
                <a:latin typeface="Courier New" pitchFamily="34" charset="0"/>
                <a:ea typeface="Courier New" pitchFamily="34" charset="-122"/>
                <a:cs typeface="Courier New" pitchFamily="34" charset="-120"/>
              </a:rPr>
              <a:t>R-12</a:t>
            </a:r>
            <a:endParaRPr lang="en-US" sz="1400" dirty="0"/>
          </a:p>
        </p:txBody>
      </p:sp>
      <p:sp>
        <p:nvSpPr>
          <p:cNvPr id="21" name="severidad"/>
          <p:cNvSpPr/>
          <p:nvPr/>
        </p:nvSpPr>
        <p:spPr>
          <a:xfrm>
            <a:off x="1645920" y="3794760"/>
            <a:ext cx="914400" cy="310896"/>
          </a:xfrm>
          <a:prstGeom prst="roundRect">
            <a:avLst>
              <a:gd name="adj" fmla="val 50000"/>
            </a:avLst>
          </a:prstGeom>
          <a:solidFill>
            <a:schemeClr val="accent2">
              <a:alpha val="15000"/>
            </a:schemeClr>
          </a:solidFill>
          <a:ln w="9525">
            <a:solidFill>
              <a:schemeClr val="accent2"/>
            </a:solidFill>
            <a:prstDash val="solid"/>
          </a:ln>
        </p:spPr>
      </p:sp>
      <p:sp>
        <p:nvSpPr>
          <p:cNvPr id="22" name="Text 20"/>
          <p:cNvSpPr txBox="1"/>
          <p:nvPr/>
        </p:nvSpPr>
        <p:spPr>
          <a:xfrm>
            <a:off x="1645920" y="3794760"/>
            <a:ext cx="914400" cy="310896"/>
          </a:xfrm>
          <a:prstGeom prst="rect">
            <a:avLst/>
          </a:prstGeom>
          <a:noFill/>
          <a:ln/>
        </p:spPr>
        <p:txBody>
          <a:bodyPr wrap="square" lIns="0" tIns="0" rIns="0" bIns="0" rtlCol="0" anchor="ctr"/>
          <a:lstStyle/>
          <a:p>
            <a:pPr marL="0" indent="0" algn="ctr">
              <a:buNone/>
            </a:pPr>
            <a:r>
              <a:rPr lang="en-US" sz="1200" b="1" dirty="0">
                <a:solidFill>
                  <a:schemeClr val="accent2"/>
                </a:solidFill>
              </a:rPr>
              <a:t>Alcance</a:t>
            </a:r>
            <a:endParaRPr lang="en-US" sz="1200" dirty="0"/>
          </a:p>
        </p:txBody>
      </p:sp>
      <p:sp>
        <p:nvSpPr>
          <p:cNvPr id="23" name="chip"/>
          <p:cNvSpPr/>
          <p:nvPr/>
        </p:nvSpPr>
        <p:spPr>
          <a:xfrm>
            <a:off x="4434840" y="3794760"/>
            <a:ext cx="1280160" cy="310896"/>
          </a:xfrm>
          <a:prstGeom prst="roundRect">
            <a:avLst>
              <a:gd name="adj" fmla="val 50000"/>
            </a:avLst>
          </a:prstGeom>
          <a:solidFill>
            <a:schemeClr val="accent1">
              <a:alpha val="15000"/>
            </a:schemeClr>
          </a:solidFill>
          <a:ln w="9525">
            <a:solidFill>
              <a:schemeClr val="accent1"/>
            </a:solidFill>
            <a:prstDash val="solid"/>
          </a:ln>
        </p:spPr>
      </p:sp>
      <p:sp>
        <p:nvSpPr>
          <p:cNvPr id="24" name="Text 22"/>
          <p:cNvSpPr txBox="1"/>
          <p:nvPr/>
        </p:nvSpPr>
        <p:spPr>
          <a:xfrm>
            <a:off x="4434840" y="3794760"/>
            <a:ext cx="1280160" cy="310896"/>
          </a:xfrm>
          <a:prstGeom prst="rect">
            <a:avLst/>
          </a:prstGeom>
          <a:noFill/>
          <a:ln/>
        </p:spPr>
        <p:txBody>
          <a:bodyPr wrap="square" lIns="0" tIns="0" rIns="0" bIns="0" rtlCol="0" anchor="ctr"/>
          <a:lstStyle/>
          <a:p>
            <a:pPr marL="0" indent="0" algn="ctr">
              <a:buNone/>
            </a:pPr>
            <a:r>
              <a:rPr lang="en-US" sz="1200" b="1" dirty="0">
                <a:solidFill>
                  <a:schemeClr val="accent1"/>
                </a:solidFill>
              </a:rPr>
              <a:t>Implementada</a:t>
            </a:r>
            <a:endParaRPr lang="en-US" sz="1200" dirty="0"/>
          </a:p>
        </p:txBody>
      </p:sp>
      <p:sp>
        <p:nvSpPr>
          <p:cNvPr id="25" name="Text 23"/>
          <p:cNvSpPr txBox="1"/>
          <p:nvPr/>
        </p:nvSpPr>
        <p:spPr>
          <a:xfrm>
            <a:off x="777240" y="4206240"/>
            <a:ext cx="4937760" cy="548640"/>
          </a:xfrm>
          <a:prstGeom prst="rect">
            <a:avLst/>
          </a:prstGeom>
          <a:noFill/>
          <a:ln/>
        </p:spPr>
        <p:txBody>
          <a:bodyPr wrap="square" lIns="0" tIns="0" rIns="0" bIns="0" rtlCol="0" anchor="t"/>
          <a:lstStyle/>
          <a:p>
            <a:pPr marL="0" indent="0">
              <a:buNone/>
            </a:pPr>
            <a:r>
              <a:rPr lang="en-US" sz="1400" b="1" dirty="0">
                <a:solidFill>
                  <a:schemeClr val="tx1"/>
                </a:solidFill>
              </a:rPr>
              <a:t>De los ZIP y archivos de más de 20 MB, la IA solo recibe el título.</a:t>
            </a:r>
            <a:endParaRPr lang="en-US" sz="1400" dirty="0"/>
          </a:p>
        </p:txBody>
      </p:sp>
      <p:sp>
        <p:nvSpPr>
          <p:cNvPr id="26" name="Text 24"/>
          <p:cNvSpPr txBox="1"/>
          <p:nvPr/>
        </p:nvSpPr>
        <p:spPr>
          <a:xfrm>
            <a:off x="777240" y="4709160"/>
            <a:ext cx="4937760" cy="731520"/>
          </a:xfrm>
          <a:prstGeom prst="rect">
            <a:avLst/>
          </a:prstGeom>
          <a:noFill/>
          <a:ln/>
        </p:spPr>
        <p:txBody>
          <a:bodyPr wrap="square" lIns="0" tIns="0" rIns="0" bIns="0" rtlCol="0" anchor="t"/>
          <a:lstStyle/>
          <a:p>
            <a:pPr marL="0" indent="0">
              <a:spcAft>
                <a:spcPts val="200"/>
              </a:spcAft>
              <a:buNone/>
            </a:pPr>
            <a:r>
              <a:rPr lang="en-US" sz="1300" b="1" dirty="0">
                <a:solidFill>
                  <a:schemeClr val="tx1"/>
                </a:solidFill>
              </a:rPr>
              <a:t>Por qué: </a:t>
            </a:r>
            <a:r>
              <a:rPr lang="en-US" sz="1300" dirty="0">
                <a:solidFill>
                  <a:schemeClr val="tx2"/>
                </a:solidFill>
              </a:rPr>
              <a:t>El modelo lee PDF, imágenes y el texto de los Word</a:t>
            </a:r>
            <a:endParaRPr lang="en-US" sz="1300" dirty="0"/>
          </a:p>
          <a:p>
            <a:pPr marL="0" indent="0">
              <a:spcAft>
                <a:spcPts val="200"/>
              </a:spcAft>
              <a:buNone/>
            </a:pPr>
            <a:r>
              <a:rPr lang="en-US" sz="1300" b="1" dirty="0">
                <a:solidFill>
                  <a:schemeClr val="tx1"/>
                </a:solidFill>
              </a:rPr>
              <a:t>Prueba: </a:t>
            </a:r>
            <a:r>
              <a:rPr lang="en-US" sz="1300" dirty="0">
                <a:solidFill>
                  <a:schemeClr val="tx2"/>
                </a:solidFill>
              </a:rPr>
              <a:t>widget «RF-15: el quiz…»: la app avisa que no leyó el archivo</a:t>
            </a:r>
            <a:endParaRPr lang="en-US" sz="1300" dirty="0"/>
          </a:p>
        </p:txBody>
      </p:sp>
      <p:sp>
        <p:nvSpPr>
          <p:cNvPr id="27" name="card"/>
          <p:cNvSpPr/>
          <p:nvPr/>
        </p:nvSpPr>
        <p:spPr>
          <a:xfrm>
            <a:off x="6172200" y="3611880"/>
            <a:ext cx="5394960" cy="2011680"/>
          </a:xfrm>
          <a:prstGeom prst="roundRect">
            <a:avLst>
              <a:gd name="adj" fmla="val 5455"/>
            </a:avLst>
          </a:prstGeom>
          <a:solidFill>
            <a:schemeClr val="bg1"/>
          </a:solidFill>
          <a:ln w="9525">
            <a:solidFill>
              <a:schemeClr val="accent6"/>
            </a:solidFill>
            <a:prstDash val="solid"/>
          </a:ln>
        </p:spPr>
      </p:sp>
      <p:sp>
        <p:nvSpPr>
          <p:cNvPr id="28" name="Text 26"/>
          <p:cNvSpPr txBox="1"/>
          <p:nvPr/>
        </p:nvSpPr>
        <p:spPr>
          <a:xfrm>
            <a:off x="6400800" y="3794760"/>
            <a:ext cx="914400" cy="310896"/>
          </a:xfrm>
          <a:prstGeom prst="rect">
            <a:avLst/>
          </a:prstGeom>
          <a:noFill/>
          <a:ln/>
        </p:spPr>
        <p:txBody>
          <a:bodyPr wrap="square" lIns="0" tIns="0" rIns="0" bIns="0" rtlCol="0" anchor="ctr"/>
          <a:lstStyle/>
          <a:p>
            <a:pPr marL="0" indent="0">
              <a:buNone/>
            </a:pPr>
            <a:r>
              <a:rPr lang="en-US" sz="1400" b="1" dirty="0">
                <a:solidFill>
                  <a:schemeClr val="tx1"/>
                </a:solidFill>
                <a:latin typeface="Courier New" pitchFamily="34" charset="0"/>
                <a:ea typeface="Courier New" pitchFamily="34" charset="-122"/>
                <a:cs typeface="Courier New" pitchFamily="34" charset="-120"/>
              </a:rPr>
              <a:t>R-13</a:t>
            </a:r>
            <a:endParaRPr lang="en-US" sz="1400" dirty="0"/>
          </a:p>
        </p:txBody>
      </p:sp>
      <p:sp>
        <p:nvSpPr>
          <p:cNvPr id="29" name="severidad"/>
          <p:cNvSpPr/>
          <p:nvPr/>
        </p:nvSpPr>
        <p:spPr>
          <a:xfrm>
            <a:off x="7269480" y="3794760"/>
            <a:ext cx="914400" cy="310896"/>
          </a:xfrm>
          <a:prstGeom prst="roundRect">
            <a:avLst>
              <a:gd name="adj" fmla="val 50000"/>
            </a:avLst>
          </a:prstGeom>
          <a:solidFill>
            <a:schemeClr val="tx2">
              <a:alpha val="15000"/>
            </a:schemeClr>
          </a:solidFill>
          <a:ln w="9525">
            <a:solidFill>
              <a:schemeClr val="tx2"/>
            </a:solidFill>
            <a:prstDash val="solid"/>
          </a:ln>
        </p:spPr>
      </p:sp>
      <p:sp>
        <p:nvSpPr>
          <p:cNvPr id="30" name="Text 28"/>
          <p:cNvSpPr txBox="1"/>
          <p:nvPr/>
        </p:nvSpPr>
        <p:spPr>
          <a:xfrm>
            <a:off x="7269480" y="3794760"/>
            <a:ext cx="914400" cy="310896"/>
          </a:xfrm>
          <a:prstGeom prst="rect">
            <a:avLst/>
          </a:prstGeom>
          <a:noFill/>
          <a:ln/>
        </p:spPr>
        <p:txBody>
          <a:bodyPr wrap="square" lIns="0" tIns="0" rIns="0" bIns="0" rtlCol="0" anchor="ctr"/>
          <a:lstStyle/>
          <a:p>
            <a:pPr marL="0" indent="0" algn="ctr">
              <a:buNone/>
            </a:pPr>
            <a:r>
              <a:rPr lang="en-US" sz="1200" b="1" dirty="0">
                <a:solidFill>
                  <a:schemeClr val="tx2"/>
                </a:solidFill>
              </a:rPr>
              <a:t>Límite</a:t>
            </a:r>
            <a:endParaRPr lang="en-US" sz="1200" dirty="0"/>
          </a:p>
        </p:txBody>
      </p:sp>
      <p:sp>
        <p:nvSpPr>
          <p:cNvPr id="31" name="chip"/>
          <p:cNvSpPr/>
          <p:nvPr/>
        </p:nvSpPr>
        <p:spPr>
          <a:xfrm>
            <a:off x="10058400" y="3794760"/>
            <a:ext cx="1280160" cy="310896"/>
          </a:xfrm>
          <a:prstGeom prst="roundRect">
            <a:avLst>
              <a:gd name="adj" fmla="val 50000"/>
            </a:avLst>
          </a:prstGeom>
          <a:solidFill>
            <a:schemeClr val="accent1">
              <a:alpha val="15000"/>
            </a:schemeClr>
          </a:solidFill>
          <a:ln w="9525">
            <a:solidFill>
              <a:schemeClr val="accent1"/>
            </a:solidFill>
            <a:prstDash val="solid"/>
          </a:ln>
        </p:spPr>
      </p:sp>
      <p:sp>
        <p:nvSpPr>
          <p:cNvPr id="32" name="Text 30"/>
          <p:cNvSpPr txBox="1"/>
          <p:nvPr/>
        </p:nvSpPr>
        <p:spPr>
          <a:xfrm>
            <a:off x="10058400" y="3794760"/>
            <a:ext cx="1280160" cy="310896"/>
          </a:xfrm>
          <a:prstGeom prst="rect">
            <a:avLst/>
          </a:prstGeom>
          <a:noFill/>
          <a:ln/>
        </p:spPr>
        <p:txBody>
          <a:bodyPr wrap="square" lIns="0" tIns="0" rIns="0" bIns="0" rtlCol="0" anchor="ctr"/>
          <a:lstStyle/>
          <a:p>
            <a:pPr marL="0" indent="0" algn="ctr">
              <a:buNone/>
            </a:pPr>
            <a:r>
              <a:rPr lang="en-US" sz="1200" b="1" dirty="0">
                <a:solidFill>
                  <a:schemeClr val="accent1"/>
                </a:solidFill>
              </a:rPr>
              <a:t>Implementada</a:t>
            </a:r>
            <a:endParaRPr lang="en-US" sz="1200" dirty="0"/>
          </a:p>
        </p:txBody>
      </p:sp>
      <p:sp>
        <p:nvSpPr>
          <p:cNvPr id="33" name="Text 31"/>
          <p:cNvSpPr txBox="1"/>
          <p:nvPr/>
        </p:nvSpPr>
        <p:spPr>
          <a:xfrm>
            <a:off x="6400800" y="4206240"/>
            <a:ext cx="4937760" cy="548640"/>
          </a:xfrm>
          <a:prstGeom prst="rect">
            <a:avLst/>
          </a:prstGeom>
          <a:noFill/>
          <a:ln/>
        </p:spPr>
        <p:txBody>
          <a:bodyPr wrap="square" lIns="0" tIns="0" rIns="0" bIns="0" rtlCol="0" anchor="t"/>
          <a:lstStyle/>
          <a:p>
            <a:pPr marL="0" indent="0">
              <a:buNone/>
            </a:pPr>
            <a:r>
              <a:rPr lang="en-US" sz="1400" b="1" dirty="0">
                <a:solidFill>
                  <a:schemeClr val="tx1"/>
                </a:solidFill>
              </a:rPr>
              <a:t>Cada usuario tiene hasta 20 consultas nuevas a la IA por hora.</a:t>
            </a:r>
            <a:endParaRPr lang="en-US" sz="1400" dirty="0"/>
          </a:p>
        </p:txBody>
      </p:sp>
      <p:sp>
        <p:nvSpPr>
          <p:cNvPr id="34" name="Text 32"/>
          <p:cNvSpPr txBox="1"/>
          <p:nvPr/>
        </p:nvSpPr>
        <p:spPr>
          <a:xfrm>
            <a:off x="6400800" y="4709160"/>
            <a:ext cx="4937760" cy="731520"/>
          </a:xfrm>
          <a:prstGeom prst="rect">
            <a:avLst/>
          </a:prstGeom>
          <a:noFill/>
          <a:ln/>
        </p:spPr>
        <p:txBody>
          <a:bodyPr wrap="square" lIns="0" tIns="0" rIns="0" bIns="0" rtlCol="0" anchor="t"/>
          <a:lstStyle/>
          <a:p>
            <a:pPr marL="0" indent="0">
              <a:spcAft>
                <a:spcPts val="200"/>
              </a:spcAft>
              <a:buNone/>
            </a:pPr>
            <a:r>
              <a:rPr lang="en-US" sz="1300" b="1" dirty="0">
                <a:solidFill>
                  <a:schemeClr val="tx1"/>
                </a:solidFill>
              </a:rPr>
              <a:t>Por qué: </a:t>
            </a:r>
            <a:r>
              <a:rPr lang="en-US" sz="1300" dirty="0">
                <a:solidFill>
                  <a:schemeClr val="tx2"/>
                </a:solidFill>
              </a:rPr>
              <a:t>No agotar la cuota gratuita de la IA</a:t>
            </a:r>
            <a:endParaRPr lang="en-US" sz="1300" dirty="0"/>
          </a:p>
          <a:p>
            <a:pPr marL="0" indent="0">
              <a:spcAft>
                <a:spcPts val="200"/>
              </a:spcAft>
              <a:buNone/>
            </a:pPr>
            <a:r>
              <a:rPr lang="en-US" sz="1300" b="1" dirty="0">
                <a:solidFill>
                  <a:schemeClr val="tx1"/>
                </a:solidFill>
              </a:rPr>
              <a:t>Prueba: </a:t>
            </a:r>
            <a:r>
              <a:rPr lang="en-US" sz="1300" dirty="0">
                <a:solidFill>
                  <a:schemeClr val="tx2"/>
                </a:solidFill>
              </a:rPr>
              <a:t>e2e «R-13: … límite de consultas … por hora»</a:t>
            </a:r>
            <a:endParaRPr lang="en-US" sz="1300" dirty="0"/>
          </a:p>
        </p:txBody>
      </p:sp>
      <p:sp>
        <p:nvSpPr>
          <p:cNvPr id="35" name="Text 33"/>
          <p:cNvSpPr txBox="1"/>
          <p:nvPr/>
        </p:nvSpPr>
        <p:spPr>
          <a:xfrm>
            <a:off x="548640" y="5897880"/>
            <a:ext cx="11094415" cy="365760"/>
          </a:xfrm>
          <a:prstGeom prst="rect">
            <a:avLst/>
          </a:prstGeom>
          <a:noFill/>
          <a:ln/>
        </p:spPr>
        <p:txBody>
          <a:bodyPr wrap="square" lIns="0" tIns="0" rIns="0" bIns="0" rtlCol="0" anchor="ctr"/>
          <a:lstStyle/>
          <a:p>
            <a:pPr marL="0" indent="0">
              <a:buNone/>
            </a:pPr>
            <a:r>
              <a:rPr lang="en-US" sz="1500" i="1" dirty="0">
                <a:solidFill>
                  <a:schemeClr val="tx1"/>
                </a:solidFill>
              </a:rPr>
              <a:t>También R-14 (el servidor decide el veredicto de la revisión) y R-15 (lo pendiente solo lo ven su autor y el administrador). Falta aprobarlas.</a:t>
            </a:r>
            <a:endParaRPr lang="en-US" sz="1500" dirty="0"/>
          </a:p>
        </p:txBody>
      </p:sp>
      <p:sp>
        <p:nvSpPr>
          <p:cNvPr id="36"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chemeClr val="tx1"/>
                </a:solidFill>
              </a:rPr>
              <a:t>Pruebas del Tutor IA</a:t>
            </a:r>
            <a:endParaRPr lang="en-US" sz="3200" dirty="0"/>
          </a:p>
        </p:txBody>
      </p:sp>
      <p:sp>
        <p:nvSpPr>
          <p:cNvPr id="3" name="card"/>
          <p:cNvSpPr/>
          <p:nvPr/>
        </p:nvSpPr>
        <p:spPr>
          <a:xfrm>
            <a:off x="548640" y="1463040"/>
            <a:ext cx="2578608" cy="3108960"/>
          </a:xfrm>
          <a:prstGeom prst="roundRect">
            <a:avLst>
              <a:gd name="adj" fmla="val 4255"/>
            </a:avLst>
          </a:prstGeom>
          <a:solidFill>
            <a:schemeClr val="bg1"/>
          </a:solidFill>
          <a:ln w="9525">
            <a:solidFill>
              <a:schemeClr val="accent6"/>
            </a:solidFill>
            <a:prstDash val="solid"/>
          </a:ln>
        </p:spPr>
      </p:sp>
      <p:sp>
        <p:nvSpPr>
          <p:cNvPr id="4" name="Text 2"/>
          <p:cNvSpPr txBox="1"/>
          <p:nvPr/>
        </p:nvSpPr>
        <p:spPr>
          <a:xfrm>
            <a:off x="777240" y="1691640"/>
            <a:ext cx="2121408" cy="320040"/>
          </a:xfrm>
          <a:prstGeom prst="rect">
            <a:avLst/>
          </a:prstGeom>
          <a:noFill/>
          <a:ln/>
        </p:spPr>
        <p:txBody>
          <a:bodyPr wrap="square" lIns="0" tIns="0" rIns="0" bIns="0" rtlCol="0" anchor="ctr"/>
          <a:lstStyle/>
          <a:p>
            <a:pPr marL="0" indent="0">
              <a:buNone/>
            </a:pPr>
            <a:r>
              <a:rPr lang="en-US" sz="1300" b="1" dirty="0">
                <a:solidFill>
                  <a:schemeClr val="tx2"/>
                </a:solidFill>
                <a:latin typeface="Courier New" pitchFamily="34" charset="0"/>
                <a:ea typeface="Courier New" pitchFamily="34" charset="-122"/>
                <a:cs typeface="Courier New" pitchFamily="34" charset="-120"/>
              </a:rPr>
              <a:t>npm test</a:t>
            </a:r>
            <a:endParaRPr lang="en-US" sz="1300" dirty="0"/>
          </a:p>
        </p:txBody>
      </p:sp>
      <p:sp>
        <p:nvSpPr>
          <p:cNvPr id="5" name="Text 3"/>
          <p:cNvSpPr txBox="1"/>
          <p:nvPr/>
        </p:nvSpPr>
        <p:spPr>
          <a:xfrm>
            <a:off x="777240" y="2148840"/>
            <a:ext cx="2121408" cy="82296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11 / 11</a:t>
            </a:r>
            <a:endParaRPr lang="en-US" sz="4000" dirty="0"/>
          </a:p>
        </p:txBody>
      </p:sp>
      <p:sp>
        <p:nvSpPr>
          <p:cNvPr id="6" name="Text 4"/>
          <p:cNvSpPr txBox="1"/>
          <p:nvPr/>
        </p:nvSpPr>
        <p:spPr>
          <a:xfrm>
            <a:off x="777240" y="3108960"/>
            <a:ext cx="2121408" cy="1280160"/>
          </a:xfrm>
          <a:prstGeom prst="rect">
            <a:avLst/>
          </a:prstGeom>
          <a:noFill/>
          <a:ln/>
        </p:spPr>
        <p:txBody>
          <a:bodyPr wrap="square" lIns="0" tIns="0" rIns="0" bIns="0" rtlCol="0" anchor="t"/>
          <a:lstStyle/>
          <a:p>
            <a:pPr marL="0" indent="0">
              <a:buNone/>
            </a:pPr>
            <a:r>
              <a:rPr lang="en-US" sz="1400" dirty="0">
                <a:solidFill>
                  <a:schemeClr val="tx2"/>
                </a:solidFill>
              </a:rPr>
              <a:t>API sin base de datos: acceso y validación de las preguntas</a:t>
            </a:r>
            <a:endParaRPr lang="en-US" sz="1400" dirty="0"/>
          </a:p>
        </p:txBody>
      </p:sp>
      <p:sp>
        <p:nvSpPr>
          <p:cNvPr id="7" name="card"/>
          <p:cNvSpPr/>
          <p:nvPr/>
        </p:nvSpPr>
        <p:spPr>
          <a:xfrm>
            <a:off x="3355848" y="1463040"/>
            <a:ext cx="2578608" cy="3108960"/>
          </a:xfrm>
          <a:prstGeom prst="roundRect">
            <a:avLst>
              <a:gd name="adj" fmla="val 4255"/>
            </a:avLst>
          </a:prstGeom>
          <a:solidFill>
            <a:schemeClr val="bg1"/>
          </a:solidFill>
          <a:ln w="9525">
            <a:solidFill>
              <a:schemeClr val="accent6"/>
            </a:solidFill>
            <a:prstDash val="solid"/>
          </a:ln>
        </p:spPr>
      </p:sp>
      <p:sp>
        <p:nvSpPr>
          <p:cNvPr id="8" name="Text 6"/>
          <p:cNvSpPr txBox="1"/>
          <p:nvPr/>
        </p:nvSpPr>
        <p:spPr>
          <a:xfrm>
            <a:off x="3584448" y="1691640"/>
            <a:ext cx="2121408" cy="320040"/>
          </a:xfrm>
          <a:prstGeom prst="rect">
            <a:avLst/>
          </a:prstGeom>
          <a:noFill/>
          <a:ln/>
        </p:spPr>
        <p:txBody>
          <a:bodyPr wrap="square" lIns="0" tIns="0" rIns="0" bIns="0" rtlCol="0" anchor="ctr"/>
          <a:lstStyle/>
          <a:p>
            <a:pPr marL="0" indent="0">
              <a:buNone/>
            </a:pPr>
            <a:r>
              <a:rPr lang="en-US" sz="1300" b="1" dirty="0">
                <a:solidFill>
                  <a:schemeClr val="tx2"/>
                </a:solidFill>
                <a:latin typeface="Courier New" pitchFamily="34" charset="0"/>
                <a:ea typeface="Courier New" pitchFamily="34" charset="-122"/>
                <a:cs typeface="Courier New" pitchFamily="34" charset="-120"/>
              </a:rPr>
              <a:t>npm run test:e2e</a:t>
            </a:r>
            <a:endParaRPr lang="en-US" sz="1300" dirty="0"/>
          </a:p>
        </p:txBody>
      </p:sp>
      <p:sp>
        <p:nvSpPr>
          <p:cNvPr id="9" name="Text 7"/>
          <p:cNvSpPr txBox="1"/>
          <p:nvPr/>
        </p:nvSpPr>
        <p:spPr>
          <a:xfrm>
            <a:off x="3584448" y="2148840"/>
            <a:ext cx="2121408" cy="82296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24 / 24</a:t>
            </a:r>
            <a:endParaRPr lang="en-US" sz="4000" dirty="0"/>
          </a:p>
        </p:txBody>
      </p:sp>
      <p:sp>
        <p:nvSpPr>
          <p:cNvPr id="10" name="Text 8"/>
          <p:cNvSpPr txBox="1"/>
          <p:nvPr/>
        </p:nvSpPr>
        <p:spPr>
          <a:xfrm>
            <a:off x="3584448" y="3108960"/>
            <a:ext cx="2121408" cy="1280160"/>
          </a:xfrm>
          <a:prstGeom prst="rect">
            <a:avLst/>
          </a:prstGeom>
          <a:noFill/>
          <a:ln/>
        </p:spPr>
        <p:txBody>
          <a:bodyPr wrap="square" lIns="0" tIns="0" rIns="0" bIns="0" rtlCol="0" anchor="t"/>
          <a:lstStyle/>
          <a:p>
            <a:pPr marL="0" indent="0">
              <a:buNone/>
            </a:pPr>
            <a:r>
              <a:rPr lang="en-US" sz="1400" dirty="0">
                <a:solidFill>
                  <a:schemeClr val="tx2"/>
                </a:solidFill>
              </a:rPr>
              <a:t>Con una IA simulada: RF-01 a RF-19 y la revisión al subir</a:t>
            </a:r>
            <a:endParaRPr lang="en-US" sz="1400" dirty="0"/>
          </a:p>
        </p:txBody>
      </p:sp>
      <p:sp>
        <p:nvSpPr>
          <p:cNvPr id="11" name="card"/>
          <p:cNvSpPr/>
          <p:nvPr/>
        </p:nvSpPr>
        <p:spPr>
          <a:xfrm>
            <a:off x="6163056" y="1463040"/>
            <a:ext cx="2578608" cy="3108960"/>
          </a:xfrm>
          <a:prstGeom prst="roundRect">
            <a:avLst>
              <a:gd name="adj" fmla="val 4255"/>
            </a:avLst>
          </a:prstGeom>
          <a:solidFill>
            <a:schemeClr val="bg1"/>
          </a:solidFill>
          <a:ln w="9525">
            <a:solidFill>
              <a:schemeClr val="accent6"/>
            </a:solidFill>
            <a:prstDash val="solid"/>
          </a:ln>
        </p:spPr>
      </p:sp>
      <p:sp>
        <p:nvSpPr>
          <p:cNvPr id="12" name="Text 10"/>
          <p:cNvSpPr txBox="1"/>
          <p:nvPr/>
        </p:nvSpPr>
        <p:spPr>
          <a:xfrm>
            <a:off x="6391656" y="1691640"/>
            <a:ext cx="2121408" cy="320040"/>
          </a:xfrm>
          <a:prstGeom prst="rect">
            <a:avLst/>
          </a:prstGeom>
          <a:noFill/>
          <a:ln/>
        </p:spPr>
        <p:txBody>
          <a:bodyPr wrap="square" lIns="0" tIns="0" rIns="0" bIns="0" rtlCol="0" anchor="ctr"/>
          <a:lstStyle/>
          <a:p>
            <a:pPr marL="0" indent="0">
              <a:buNone/>
            </a:pPr>
            <a:r>
              <a:rPr lang="en-US" sz="1300" b="1" dirty="0">
                <a:solidFill>
                  <a:schemeClr val="tx2"/>
                </a:solidFill>
                <a:latin typeface="Courier New" pitchFamily="34" charset="0"/>
                <a:ea typeface="Courier New" pitchFamily="34" charset="-122"/>
                <a:cs typeface="Courier New" pitchFamily="34" charset="-120"/>
              </a:rPr>
              <a:t>flutter test</a:t>
            </a:r>
            <a:endParaRPr lang="en-US" sz="1300" dirty="0"/>
          </a:p>
        </p:txBody>
      </p:sp>
      <p:sp>
        <p:nvSpPr>
          <p:cNvPr id="13" name="Text 11"/>
          <p:cNvSpPr txBox="1"/>
          <p:nvPr/>
        </p:nvSpPr>
        <p:spPr>
          <a:xfrm>
            <a:off x="6391656" y="2148840"/>
            <a:ext cx="2121408" cy="82296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29 / 29</a:t>
            </a:r>
            <a:endParaRPr lang="en-US" sz="4000" dirty="0"/>
          </a:p>
        </p:txBody>
      </p:sp>
      <p:sp>
        <p:nvSpPr>
          <p:cNvPr id="14" name="Text 12"/>
          <p:cNvSpPr txBox="1"/>
          <p:nvPr/>
        </p:nvSpPr>
        <p:spPr>
          <a:xfrm>
            <a:off x="6391656" y="3108960"/>
            <a:ext cx="2121408" cy="1280160"/>
          </a:xfrm>
          <a:prstGeom prst="rect">
            <a:avLst/>
          </a:prstGeom>
          <a:noFill/>
          <a:ln/>
        </p:spPr>
        <p:txBody>
          <a:bodyPr wrap="square" lIns="0" tIns="0" rIns="0" bIns="0" rtlCol="0" anchor="t"/>
          <a:lstStyle/>
          <a:p>
            <a:pPr marL="0" indent="0">
              <a:buNone/>
            </a:pPr>
            <a:r>
              <a:rPr lang="en-US" sz="1400" dirty="0">
                <a:solidFill>
                  <a:schemeClr val="tx2"/>
                </a:solidFill>
              </a:rPr>
              <a:t>Widgets: revisión al subir, quiz, simulacro y celular</a:t>
            </a:r>
            <a:endParaRPr lang="en-US" sz="1400" dirty="0"/>
          </a:p>
        </p:txBody>
      </p:sp>
      <p:sp>
        <p:nvSpPr>
          <p:cNvPr id="15" name="card"/>
          <p:cNvSpPr/>
          <p:nvPr/>
        </p:nvSpPr>
        <p:spPr>
          <a:xfrm>
            <a:off x="8970264" y="1463040"/>
            <a:ext cx="2578608" cy="3108960"/>
          </a:xfrm>
          <a:prstGeom prst="roundRect">
            <a:avLst>
              <a:gd name="adj" fmla="val 4255"/>
            </a:avLst>
          </a:prstGeom>
          <a:solidFill>
            <a:schemeClr val="bg1"/>
          </a:solidFill>
          <a:ln w="9525">
            <a:solidFill>
              <a:schemeClr val="accent6"/>
            </a:solidFill>
            <a:prstDash val="solid"/>
          </a:ln>
        </p:spPr>
      </p:sp>
      <p:sp>
        <p:nvSpPr>
          <p:cNvPr id="16" name="Text 14"/>
          <p:cNvSpPr txBox="1"/>
          <p:nvPr/>
        </p:nvSpPr>
        <p:spPr>
          <a:xfrm>
            <a:off x="9198864" y="1691640"/>
            <a:ext cx="2121408" cy="320040"/>
          </a:xfrm>
          <a:prstGeom prst="rect">
            <a:avLst/>
          </a:prstGeom>
          <a:noFill/>
          <a:ln/>
        </p:spPr>
        <p:txBody>
          <a:bodyPr wrap="square" lIns="0" tIns="0" rIns="0" bIns="0" rtlCol="0" anchor="ctr"/>
          <a:lstStyle/>
          <a:p>
            <a:pPr marL="0" indent="0">
              <a:buNone/>
            </a:pPr>
            <a:r>
              <a:rPr lang="en-US" sz="1300" b="1" dirty="0">
                <a:solidFill>
                  <a:schemeClr val="tx2"/>
                </a:solidFill>
                <a:latin typeface="Courier New" pitchFamily="34" charset="0"/>
                <a:ea typeface="Courier New" pitchFamily="34" charset="-122"/>
                <a:cs typeface="Courier New" pitchFamily="34" charset="-120"/>
              </a:rPr>
              <a:t>flutter analyze</a:t>
            </a:r>
            <a:endParaRPr lang="en-US" sz="1300" dirty="0"/>
          </a:p>
        </p:txBody>
      </p:sp>
      <p:sp>
        <p:nvSpPr>
          <p:cNvPr id="17" name="Text 15"/>
          <p:cNvSpPr txBox="1"/>
          <p:nvPr/>
        </p:nvSpPr>
        <p:spPr>
          <a:xfrm>
            <a:off x="9198864" y="2148840"/>
            <a:ext cx="2121408" cy="822960"/>
          </a:xfrm>
          <a:prstGeom prst="rect">
            <a:avLst/>
          </a:prstGeom>
          <a:noFill/>
          <a:ln/>
        </p:spPr>
        <p:txBody>
          <a:bodyPr wrap="square" lIns="0" tIns="0" rIns="0" bIns="0" rtlCol="0" anchor="ctr"/>
          <a:lstStyle/>
          <a:p>
            <a:pPr marL="0" indent="0">
              <a:buNone/>
            </a:pPr>
            <a:r>
              <a:rPr lang="en-US" sz="4000" b="1" dirty="0">
                <a:solidFill>
                  <a:schemeClr val="accent1"/>
                </a:solidFill>
                <a:latin typeface="Cambria" pitchFamily="34" charset="0"/>
                <a:ea typeface="Cambria" pitchFamily="34" charset="-122"/>
                <a:cs typeface="Cambria" pitchFamily="34" charset="-120"/>
              </a:rPr>
              <a:t>0 avisos</a:t>
            </a:r>
            <a:endParaRPr lang="en-US" sz="4000" dirty="0"/>
          </a:p>
        </p:txBody>
      </p:sp>
      <p:sp>
        <p:nvSpPr>
          <p:cNvPr id="18" name="Text 16"/>
          <p:cNvSpPr txBox="1"/>
          <p:nvPr/>
        </p:nvSpPr>
        <p:spPr>
          <a:xfrm>
            <a:off x="9198864" y="3108960"/>
            <a:ext cx="2121408" cy="1280160"/>
          </a:xfrm>
          <a:prstGeom prst="rect">
            <a:avLst/>
          </a:prstGeom>
          <a:noFill/>
          <a:ln/>
        </p:spPr>
        <p:txBody>
          <a:bodyPr wrap="square" lIns="0" tIns="0" rIns="0" bIns="0" rtlCol="0" anchor="t"/>
          <a:lstStyle/>
          <a:p>
            <a:pPr marL="0" indent="0">
              <a:buNone/>
            </a:pPr>
            <a:r>
              <a:rPr lang="en-US" sz="1400" dirty="0">
                <a:solidFill>
                  <a:schemeClr val="tx2"/>
                </a:solidFill>
              </a:rPr>
              <a:t>Con Flutter 3.47.8; flutter build web compila</a:t>
            </a:r>
            <a:endParaRPr lang="en-US" sz="1400" dirty="0"/>
          </a:p>
        </p:txBody>
      </p:sp>
      <p:sp>
        <p:nvSpPr>
          <p:cNvPr id="19" name="Text 17"/>
          <p:cNvSpPr txBox="1"/>
          <p:nvPr/>
        </p:nvSpPr>
        <p:spPr>
          <a:xfrm>
            <a:off x="548640" y="4892040"/>
            <a:ext cx="11094415" cy="822960"/>
          </a:xfrm>
          <a:prstGeom prst="rect">
            <a:avLst/>
          </a:prstGeom>
          <a:noFill/>
          <a:ln/>
        </p:spPr>
        <p:txBody>
          <a:bodyPr wrap="square" lIns="0" tIns="0" rIns="0" bIns="0" rtlCol="0" anchor="t"/>
          <a:lstStyle/>
          <a:p>
            <a:pPr marL="0" indent="0">
              <a:buNone/>
            </a:pPr>
            <a:r>
              <a:rPr lang="en-US" sz="1500" b="1" dirty="0">
                <a:solidFill>
                  <a:schemeClr val="tx1"/>
                </a:solidFill>
              </a:rPr>
              <a:t>Límite: </a:t>
            </a:r>
            <a:r>
              <a:rPr lang="en-US" sz="1500" dirty="0">
                <a:solidFill>
                  <a:schemeClr val="tx1"/>
                </a:solidFill>
              </a:rPr>
              <a:t>las pruebas usan una IA simulada: verifican la plataforma, no la calidad de las respuestas. Falta probar con la API real, con un docente y con estudiantes.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21</a:t>
            </a:fld>
            <a:endParaRPr lang="en-US"/>
          </a:p>
        </p:txBody>
      </p:sp>
    </p:spTree>
  </p:cSld>
  <p:clrMapOvr>
    <a:masterClrMapping/>
  </p:clrMapOvr>
</p:sld>
</file>

<file path=ppt/theme/theme1.xml><?xml version="1.0" encoding="utf-8"?>
<a:theme xmlns:a="http://schemas.openxmlformats.org/drawingml/2006/main" name="Apoyo Academico">
  <a:themeElements>
    <a:clrScheme name="Apoyo Academico">
      <a:dk1>
        <a:srgbClr val="1F2566"/>
      </a:dk1>
      <a:lt1>
        <a:srgbClr val="FFFFFF"/>
      </a:lt1>
      <a:dk2>
        <a:srgbClr val="55627A"/>
      </a:dk2>
      <a:lt2>
        <a:srgbClr val="F1F4F8"/>
      </a:lt2>
      <a:accent1>
        <a:srgbClr val="187943"/>
      </a:accent1>
      <a:accent2>
        <a:srgbClr val="B7791F"/>
      </a:accent2>
      <a:accent3>
        <a:srgbClr val="6B52AE"/>
      </a:accent3>
      <a:accent4>
        <a:srgbClr val="303990"/>
      </a:accent4>
      <a:accent5>
        <a:srgbClr val="C53030"/>
      </a:accent5>
      <a:accent6>
        <a:srgbClr val="D9E0EA"/>
      </a:accent6>
      <a:hlink>
        <a:srgbClr val="2B6CB0"/>
      </a:hlink>
      <a:folHlink>
        <a:srgbClr val="6B52AE"/>
      </a:folHlink>
    </a:clrScheme>
    <a:fontScheme name="Apoyo Academic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Apoyo Academico</vt:lpstr>
      <vt:lpstr>Pruebas de aceptación del MVP</vt:lpstr>
      <vt:lpstr>¿Qué verificamos?</vt:lpstr>
      <vt:lpstr>Resultados en cifras</vt:lpstr>
      <vt:lpstr>Requerimientos por prioridad MoSCoW</vt:lpstr>
      <vt:lpstr>Entorno de prueba</vt:lpstr>
      <vt:lpstr>Requerimientos funcionales: 13 de 13 verificados</vt:lpstr>
      <vt:lpstr>Requerimientos no funcionales</vt:lpstr>
      <vt:lpstr>Evidencia: la aplicación funcionando</vt:lpstr>
      <vt:lpstr>RNF-02: la búsqueda responde muy por debajo de 3 s</vt:lpstr>
      <vt:lpstr>RNF-03: funciona en un celular real</vt:lpstr>
      <vt:lpstr>Defectos encontrados y corregidos</vt:lpstr>
      <vt:lpstr>Reglas de negocio que surgieron al implementar</vt:lpstr>
      <vt:lpstr>Pruebas automáticas</vt:lpstr>
      <vt:lpstr>Validación con estudiantes: pendiente</vt:lpstr>
      <vt:lpstr>Plan de la sesión con estudiantes</vt:lpstr>
      <vt:lpstr>Pendientes y próximos pasos</vt:lpstr>
      <vt:lpstr>Gracias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Pruebas de aceptación del MVP</dc:title>
  <dc:subject>PptxGenJS Presentation</dc:subject>
  <dc:creator>Jaime Mochen · Cristian David Cardeño Gulloso</dc:creator>
  <cp:lastModifiedBy>Jaime Mochen · Cristian David Cardeño Gulloso</cp:lastModifiedBy>
  <cp:revision>22</cp:revision>
  <dcterms:created xsi:type="dcterms:W3CDTF">2026-10-25T00:44:10Z</dcterms:created>
  <dcterms:modified xsi:type="dcterms:W3CDTF">2026-10-26T18:28:08Z</dcterms:modified>
</cp:coreProperties>
</file>